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e1e4d833ff94d42" /><Relationship Type="http://schemas.openxmlformats.org/officeDocument/2006/relationships/extended-properties" Target="/docProps/app.xml" Id="R6cf3ac96651d4a0f" /><Relationship Type="http://schemas.openxmlformats.org/officeDocument/2006/relationships/officeDocument" Target="/ppt/presentation.xml" Id="Rc32f051aaabd47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45b7d2223546eb"/>
  </p:sldMasterIdLst>
  <p:notesMasterIdLst>
    <p:notesMasterId xmlns:r="http://schemas.openxmlformats.org/officeDocument/2006/relationships" r:id="R9f2910e0fb1f4495"/>
  </p:notesMasterIdLst>
  <p:sldIdLst>
    <p:sldId xmlns:r="http://schemas.openxmlformats.org/officeDocument/2006/relationships" id="256" r:id="R763279e798aa48f7"/>
    <p:sldId xmlns:r="http://schemas.openxmlformats.org/officeDocument/2006/relationships" id="257" r:id="R9f24d76a8fb64ce2"/>
    <p:sldId xmlns:r="http://schemas.openxmlformats.org/officeDocument/2006/relationships" id="258" r:id="Rc25ec51026eb40dc"/>
    <p:sldId xmlns:r="http://schemas.openxmlformats.org/officeDocument/2006/relationships" id="259" r:id="R92a17772e3ba4f3b"/>
    <p:sldId xmlns:r="http://schemas.openxmlformats.org/officeDocument/2006/relationships" id="260" r:id="Rced24493337a4fab"/>
    <p:sldId xmlns:r="http://schemas.openxmlformats.org/officeDocument/2006/relationships" id="261" r:id="R3d43bc236239412c"/>
    <p:sldId xmlns:r="http://schemas.openxmlformats.org/officeDocument/2006/relationships" id="262" r:id="Rf26db644195f4b35"/>
    <p:sldId xmlns:r="http://schemas.openxmlformats.org/officeDocument/2006/relationships" id="263" r:id="R9c5bfe92741d4f6f"/>
    <p:sldId xmlns:r="http://schemas.openxmlformats.org/officeDocument/2006/relationships" id="264" r:id="R08c039c490de4364"/>
    <p:sldId xmlns:r="http://schemas.openxmlformats.org/officeDocument/2006/relationships" id="265" r:id="Rd69b203e448846c0"/>
    <p:sldId xmlns:r="http://schemas.openxmlformats.org/officeDocument/2006/relationships" id="266" r:id="Ra705cc5ae4614d6b"/>
    <p:sldId xmlns:r="http://schemas.openxmlformats.org/officeDocument/2006/relationships" id="267" r:id="Rad544d8a846b422a"/>
    <p:sldId xmlns:r="http://schemas.openxmlformats.org/officeDocument/2006/relationships" id="268" r:id="R8aaa6312c41148a9"/>
    <p:sldId xmlns:r="http://schemas.openxmlformats.org/officeDocument/2006/relationships" id="269" r:id="R330da37438e540f1"/>
    <p:sldId xmlns:r="http://schemas.openxmlformats.org/officeDocument/2006/relationships" id="270" r:id="Rd06b625dc58e463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a08c74d2f44571" /><Relationship Type="http://schemas.openxmlformats.org/officeDocument/2006/relationships/slideMaster" Target="/ppt/slideMasters/slideMaster1.xml" Id="R6d45b7d2223546eb" /><Relationship Type="http://schemas.openxmlformats.org/officeDocument/2006/relationships/notesMaster" Target="/ppt/notesMasters/notesMaster1.xml" Id="R9f2910e0fb1f4495" /><Relationship Type="http://schemas.openxmlformats.org/officeDocument/2006/relationships/presProps" Target="/ppt/presProps.xml" Id="Raaf49efb6971424f" /><Relationship Type="http://schemas.openxmlformats.org/officeDocument/2006/relationships/tableStyles" Target="/ppt/tableStyles.xml" Id="Rd1d7e6c07c384371" /><Relationship Type="http://schemas.openxmlformats.org/officeDocument/2006/relationships/slide" Target="/ppt/slides/slide1.xml" Id="R763279e798aa48f7" /><Relationship Type="http://schemas.openxmlformats.org/officeDocument/2006/relationships/slide" Target="/ppt/slides/slide2.xml" Id="R9f24d76a8fb64ce2" /><Relationship Type="http://schemas.openxmlformats.org/officeDocument/2006/relationships/slide" Target="/ppt/slides/slide3.xml" Id="Rc25ec51026eb40dc" /><Relationship Type="http://schemas.openxmlformats.org/officeDocument/2006/relationships/slide" Target="/ppt/slides/slide4.xml" Id="R92a17772e3ba4f3b" /><Relationship Type="http://schemas.openxmlformats.org/officeDocument/2006/relationships/slide" Target="/ppt/slides/slide5.xml" Id="Rced24493337a4fab" /><Relationship Type="http://schemas.openxmlformats.org/officeDocument/2006/relationships/slide" Target="/ppt/slides/slide6.xml" Id="R3d43bc236239412c" /><Relationship Type="http://schemas.openxmlformats.org/officeDocument/2006/relationships/slide" Target="/ppt/slides/slide7.xml" Id="Rf26db644195f4b35" /><Relationship Type="http://schemas.openxmlformats.org/officeDocument/2006/relationships/slide" Target="/ppt/slides/slide8.xml" Id="R9c5bfe92741d4f6f" /><Relationship Type="http://schemas.openxmlformats.org/officeDocument/2006/relationships/slide" Target="/ppt/slides/slide9.xml" Id="R08c039c490de4364" /><Relationship Type="http://schemas.openxmlformats.org/officeDocument/2006/relationships/slide" Target="/ppt/slides/slide10.xml" Id="Rd69b203e448846c0" /><Relationship Type="http://schemas.openxmlformats.org/officeDocument/2006/relationships/slide" Target="/ppt/slides/slide11.xml" Id="Ra705cc5ae4614d6b" /><Relationship Type="http://schemas.openxmlformats.org/officeDocument/2006/relationships/slide" Target="/ppt/slides/slide12.xml" Id="Rad544d8a846b422a" /><Relationship Type="http://schemas.openxmlformats.org/officeDocument/2006/relationships/slide" Target="/ppt/slides/slide13.xml" Id="R8aaa6312c41148a9" /><Relationship Type="http://schemas.openxmlformats.org/officeDocument/2006/relationships/slide" Target="/ppt/slides/slide14.xml" Id="R330da37438e540f1" /><Relationship Type="http://schemas.openxmlformats.org/officeDocument/2006/relationships/slide" Target="/ppt/slides/slide15.xml" Id="Rd06b625dc58e46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4c0c4cde4c249d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4f3192d9e194c3e" /><Relationship Type="http://schemas.openxmlformats.org/officeDocument/2006/relationships/notesMaster" Target="/ppt/notesMasters/notesMaster1.xml" Id="R172c992a3e57432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dd59129317b40ab" /><Relationship Type="http://schemas.openxmlformats.org/officeDocument/2006/relationships/notesMaster" Target="/ppt/notesMasters/notesMaster1.xml" Id="Rfe4cbc181fae4a6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c1bcb955a1e459b" /><Relationship Type="http://schemas.openxmlformats.org/officeDocument/2006/relationships/notesMaster" Target="/ppt/notesMasters/notesMaster1.xml" Id="R5fbb02d312fb47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1bb777ea9447fc" /><Relationship Type="http://schemas.openxmlformats.org/officeDocument/2006/relationships/notesMaster" Target="/ppt/notesMasters/notesMaster1.xml" Id="R305b1d26e4a748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7c376668f8431b" /><Relationship Type="http://schemas.openxmlformats.org/officeDocument/2006/relationships/notesMaster" Target="/ppt/notesMasters/notesMaster1.xml" Id="Rd7c5f4870c2b47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e71152d1ae442b" /><Relationship Type="http://schemas.openxmlformats.org/officeDocument/2006/relationships/notesMaster" Target="/ppt/notesMasters/notesMaster1.xml" Id="R876f572f027c4dc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86b067b6c614dd4" /><Relationship Type="http://schemas.openxmlformats.org/officeDocument/2006/relationships/notesMaster" Target="/ppt/notesMasters/notesMaster1.xml" Id="R9066bb215620414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e178aa678d548ff" /><Relationship Type="http://schemas.openxmlformats.org/officeDocument/2006/relationships/notesMaster" Target="/ppt/notesMasters/notesMaster1.xml" Id="R6bce1c34905d453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553a670ee2f4863" /><Relationship Type="http://schemas.openxmlformats.org/officeDocument/2006/relationships/notesMaster" Target="/ppt/notesMasters/notesMaster1.xml" Id="R2c3d4488460d402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b0377fc68314a4d" /><Relationship Type="http://schemas.openxmlformats.org/officeDocument/2006/relationships/notesMaster" Target="/ppt/notesMasters/notesMaster1.xml" Id="R6f3d2c8e7f064a7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784d2864f93437c" /><Relationship Type="http://schemas.openxmlformats.org/officeDocument/2006/relationships/notesMaster" Target="/ppt/notesMasters/notesMaster1.xml" Id="R878a6232d38b45c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60c0c296974fd1" /><Relationship Type="http://schemas.openxmlformats.org/officeDocument/2006/relationships/notesMaster" Target="/ppt/notesMasters/notesMaster1.xml" Id="R84bdf8ccce784ef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761a0fcc44f4422" /><Relationship Type="http://schemas.openxmlformats.org/officeDocument/2006/relationships/notesMaster" Target="/ppt/notesMasters/notesMaster1.xml" Id="R80b05a6f5abc432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9bd37b32d3442f1" /><Relationship Type="http://schemas.openxmlformats.org/officeDocument/2006/relationships/notesMaster" Target="/ppt/notesMasters/notesMaster1.xml" Id="R56bb9af57270485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fc3fddb03394057" /><Relationship Type="http://schemas.openxmlformats.org/officeDocument/2006/relationships/notesMaster" Target="/ppt/notesMasters/notesMaster1.xml" Id="R9e94173dd37942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submission/ppt-outline.md</a:t>
            </a:r>
          </a:p>
          <a:p xmlns:a="http://schemas.openxmlformats.org/drawingml/2006/main">
            <a:r>
              <a:t>submission/work-intro-500.txt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evidence/proof-bundle.json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6e21b053-f18b-4857-83e2-835bd96d5434.pdf，第 22-35 页 OpsPilot Zero 示例</a:t>
            </a:r>
          </a:p>
          <a:p xmlns:a="http://schemas.openxmlformats.org/drawingml/2006/main">
            <a:r>
              <a:t>docs/official-baseline.md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docs/agent-identity.md</a:t>
            </a:r>
          </a:p>
          <a:p xmlns:a="http://schemas.openxmlformats.org/drawingml/2006/main">
            <a:r>
              <a:t>agentteams/chronosfix-team.yaml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evidence/proof-bundle.json</a:t>
            </a:r>
          </a:p>
          <a:p xmlns:a="http://schemas.openxmlformats.org/drawingml/2006/main">
            <a:r>
              <a:t>src/chronosfix/skills/counterfactual_replay.py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src/chronosfix/skills/fault_genome.py</a:t>
            </a:r>
          </a:p>
          <a:p xmlns:a="http://schemas.openxmlformats.org/drawingml/2006/main">
            <a:r>
              <a:t>evidence/proof-report.md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src/chronosfix/skills/evidence_passport.py</a:t>
            </a:r>
          </a:p>
          <a:p xmlns:a="http://schemas.openxmlformats.org/drawingml/2006/main">
            <a:r>
              <a:t>docs/safety-and-audit.md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src/chronosfix/skills/skill_forge.py</a:t>
            </a:r>
          </a:p>
          <a:p xmlns:a="http://schemas.openxmlformats.org/drawingml/2006/main">
            <a:r>
              <a:t>docs/skill-specs.md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evidence/proof-bundle.json</a:t>
            </a:r>
          </a:p>
          <a:p xmlns:a="http://schemas.openxmlformats.org/drawingml/2006/main">
            <a:r>
              <a:t>evidence/trace.jsonl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docs/safety-and-audit.md</a:t>
            </a:r>
          </a:p>
          <a:p xmlns:a="http://schemas.openxmlformats.org/drawingml/2006/main">
            <a:r>
              <a:t>src/chronosfix/skills/risk_gate.py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docs/open-source-compliance.md</a:t>
            </a:r>
          </a:p>
          <a:p xmlns:a="http://schemas.openxmlformats.org/drawingml/2006/main">
            <a:r>
              <a:t>docs/requirements-matrix.md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docs/business-value.md</a:t>
            </a:r>
          </a:p>
          <a:p xmlns:a="http://schemas.openxmlformats.org/drawingml/2006/main">
            <a:r>
              <a:t>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submission/work-intro-500.txt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9bd99ffd30468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b94c9cd1914461" /><Relationship Type="http://schemas.openxmlformats.org/officeDocument/2006/relationships/slideLayout" Target="/ppt/slideLayouts/slideLayout1.xml" Id="R51878e993ed044d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878e993ed044d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f4dd773a764102" /><Relationship Type="http://schemas.openxmlformats.org/officeDocument/2006/relationships/notesSlide" Target="/ppt/notesSlides/notesSlide1.xml" Id="R1016a84495fc4f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c7d31c947b4c11" /><Relationship Type="http://schemas.openxmlformats.org/officeDocument/2006/relationships/notesSlide" Target="/ppt/notesSlides/notesSlide2.xml" Id="Re6b40510aa1f4b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2c29908a054ccf" /><Relationship Type="http://schemas.openxmlformats.org/officeDocument/2006/relationships/notesSlide" Target="/ppt/notesSlides/notesSlide3.xml" Id="R62ca8ae63dff4a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bb4e32149247c9" /><Relationship Type="http://schemas.openxmlformats.org/officeDocument/2006/relationships/notesSlide" Target="/ppt/notesSlides/notesSlide4.xml" Id="Rba928c529ab243e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84361ddf7f4892" /><Relationship Type="http://schemas.openxmlformats.org/officeDocument/2006/relationships/notesSlide" Target="/ppt/notesSlides/notesSlide5.xml" Id="R7750555ca2c447a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a6ab2ae7104028" /><Relationship Type="http://schemas.openxmlformats.org/officeDocument/2006/relationships/notesSlide" Target="/ppt/notesSlides/notesSlide6.xml" Id="Re53c062063e54d1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20f83c924a477a" /><Relationship Type="http://schemas.openxmlformats.org/officeDocument/2006/relationships/notesSlide" Target="/ppt/notesSlides/notesSlide7.xml" Id="R966cba90b1a84e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81f0f6c4874b6f" /><Relationship Type="http://schemas.openxmlformats.org/officeDocument/2006/relationships/notesSlide" Target="/ppt/notesSlides/notesSlide8.xml" Id="R117668415e084be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ee17e3d4724edc" /><Relationship Type="http://schemas.openxmlformats.org/officeDocument/2006/relationships/notesSlide" Target="/ppt/notesSlides/notesSlide9.xml" Id="R0b4abb3c8a314ac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5436ba342a48c8" /><Relationship Type="http://schemas.openxmlformats.org/officeDocument/2006/relationships/notesSlide" Target="/ppt/notesSlides/notesSlide10.xml" Id="R811f8c6883dd46e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7c51912e394326" /><Relationship Type="http://schemas.openxmlformats.org/officeDocument/2006/relationships/notesSlide" Target="/ppt/notesSlides/notesSlide11.xml" Id="R812287676af2444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77408e431d43e7" /><Relationship Type="http://schemas.openxmlformats.org/officeDocument/2006/relationships/notesSlide" Target="/ppt/notesSlides/notesSlide12.xml" Id="Rb262183f400f498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b043e68dd64052" /><Relationship Type="http://schemas.openxmlformats.org/officeDocument/2006/relationships/notesSlide" Target="/ppt/notesSlides/notesSlide13.xml" Id="R994abd190460445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1b0e12c5cf4a0d" /><Relationship Type="http://schemas.openxmlformats.org/officeDocument/2006/relationships/notesSlide" Target="/ppt/notesSlides/notesSlide14.xml" Id="R3be369abd14a498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8e0467b621412a" /><Relationship Type="http://schemas.openxmlformats.org/officeDocument/2006/relationships/notesSlide" Target="/ppt/notesSlides/notesSlide15.xml" Id="R7499961e3e0b4fe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15D1DD-2F17-4B16-8F89-09F7804D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AsoulAI · GOAI 新智基座 · Agent Infra · 方向三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AD6F4B-75D1-42D7-9993-BF5EE688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647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FFF"/>
                </a:solidFill>
              </a:defRPr>
            </a:pPr>
            <a:r>
              <a:rPr sz="5100" b="1">
                <a:solidFill>
                  <a:srgbClr val="FFFFFF"/>
                </a:solidFill>
              </a:rPr>
              <a:t>ChronosFix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F425E4-7329-44F1-9384-B8F19772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软件故障时间机器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705499-4113-4C51-A856-8BE27C77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685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4B8A6"/>
                </a:solidFill>
              </a:defRPr>
            </a:pPr>
            <a:r>
              <a:rPr sz="2250" b="1">
                <a:solidFill>
                  <a:srgbClr val="14B8A6"/>
                </a:solidFill>
              </a:rPr>
              <a:t>研发质量资产平台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B2BF4A-14D4-49C0-A4FD-E8A0022FD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7E3F5"/>
                </a:solidFill>
              </a:defRPr>
            </a:pPr>
            <a:r>
              <a:rPr sz="1725" b="0">
                <a:solidFill>
                  <a:srgbClr val="D7E3F5"/>
                </a:solidFill>
              </a:rPr>
              <a:t>让每次事故沉淀为可复用 Skill、故障基因包和可审计证据护照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32010A-EB1C-43CE-962F-AE0098411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FB5D1"/>
                </a:solidFill>
              </a:defRPr>
            </a:pPr>
            <a:r>
              <a:rPr sz="1200" b="0">
                <a:solidFill>
                  <a:srgbClr val="9FB5D1"/>
                </a:solidFill>
              </a:rPr>
              <a:t>队伍：AsoulAI · 软件研发全流程协同 · 初赛 V0.2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E9A770-8EDE-444B-B493-0FCD93D0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428750"/>
            <a:ext cx="11811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3097D3-13C8-4255-B4B9-B3E35802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95425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B8A6"/>
                </a:solidFill>
              </a:defRPr>
            </a:pPr>
            <a:r>
              <a:rPr sz="1125" b="1">
                <a:solidFill>
                  <a:srgbClr val="14B8A6"/>
                </a:solidFill>
              </a:rPr>
              <a:t>Issue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81B826-8807-48C4-8E39-4C02D47F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114550"/>
            <a:ext cx="11811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186A94-E983-44AA-A091-0A0300CDC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81225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B8A6"/>
                </a:solidFill>
              </a:defRPr>
            </a:pPr>
            <a:r>
              <a:rPr sz="1125" b="1">
                <a:solidFill>
                  <a:srgbClr val="14B8A6"/>
                </a:solidFill>
              </a:rPr>
              <a:t>Git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C78523-ED0D-4939-8E68-F95EC6AB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00350"/>
            <a:ext cx="11811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EACEDE-8C0A-42B2-9A83-145EC8E94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67025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Config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CA58B0-868E-4161-99F4-EF568076E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486150"/>
            <a:ext cx="11811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BF4514-47E4-4594-B24F-698A85F4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552825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B8A6"/>
                </a:solidFill>
              </a:defRPr>
            </a:pPr>
            <a:r>
              <a:rPr sz="1125" b="1">
                <a:solidFill>
                  <a:srgbClr val="14B8A6"/>
                </a:solidFill>
              </a:rPr>
              <a:t>Trace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E2BB48-4D70-4FB9-B898-B8CF3724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11811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41976D-DDA9-4F8F-A191-83689335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38625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B8A6"/>
                </a:solidFill>
              </a:defRPr>
            </a:pPr>
            <a:r>
              <a:rPr sz="1125" b="1">
                <a:solidFill>
                  <a:srgbClr val="14B8A6"/>
                </a:solidFill>
              </a:rPr>
              <a:t>Patch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54AC8A-AA8F-45B6-BA67-60498A8F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181350"/>
            <a:ext cx="1238250" cy="1238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A801C1-9C52-4828-AB90-89C63F52C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467100"/>
            <a:ext cx="666750" cy="666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79FE96-99D6-4A0F-BB88-91ECDF0AE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质量资产</a:t>
            </a:r>
          </a:p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飞轮</a:t>
            </a:r>
          </a:p>
        </p:txBody>
      </p:sp>
    </p:spTree>
    <p:extLst>
      <p:ext uri="{BB962C8B-B14F-4D97-AF65-F5344CB8AC3E}">
        <p14:creationId xmlns:p14="http://schemas.microsoft.com/office/powerpoint/2010/main" val="2952464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EF9072-DAC0-4FE0-AB77-E69F7908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场景价值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F62D4F-6569-44AB-AE1F-6C082BDE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研发故障真正难的不是“看见异常”，而是证明哪次变化造成了异常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5E1C13-AA22-4B09-9882-4A7B07F76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05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4BD9B9-8400-42DC-B56D-4B9B5AE1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8934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</a:defRPr>
            </a:pPr>
            <a:r>
              <a:rPr sz="1800" b="0">
                <a:solidFill>
                  <a:srgbClr val="0F172A"/>
                </a:solidFill>
              </a:rPr>
              <a:t>一次线上故障往往同时伴随代码提交、依赖升级、配置调整、流量峰值和外部系统波动。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B6F562-A556-42C0-91B2-CC7E40486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384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27741D-6630-4B16-ACA5-92B19B15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43150"/>
            <a:ext cx="8934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</a:defRPr>
            </a:pPr>
            <a:r>
              <a:rPr sz="1800" b="0">
                <a:solidFill>
                  <a:srgbClr val="0F172A"/>
                </a:solidFill>
              </a:rPr>
              <a:t>普通 AI 排障容易把时间接近的事件误判成根因，缺少可回放的因果证据。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14CC05-F05E-41BC-9C59-858D22B58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CC2F71-0C52-4506-BC79-B7657FED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76550"/>
            <a:ext cx="8934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</a:defRPr>
            </a:pPr>
            <a:r>
              <a:rPr sz="1800" b="0">
                <a:solidFill>
                  <a:srgbClr val="0F172A"/>
                </a:solidFill>
              </a:rPr>
              <a:t>研发团队需要的不是一句猜测，而是根因证明、补丁验证、发布审计和经验复用。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C58982-960B-4E54-A62C-12942C305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243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DC2626"/>
                </a:solidFill>
              </a:defRPr>
            </a:pPr>
            <a:r>
              <a:rPr sz="2550" b="1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B8FD02-B0E3-414A-B43D-07B4A5F2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196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Demo 基线失败率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399BFC-EF72-45E9-B3B7-4C6BAF19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243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97316"/>
                </a:solidFill>
              </a:defRPr>
            </a:pPr>
            <a:r>
              <a:rPr sz="2550" b="1">
                <a:solidFill>
                  <a:srgbClr val="F97316"/>
                </a:solidFill>
              </a:rPr>
              <a:t>606.96ms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D6A3FB-D6CB-46F3-B8F6-D56FD9473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8196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Demo 基线 P99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012D09-8F88-4673-9DA7-D622D38B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243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563EB"/>
                </a:solidFill>
              </a:defRPr>
            </a:pPr>
            <a:r>
              <a:rPr sz="2550" b="1">
                <a:solidFill>
                  <a:srgbClr val="2563EB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BECDD8-25F2-45F2-A19D-BB4F0F63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196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可疑根因假设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65D630-61E2-4780-8162-AD33C2EB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243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6A34A"/>
                </a:solidFill>
              </a:defRPr>
            </a:pPr>
            <a:r>
              <a:rPr sz="2550" b="1">
                <a:solidFill>
                  <a:srgbClr val="16A34A"/>
                </a:solidFill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0E81AB-3036-4DED-BA6C-2A8D4C3DE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196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被证明主因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34CA16-3834-44DB-BFB3-9E572DB4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F60CB2-A970-4A5E-9490-5D8244FA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117044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FFBBD0-72D2-49E6-89B3-BDAE6423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8F235B-2C82-4829-A737-D9E035D5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ChronosFix 把故障修复变成可回放、可验证、可审计的实验闭环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4392E1-8A24-4465-B6FB-A462ED00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1714500" cy="1809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FD8C6F-C45D-4EBF-8FC5-9A3F30A72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证据融合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28E073-10D2-447A-AF7B-0E755C95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12573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汇聚 Issue、日志、Trace、Git、依赖和配置变更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337830-C7D8-44B6-938C-4EF9F4463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97180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704E6E-FC41-47AF-86CC-A87068DE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76450"/>
            <a:ext cx="1714500" cy="1809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B2286A-AFDC-469C-A60D-CAD282AD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24790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时间重建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F97381-727F-48DF-9A57-F714D75B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05100"/>
            <a:ext cx="12573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把故障前后的变化按因果候选排序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347A94-2A5A-43DF-9BE3-0285C21D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97180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2A4E3B-D83E-42DB-A047-A969B915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076450"/>
            <a:ext cx="1714500" cy="1809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CAC12A-EF81-4CFE-B753-5FB834976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24790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平行实验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DB250E-48AF-4D64-95FF-BBDBD02D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705100"/>
            <a:ext cx="12573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撤销可疑变化并重放事故，证明主因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3E99B0-3D43-49AC-9883-420738A28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7180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42CC2C-D175-457A-A695-0B9D07B89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76450"/>
            <a:ext cx="1714500" cy="1809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00A9ED-2B3C-4A59-B952-CCA6DA9E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24790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补丁竞赛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2CF48F-B06B-4F74-9451-FEBFEA43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05100"/>
            <a:ext cx="12573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在故障基因族上比较多个修复方案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830D89-1763-4BEC-B139-B9BB39F3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7180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8CAF52-9AAB-4824-A918-D7DA527B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076450"/>
            <a:ext cx="1714500" cy="1809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146AFB-B884-4924-A944-10CBF429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24790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A34A"/>
                </a:solidFill>
              </a:defRPr>
            </a:pPr>
            <a:r>
              <a:rPr sz="1725" b="1">
                <a:solidFill>
                  <a:srgbClr val="16A34A"/>
                </a:solidFill>
              </a:rPr>
              <a:t>证据发布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A9C5E0-258D-4D8B-826D-4B705EE3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05100"/>
            <a:ext cx="12573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补丁携带证据护照进入审批和复盘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8F61C4-EA80-4B7B-931D-E1836B7A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577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关键变化：AI 不再直接下结论，而是组织一组 Agent 去做实验、竞争和审计。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2BB045-4BD4-4B12-86A0-57F79CD2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590EFC-600A-412B-BAE3-EECED4FA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538738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CD7C0A-FDA1-4F4A-956E-76765020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官方参考基线对照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FE5C01-BC9F-48C2-98C0-D03CB63C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官方参考 Baseline 是 OpsPilot Zero，ChronosFix 在其上完成方向三升级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7A8751-0918-4A92-8747-EB5EF5EC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62100"/>
            <a:ext cx="1036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26071"/>
                </a:solidFill>
              </a:defRPr>
            </a:pPr>
            <a:r>
              <a:rPr sz="1650" b="1">
                <a:solidFill>
                  <a:srgbClr val="526071"/>
                </a:solidFill>
              </a:rPr>
              <a:t>官方规范未提供必须继承的代码仓库型 baseline；本方案以官方作品示例 Demo 作为参考 Baseline。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854A9C-7391-4600-AAA6-8A28AD7A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28575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699A28-1F2B-480B-9925-A5B34818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193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官方示例 OpsPilot Zero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BA4474-F1BC-418A-99B3-1A2F16A2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76550"/>
            <a:ext cx="2400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AgentTeams 编排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7 职能 Agent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Skill + MCP/适配器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Trace / 审计 / 安全边界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012BDC-69F3-431F-8E77-5E6A110C4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051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4B8A6"/>
                </a:solidFill>
              </a:defRPr>
            </a:pPr>
            <a:r>
              <a:rPr sz="2250" b="1">
                <a:solidFill>
                  <a:srgbClr val="14B8A6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CE8818-307D-433E-A96F-7C715F88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47900"/>
            <a:ext cx="28575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554D9D-4E1C-4642-A306-8B9A51B0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193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ChronosFix 对齐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619336-A220-4F57-8619-9DAC5ECE7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76550"/>
            <a:ext cx="2400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7 Agent + 9 Skill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AgentTeams 草案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15 段 Trace + RiskGate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Repair Cockpit 可演示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EBF694-23EE-4512-B325-997DE174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051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4B8A6"/>
                </a:solidFill>
              </a:defRPr>
            </a:pPr>
            <a:r>
              <a:rPr sz="2250" b="1">
                <a:solidFill>
                  <a:srgbClr val="14B8A6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600372-114B-4066-954B-DE34F7C5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47900"/>
            <a:ext cx="28575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89E0E8-50C9-411A-AFEC-0C719C0D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193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ChronosFix 增强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54D38-CB25-474B-8D7E-7715724B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76550"/>
            <a:ext cx="2400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Issue / Git / CI / 发布审批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反事实根因证明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缺陷基因 + 证据护照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研发质量资产飞轮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83752A-2734-4502-8E82-10A0835A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9791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定位：不是照搬运维自愈，而是把官方 Agent Infra 结构迁移到软件研发全流程协同，并把事故沉淀为可复用质量资产。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41A9AE-A8D3-4C07-8B85-A74EA62BD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78BBA6-D56C-4375-91E6-D3FDC79A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802040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DC9DC5D-A2AF-45C3-B511-245F8BBA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多 Agent 协同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9DCEDA-FE60-45FA-82B1-862BF8B4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7 个职能 Agent 覆盖从证据调查到发布审计的完整闭环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817E03-E8FC-4E80-8155-741A34BE1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0B122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BCC17A-9699-4818-ACC0-371FAEC4A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Commander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74C9E5-D04F-445D-8A2E-C38EB4E6C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D7E3F5"/>
                </a:solidFill>
              </a:defRPr>
            </a:pPr>
            <a:r>
              <a:rPr sz="1200" b="0">
                <a:solidFill>
                  <a:srgbClr val="D7E3F5"/>
                </a:solidFill>
              </a:rPr>
              <a:t>任务拆解</a:t>
            </a:r>
          </a:p>
          <a:p xmlns:a="http://schemas.openxmlformats.org/drawingml/2006/main">
            <a:pPr algn="ctr">
              <a:defRPr sz="1200" b="0">
                <a:solidFill>
                  <a:srgbClr val="D7E3F5"/>
                </a:solidFill>
              </a:defRPr>
            </a:pPr>
            <a:r>
              <a:rPr sz="1200" b="0">
                <a:solidFill>
                  <a:srgbClr val="D7E3F5"/>
                </a:solidFill>
              </a:rPr>
              <a:t>状态编排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BBE635-CAAF-415B-B3CE-5C6EC5CA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7813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4A8725-9095-4B84-A00F-4AFA60B77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9262AA-D2D1-4B09-AE26-F9754A8C0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858168-45AC-47D9-A085-39C886B6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证据融合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时间线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97786E-9366-410F-923B-503F1D707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813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386182-22D2-4A15-8293-CD4B82E6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D31E8E-FFF5-4ADC-BE66-9121BB2C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FE7203-1C17-4CCC-AEFD-A0E6B0FB0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根因假设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证伪契约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3D96C6-0742-4A48-89A5-AC635824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7813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31805A-DA30-4D37-AD24-073A0632B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854663-1A87-4695-B2DB-64DCCC53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Universe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EEF5CB-EE86-4974-812D-7C62552D8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平行版本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故障基因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C74A7F-15A1-40FA-ADC4-686E45ED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7813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600576-21C7-4DA3-9313-C6F08099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B670CA-1B4D-4C58-AC59-AE04959A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Patch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6799C5-51CC-493C-BCBC-0B5E24E71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候选补丁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回滚契约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746FA6-6A3F-4718-9A9E-636070769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813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C261FC-39E8-4839-B84B-569E34D92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61925B-6522-48A8-8D92-C43E99B9F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Verifier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E5D46D-124F-4375-9E42-330E09E4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对抗验证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竞赛排名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0B5528-64DE-4546-ABAA-71DF6243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7813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666F34-AB7D-4CB4-9BFD-234B1916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6D64E7-2D0D-4BE5-B1D9-61BC8D1B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Auditor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DB9F4A-288F-488A-A721-E9D25EF78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风险门禁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证据护照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DDCB9B-D880-4E7D-B864-EEEBB872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338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97316"/>
                </a:solidFill>
              </a:defRPr>
            </a:pPr>
            <a:r>
              <a:rPr sz="1350" b="1">
                <a:solidFill>
                  <a:srgbClr val="F97316"/>
                </a:solidFill>
              </a:rPr>
              <a:t>输入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B9F1F6-4E36-4A22-820F-58587B5F0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13385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Issue / Git / 日志 / Trace / 配置 / 流量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B9E8E68-7C7A-4890-A7D0-1459F6F27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339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诊断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235011-794F-4376-BADE-9DEB7F05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3390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证据归并、假设竞争、反事实回放、因果分类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C28E650-9609-4DD7-9392-FAC9BA722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339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A34A"/>
                </a:solidFill>
              </a:defRPr>
            </a:pPr>
            <a:r>
              <a:rPr sz="1350" b="1">
                <a:solidFill>
                  <a:srgbClr val="16A34A"/>
                </a:solidFill>
              </a:rPr>
              <a:t>执行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3474653-AA3D-44D6-BB0B-839A676B2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93395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补丁竞赛、风险分级、审批、回滚检查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D8D2D9-D5E8-4700-93A3-87E417A9D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340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沉淀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E8DBE3E-CAAA-46DC-BC10-FC6F4AFC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Trace、proof-bundle、proof-report、Skill 候选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0CAB7B3-C87F-4727-857F-BECD787CF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B7959A8-37D3-4977-A8D2-7DBF57E4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966415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5B1F07-9919-4923-B496-79EBE652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创新一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D11C9A-8D59-4D7D-8A5E-20CCBD65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故障时间机器用反事实实验把“相关性”变成“因果证据”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8D1930-BC75-49D2-A466-9964D7C0F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平行版本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AA048-9B22-4903-AA73-711961FF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52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基线失败率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DD34D2-9909-4A2C-8ED8-35BD4DB9C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52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反事实失败率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5CFF9-05A7-4D90-A816-428762AB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52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结论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B88BE0-25C7-41E2-9DF4-27C8E8A7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10096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52E08-C4CA-4C7F-9441-A615A2BE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撤销代码提交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08388A-7B4C-4F64-AA91-C320E3B2A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003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C2626"/>
                </a:solidFill>
              </a:defRPr>
            </a:pPr>
            <a:r>
              <a:rPr sz="1650" b="0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C5D96A-5ABA-462D-AD32-B5CBDD89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03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97316"/>
                </a:solidFill>
              </a:defRPr>
            </a:pPr>
            <a:r>
              <a:rPr sz="1650" b="0">
                <a:solidFill>
                  <a:srgbClr val="F97316"/>
                </a:solidFill>
              </a:rPr>
              <a:t>48.72%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CFFB76-C152-4B30-9DD0-31E8E9A8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003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26071"/>
                </a:solidFill>
              </a:defRPr>
            </a:pPr>
            <a:r>
              <a:rPr sz="1650" b="1">
                <a:solidFill>
                  <a:srgbClr val="526071"/>
                </a:solidFill>
              </a:rPr>
              <a:t>证伪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B856BE-B385-47E5-ADBD-EF8D364D0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24200"/>
            <a:ext cx="10096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84675B-2807-4B1E-A2F4-AB33804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14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回退支付依赖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4E36DC-EA6B-4651-8A2E-ED49BD460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147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C2626"/>
                </a:solidFill>
              </a:defRPr>
            </a:pPr>
            <a:r>
              <a:rPr sz="1650" b="0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ECFB00-D866-4F92-8E7A-289BCF53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147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97316"/>
                </a:solidFill>
              </a:defRPr>
            </a:pPr>
            <a:r>
              <a:rPr sz="1650" b="0">
                <a:solidFill>
                  <a:srgbClr val="F97316"/>
                </a:solidFill>
              </a:rPr>
              <a:t>33.33%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2430B8-0708-4C30-B0C3-F20C1970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147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26071"/>
                </a:solidFill>
              </a:defRPr>
            </a:pPr>
            <a:r>
              <a:rPr sz="1650" b="1">
                <a:solidFill>
                  <a:srgbClr val="526071"/>
                </a:solidFill>
              </a:rPr>
              <a:t>放大因素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326BB0-3BCE-419A-9466-CDA93242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10096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6C31F0-5226-45C1-8930-CA1408FB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29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恢复连接池 24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513867-1CDA-4564-9E1F-E15B01C1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29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C2626"/>
                </a:solidFill>
              </a:defRPr>
            </a:pPr>
            <a:r>
              <a:rPr sz="1650" b="0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932E49-73DD-4C38-B5E3-1BC8A98BA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29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A34A"/>
                </a:solidFill>
              </a:defRPr>
            </a:pPr>
            <a:r>
              <a:rPr sz="1650" b="0">
                <a:solidFill>
                  <a:srgbClr val="16A34A"/>
                </a:solidFill>
              </a:rPr>
              <a:t>0.00%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A2ABAE-7092-4F0D-8679-48340700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229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A34A"/>
                </a:solidFill>
              </a:defRPr>
            </a:pPr>
            <a:r>
              <a:rPr sz="1650" b="1">
                <a:solidFill>
                  <a:srgbClr val="16A34A"/>
                </a:solidFill>
              </a:rPr>
              <a:t>主因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141F3C-C25F-4081-88C1-9BAA6CD4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197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结论：连接池缩容是主因，支付依赖升级是放大因素，代码变更被证伪。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AA4EB4-7A6B-43D8-AFB5-4280E419B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D66E95-EF7F-49B2-8E1A-EAFAE98F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286060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DB3402-2024-41CB-A8B9-322DFCA3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创新二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F733C2-8CCF-4617-A0E8-1502477E1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缺陷基因实验室让补丁修“一类问题”，而不是只修一个样例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0FE5AA-4579-4D4F-BE05-78BBC64F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669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24E27E-124F-40DC-8B55-ED7976FB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383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原始复现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CA6235-8C94-4FB8-8FB0-1CDD18F6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955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nominal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40D395-023B-428F-AA65-ED65BB045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8669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31E410-9C92-48FE-807C-97E8CC75B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0383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高流量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BA84C7-6994-47B2-A048-20AE78F2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955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high-traffic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4DDA80-6922-401C-A0E4-A9DD3365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669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E3EEBA-E66B-4E66-BDB5-56114F9FA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383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下游变慢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4F712-E0BE-4E86-9E00-2953CD391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955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slow-downstream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303A6B-0E33-44F1-9E46-CC2C6E1E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8669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6C5DA7-BED5-4D40-BFB9-9E8FB404C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0383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组合压力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93C171-63C9-40F1-9609-1851ED67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955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combined-stress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A88EB7-4AA7-4B91-85C2-9FC275C31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330BBB-753D-4381-AB7B-9C5F29169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337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容量临界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9225D5-5E32-436F-99C2-815818658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909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pool-borderline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AB8BD0-AA36-44B7-8317-67DA2F71B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623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291328-7DB1-4FAE-BEEC-36681382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3337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恢复尖峰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995941-7E2B-4533-B52C-6789FE2A7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909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recovery-spike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3573D7-A719-459A-B8ED-992F4065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623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BE88A3-4EF6-4592-973D-E925A396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337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下游抖动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0BA3D1-F5E3-42AA-8386-6C49001F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downstream-jitter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F10DDB-B27C-4DC2-AAD8-EED0F0477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623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49670F-1B15-4E4D-AB68-52CEDC080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3337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配置漂移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4B085D-05EE-4EB7-BBB6-15AD422D9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909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silent-config-drift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0A96C4-E908-4459-84F7-0DA26033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7680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补丁必须通过 8 个同源变体；再按失败率、风险和成本综合排名。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7E4AA8-4A2E-41A8-92B0-5F50E00AF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CA3180-7C84-499C-A590-2EA28FD2E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349197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CE1079-7DAF-4C51-8547-6954910D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创新三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92110C-6FEB-48F0-B2D3-8278DDF9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证据护照让自动修复从“AI 建议”升级为“可发布材料”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8E9E67-C8EE-4FE8-834A-D4F64D36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2571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3BA474-E262-4FFD-85BF-EBA22564D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9812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需求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88624-9C97-45E3-952E-113BA994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384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修复什么问题，不能违反哪些约束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C64A13-D9DD-47AE-B75E-450FD2CF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09750"/>
            <a:ext cx="2571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C9FAE9-DEC5-47E5-B36A-EC8BAD9D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812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因果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B9ADD0-5243-4C4B-976C-97C1874B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384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为什么它修的是主因，而不是伪相关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214EA3-C0C9-42EC-A9D6-4688F9DD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09750"/>
            <a:ext cx="2571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E054B-EAE7-410B-B74B-EA358E13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812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验证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F38064-B72E-4E64-B3E7-AC4CD7CC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4384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在哪些故障变体上通过，最差表现如何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580E7E-76F1-4E99-9A6D-F3549553A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71850"/>
            <a:ext cx="2571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8F26C3-4EF8-48D0-A921-ECACA0DBF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433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风险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F1B54A-E25E-48B1-8281-54CE982D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005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风险、成本和审批状态是否可接受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C3779F-D223-4F9E-B00E-23EB14B3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371850"/>
            <a:ext cx="2571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37C7E2-4859-4419-A98E-3BF5E1A3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433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A34A"/>
                </a:solidFill>
              </a:defRPr>
            </a:pPr>
            <a:r>
              <a:rPr sz="1725" b="1">
                <a:solidFill>
                  <a:srgbClr val="16A34A"/>
                </a:solidFill>
              </a:rPr>
              <a:t>回滚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FB8949-EF86-43EB-8315-CA66B6C0A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005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发布失败后如何恢复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5A8DCF-9CD2-4A40-BC5A-738EA3A06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371850"/>
            <a:ext cx="2571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D53B46-BBB2-4CE2-9518-E8AB063AE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433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DC2626"/>
                </a:solidFill>
              </a:defRPr>
            </a:pPr>
            <a:r>
              <a:rPr sz="1725" b="1">
                <a:solidFill>
                  <a:srgbClr val="DC2626"/>
                </a:solidFill>
              </a:rPr>
              <a:t>缺口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F27836-AADD-4807-8F94-E0BD1F9B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005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哪些场景仍需人工判断或补强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904472-8D54-4AAB-AAA9-F926B7BF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1970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当前 Demo 生成 12 条结构化证据声明；缺少关键声明时，补丁不得标记为可发布。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A825D7-62BF-4C43-A0AB-251F452A3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D82611-3442-4B2C-BB74-2461AC5A2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2633459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66CA65-F698-4FCF-B035-F2ADA81EE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创新四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E8E194-48B4-451E-A153-C2273887B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Skill 自进化工坊把一次事故处理沉淀成下次可复用的能力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1FA62B-9909-49A6-8F8E-669FF1D0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76450"/>
            <a:ext cx="27241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063E1D-2D67-4E8F-9458-9C4ABB48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47900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A34A"/>
                </a:solidFill>
              </a:defRPr>
            </a:pPr>
            <a:r>
              <a:rPr sz="1725" b="1">
                <a:solidFill>
                  <a:srgbClr val="16A34A"/>
                </a:solidFill>
              </a:rPr>
              <a:t>容量守卫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98BBF6-79A5-482D-A122-0C9999C9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05100"/>
            <a:ext cx="22669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PoolCapacityGuard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容量建议与测试门禁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F8D7A4-C524-40AC-8C3F-5E1AA166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27241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752780-FEB2-4973-94F8-1FFEDEF5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47900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反事实回放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F8EB6E-5E8A-4D25-9BFD-33412E73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05100"/>
            <a:ext cx="22669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ConfigReplay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验证配置是否为主因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3F350C-4257-47B4-8CAF-5511F5D5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76450"/>
            <a:ext cx="27241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2CDC20-0570-4073-B466-02A8DBCD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带证明补丁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7A5F7C-0017-40F4-8FD3-0425098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05100"/>
            <a:ext cx="22669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ProofPatch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生成证据护照与审计摘要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0DEE13-1958-46DB-8149-C5AD0394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67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E0C5A8-A2C7-480C-9BE5-D9A1601E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72000"/>
            <a:ext cx="883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SkillForge 只生成候选，不自动上线；候选需要人工评审、回放评测和版本管理。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E642AA-0882-4FED-B932-306C5959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86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140913-FC2E-4025-AB57-95874D11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991100"/>
            <a:ext cx="883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这让事故复盘不再沉睡在文档里，而是变成团队下一次可调用的标准能力。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FAC999-B406-465D-9405-51C69222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6469F8-C38D-4983-89D9-B3501DF5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889295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C67107-DA94-44F6-AF99-2399D65A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运行场景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F34125-DFDE-412B-912E-637A6295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Demo 场景：订单接口在午间流量下出现高失败率与长尾延迟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0D8683-EEB5-4FB0-985A-20C61FE9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2ACE4A-6B4D-4064-8173-18D8A1B44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09:40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A89BC9-04EC-4AC3-AE02-F492BA3F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90850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4D6FA0-D7D2-4ABC-8CB9-8EF8B7C1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代码提交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7C71CB-134E-404F-B32B-50A0FCC38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5765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增加关联日志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EE3929-1C62-4BED-A358-EE667E62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57175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A792E3-E4B7-4AB4-A9DF-C6FAEBF7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81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09:55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41B60D-5B65-4A85-9FBE-F062567D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990850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BAA81E-239E-46CB-9A07-7C9901D53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7147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依赖升级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FF4205-2EBE-4CC5-991A-EA773E11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5765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payment-client 2.0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35E536-D4DC-46B7-AA1C-AAE875552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57175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A95850-0FA6-4B7E-96C5-F376651D8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781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10:10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776545-5ACD-4982-A2F1-C00AFE30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990850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9A358C-7DE0-43CB-8E90-99DB6165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147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配置变更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8C87BB-4B37-4567-A4A2-CC6E6B96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05765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连接池 24 → 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E0A5F3-815F-449F-A6EF-8D053B6E8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7175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8B64CD-2E3E-45A3-BE0E-7B5333C2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81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10:15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1D30F7-B70C-4911-AC2E-53E20C3FA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90850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068418-FCE8-41F7-9897-EBEDF967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7147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流量上涨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2EB691-31FA-47A8-938A-36FBA6ED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5765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120 RPS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0D9638-6E00-4423-99A8-84F1F747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7175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C49B79-E14A-4B24-81C3-BCF13F5F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81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10:16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FE7522-6D39-46ED-A1DE-3E30B1F4C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7147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告警触发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BE56B0-048B-4F71-B7DB-0396A088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05765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5xx 与 P99 升高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C08690-404C-4427-B051-1E4ADE26D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同一窗口内有多种变化，正适合展示 ChronosFix 如何避免“时间近似即根因”的误判。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361937-DACA-4032-B51E-2DC40E587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7C8056-F19D-4CFD-BF2F-FA00EF31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273766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F19323-7B7C-4360-B99A-24EDF5251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运行结果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80C493-C996-4E7A-BB00-C368C203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补丁是在故障家族里竞赛筛出来的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5ED6A8-0A1E-497E-810A-333813C5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补丁综合评分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C2D1B-9FDD-479B-B6F6-768BED05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恢复连接池 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96D8C7-B091-4FD9-BC8C-99C703FE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3431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7EEF4D-3D6E-407A-BAF1-9E9C36A8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343150"/>
            <a:ext cx="34194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AB693E-C978-4991-9582-7E44E6A3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050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A34A"/>
                </a:solidFill>
              </a:defRPr>
            </a:pPr>
            <a:r>
              <a:rPr sz="1500" b="1">
                <a:solidFill>
                  <a:srgbClr val="16A34A"/>
                </a:solidFill>
              </a:rPr>
              <a:t>0.9195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321AB4-A66E-43B9-B531-A3086F34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自适应下限保护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95C55C-E0DB-4F66-ABA6-4E98261D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0289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4D14D2-5729-4014-9F0F-A674CA09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02895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24D304-E6BA-4035-BCDF-827BA7D3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B8A6"/>
                </a:solidFill>
              </a:defRPr>
            </a:pPr>
            <a:r>
              <a:rPr sz="1500" b="1">
                <a:solidFill>
                  <a:srgbClr val="14B8A6"/>
                </a:solidFill>
              </a:rPr>
              <a:t>0.8450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70C713-61F1-4C42-BEA7-2D70D4391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回退支付依赖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318510-AE84-41C1-A309-9E4067A8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147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1530F9-60D2-4512-AD34-C05F04354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14750"/>
            <a:ext cx="22764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EC84E5-589C-483B-947C-EDC29D8C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766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0.6130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C02829-B283-4E35-86E7-22696D89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1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回滚代码提交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F78362-5A91-4EC6-A28A-F44DBAC1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005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4F2E98-02D6-4D87-85E5-F9E5C7E2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00550"/>
            <a:ext cx="19907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E045E3-FBD3-49D0-A210-186FF6E8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624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071"/>
                </a:solidFill>
              </a:defRPr>
            </a:pPr>
            <a:r>
              <a:rPr sz="1500" b="1">
                <a:solidFill>
                  <a:srgbClr val="526071"/>
                </a:solidFill>
              </a:rPr>
              <a:t>0.5359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9C0B13-B452-41AD-8FAC-068BE9A8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812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7C3AED"/>
                </a:solidFill>
              </a:defRPr>
            </a:pPr>
            <a:r>
              <a:rPr sz="2550" b="1">
                <a:solidFill>
                  <a:srgbClr val="7C3AED"/>
                </a:solidFill>
              </a:rPr>
              <a:t>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B9DCAE-1929-4B82-A72A-EB991E38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765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故障基因变体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AA1844-A7ED-4734-874C-797D2084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812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97316"/>
                </a:solidFill>
              </a:defRPr>
            </a:pPr>
            <a:r>
              <a:rPr sz="2550" b="1">
                <a:solidFill>
                  <a:srgbClr val="F97316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03A943-BFED-4324-8D3E-42825D2E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765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补丁候选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A4CCF5-EBF3-4A80-9952-54DBB632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290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563EB"/>
                </a:solidFill>
              </a:defRPr>
            </a:pPr>
            <a:r>
              <a:rPr sz="2550" b="1">
                <a:solidFill>
                  <a:srgbClr val="2563EB"/>
                </a:solidFill>
              </a:rPr>
              <a:t>12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39F652-C38B-4F48-A5F2-01FACDAC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243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证据声明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5E3AA1-96E5-4FEB-A04E-F5D59AAC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290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6A34A"/>
                </a:solidFill>
              </a:defRPr>
            </a:pPr>
            <a:r>
              <a:rPr sz="2550" b="1">
                <a:solidFill>
                  <a:srgbClr val="16A34A"/>
                </a:solidFill>
              </a:rPr>
              <a:t>15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723DFD-273C-4A48-B558-7FC4E2156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Trace Span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570A45-8752-4127-AB87-D2D4C4A7C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953000"/>
            <a:ext cx="381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选中补丁最差失败率 6.25%，仍满足健康阈值；中风险发布需要人工审批。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FAB345-46C5-430F-8123-4AF99A72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D73E6A-1800-49C4-AE36-656170D3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8479411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EC687-0AE1-4FE5-B046-1C78F8649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安全与审计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B3DEB7-A272-489B-9400-B03366A9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安全边界让自动化停在可审批、可回滚、可审计的位置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D5A177-8304-4D58-8CF3-128753D1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981200"/>
            <a:ext cx="1619250" cy="18097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EF7A03-1E87-4D36-8364-27B73B3B6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266950"/>
            <a:ext cx="78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L0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7A5988-681C-441B-A0EA-46CAFBB3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956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只读诊断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FD4FAC-C010-48CF-8A16-78ACF760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3337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071"/>
                </a:solidFill>
              </a:defRPr>
            </a:pPr>
            <a:r>
              <a:rPr sz="1350" b="0">
                <a:solidFill>
                  <a:srgbClr val="526071"/>
                </a:solidFill>
              </a:rPr>
              <a:t>自动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A0AB01-2235-4952-8E31-1FB86590A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81200"/>
            <a:ext cx="1619250" cy="18097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F73BFC-E0F4-46BB-B6FF-46C92E179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266950"/>
            <a:ext cx="78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L1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F61E4F-6521-4C8E-84AB-723FC310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8956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隔离重放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7D997E-4508-48D8-81F4-BD9C4AB1B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3337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071"/>
                </a:solidFill>
              </a:defRPr>
            </a:pPr>
            <a:r>
              <a:rPr sz="1350" b="0">
                <a:solidFill>
                  <a:srgbClr val="526071"/>
                </a:solidFill>
              </a:rPr>
              <a:t>自动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43F1E1-309F-4085-B341-E19B79B9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981200"/>
            <a:ext cx="1619250" cy="18097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961802-DBB4-40A3-8AB3-7ED50FFF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66950"/>
            <a:ext cx="78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97316"/>
                </a:solidFill>
              </a:defRPr>
            </a:pPr>
            <a:r>
              <a:rPr sz="2550" b="1">
                <a:solidFill>
                  <a:srgbClr val="F97316"/>
                </a:solidFill>
              </a:rPr>
              <a:t>L2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D1F4BA-84CE-4D3A-B73C-58D04CAB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956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测试环境变更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8E3EC8-5378-4421-ADF3-7FDE445B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337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071"/>
                </a:solidFill>
              </a:defRPr>
            </a:pPr>
            <a:r>
              <a:rPr sz="1350" b="0">
                <a:solidFill>
                  <a:srgbClr val="526071"/>
                </a:solidFill>
              </a:rPr>
              <a:t>策略检查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538494-B78B-4307-A39C-C62B2F159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1619250" cy="18097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C8E5F7-7684-43CF-AFD0-21262D7E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266950"/>
            <a:ext cx="78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97316"/>
                </a:solidFill>
              </a:defRPr>
            </a:pPr>
            <a:r>
              <a:rPr sz="2550" b="1">
                <a:solidFill>
                  <a:srgbClr val="F97316"/>
                </a:solidFill>
              </a:rPr>
              <a:t>L3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40CBAB-69C9-4E77-B8E8-2D87FC6C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956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生产发布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DAD405-C97D-41AF-84C1-63C39FA49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337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071"/>
                </a:solidFill>
              </a:defRPr>
            </a:pPr>
            <a:r>
              <a:rPr sz="1350" b="0">
                <a:solidFill>
                  <a:srgbClr val="526071"/>
                </a:solidFill>
              </a:rPr>
              <a:t>人工审批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B89A9B-8BFA-413D-A30A-3C01F569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78C681-CFE7-406D-863F-6D0A39B8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76750"/>
            <a:ext cx="883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当前选中补丁风险分 0.30，被 RiskGate 判定为 medium，必须人类确认。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66C7D0-8944-4EEE-A6D8-356A1BF4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91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F00A2F-750A-4AB0-AD13-1F38E5E11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895850"/>
            <a:ext cx="883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每个补丁都附带回滚策略；配置类修复保留旧值和变更单号。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43F510-1CA6-4984-A057-18DD63FF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10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E76F66-4CA8-4491-8973-9B4626ED6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314950"/>
            <a:ext cx="883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Trace、proof-bundle、proof-report 和证据护照共同构成审计链。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3CE368-9BC4-4E9B-B55D-FB62C348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CDF2F0-3A55-4516-A5B6-90D1DA6F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7583227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7D78AE-2985-4DC5-9F57-5C309F1E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工程落地与开源计划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EE9A9D-0D95-4514-8CA2-2B872C04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初赛已跑通可验证闭环，复赛接入真实研发工具链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C31418-963A-4864-8D66-658DFF06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09750"/>
            <a:ext cx="2571750" cy="2952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7D27D2-4CC6-4570-B866-78FDC416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145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A34A"/>
                </a:solidFill>
              </a:defRPr>
            </a:pPr>
            <a:r>
              <a:rPr sz="1875" b="1">
                <a:solidFill>
                  <a:srgbClr val="16A34A"/>
                </a:solidFill>
              </a:rPr>
              <a:t>初赛 V0.2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3FC3DF-538A-47EF-BD5F-A904C9B1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724150"/>
            <a:ext cx="1809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本地故障样例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7 Agent 设计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9 Skill 实现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Repair Cockpit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Trace 与证明报告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B8F026-AF38-4349-B8E2-3620567F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171950"/>
            <a:ext cx="11239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0A7975-3B87-422F-9F62-40682ADCA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3862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A34A"/>
                </a:solidFill>
              </a:defRPr>
            </a:pPr>
            <a:r>
              <a:rPr sz="1125" b="1">
                <a:solidFill>
                  <a:srgbClr val="16A34A"/>
                </a:solidFill>
              </a:rPr>
              <a:t>已完成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4E8614-C2AB-44E4-84AE-DA167582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09750"/>
            <a:ext cx="2571750" cy="2952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C1847B-9337-4124-98D1-BCDA7233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145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563EB"/>
                </a:solidFill>
              </a:defRPr>
            </a:pPr>
            <a:r>
              <a:rPr sz="1875" b="1">
                <a:solidFill>
                  <a:srgbClr val="2563EB"/>
                </a:solidFill>
              </a:rPr>
              <a:t>复赛 V0.5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0BCF7-858A-4794-B340-FC74F90A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724150"/>
            <a:ext cx="1809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真实 Git/CI 适配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AgentTeams 部署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历史事故 RAG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评测数据集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A00685-535B-488D-8516-2CDD4DFA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171950"/>
            <a:ext cx="11239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B0BBF1-4EF5-4944-AAFB-82B7BEBB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23862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563EB"/>
                </a:solidFill>
              </a:defRPr>
            </a:pPr>
            <a:r>
              <a:rPr sz="1125" b="1">
                <a:solidFill>
                  <a:srgbClr val="2563EB"/>
                </a:solidFill>
              </a:rPr>
              <a:t>可验证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9FBBD2-8D94-4A52-A7D9-AC5F96681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09750"/>
            <a:ext cx="2571750" cy="2952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467962-BE98-49DC-9AE6-2D46177A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1145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97316"/>
                </a:solidFill>
              </a:defRPr>
            </a:pPr>
            <a:r>
              <a:rPr sz="1875" b="1">
                <a:solidFill>
                  <a:srgbClr val="F97316"/>
                </a:solidFill>
              </a:rPr>
              <a:t>开源计划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70E60E-EE5D-4718-A205-40AABB74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24150"/>
            <a:ext cx="1809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核心代码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Skill Schema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MCP 适配器模板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故障回放数据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76327B-D23C-4A58-AFBF-31E69A1FF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171950"/>
            <a:ext cx="11239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091FCC-040C-4BBC-8D6B-C37633FB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3862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可复用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C7AC66-0323-4322-B237-BE75472B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D6FE0C-48B4-4FA7-96DD-66FEB1AB9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7686178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8AEDAE-AAAB-4BAE-9825-47233BC0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商业价值与护城河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60C258-7110-4FCD-9EBB-DA9666B1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商业价值不止是缩短 MTTR，而是把事故变成研发质量资产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6454B9-7214-4091-ACA8-B9F10248D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57350"/>
            <a:ext cx="2857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244181-ED88-47DA-A295-5E6305F4C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288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研发组织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9A0D99-A9F1-42F1-841C-0FA4C6219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2400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减少定位时间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降低误修复风险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跨团队复用经验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55ED61-6AD6-44A4-958F-349A25BBD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57350"/>
            <a:ext cx="2857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23CE14-C03D-42C6-88CA-A2FDE1C2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288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云与 DevOps 平台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AC7085-F3B4-4B5E-AB17-C0D5256C7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86000"/>
            <a:ext cx="2400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嵌入 AIOps / CI/CD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连接配置中心与工单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提供带证据的自动修复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5D78DB-B1A5-4132-B28F-99FA7CA5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57350"/>
            <a:ext cx="2857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347ADB-B907-48EB-A395-32D222E0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288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高审计行业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44F95-7DD3-4145-91F6-12C66EC39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86000"/>
            <a:ext cx="2400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审批留痕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回滚证明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复盘报告自动化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619B01-814E-400B-B047-BC4DB694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95750"/>
            <a:ext cx="12192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015EC1-96C3-47EC-9CB9-3532234E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31482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事故证据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E24EDC-4CFB-4CE5-8F94-A9450F81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90900"/>
            <a:ext cx="12192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DD6640-DEB8-4E76-9E7E-9EF03912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60997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C3AED"/>
                </a:solidFill>
              </a:defRPr>
            </a:pPr>
            <a:r>
              <a:rPr sz="1275" b="1">
                <a:solidFill>
                  <a:srgbClr val="7C3AED"/>
                </a:solidFill>
              </a:rPr>
              <a:t>反事实实验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FC1F9B-57C0-4F5D-926A-E0C01F1D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90900"/>
            <a:ext cx="12192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061FD8-245A-4E83-8957-992BC45F7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0997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A34A"/>
                </a:solidFill>
              </a:defRPr>
            </a:pPr>
            <a:r>
              <a:rPr sz="1275" b="1">
                <a:solidFill>
                  <a:srgbClr val="16A34A"/>
                </a:solidFill>
              </a:rPr>
              <a:t>证据护照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DF9FD8-ECDF-4282-8CC1-EA1ED8B9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95750"/>
            <a:ext cx="12192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82BC2A-B239-4EF0-B096-1921EAEC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1482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Skill / 基因包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8DE070-DF82-43CC-B6A4-70A5E0EF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762500"/>
            <a:ext cx="12192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2D5F7C-14B5-4BC7-9578-9BB01DD4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98157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4B8A6"/>
                </a:solidFill>
              </a:defRPr>
            </a:pPr>
            <a:r>
              <a:rPr sz="1275" b="1">
                <a:solidFill>
                  <a:srgbClr val="14B8A6"/>
                </a:solidFill>
              </a:rPr>
              <a:t>复用与分发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3FC6E5-A0D0-478A-8931-F74FAE3B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3860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4B8A6"/>
                </a:solidFill>
              </a:defRPr>
            </a:pPr>
            <a:r>
              <a:rPr sz="1950" b="1">
                <a:solidFill>
                  <a:srgbClr val="14B8A6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96B4AB-8097-450C-AE3C-B9A404958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62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4B8A6"/>
                </a:solidFill>
              </a:defRPr>
            </a:pPr>
            <a:r>
              <a:rPr sz="1950" b="1">
                <a:solidFill>
                  <a:srgbClr val="14B8A6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886D6B-AFD2-44FA-9406-6D83F68D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3860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4B8A6"/>
                </a:solidFill>
              </a:defRPr>
            </a:pPr>
            <a:r>
              <a:rPr sz="1950" b="1">
                <a:solidFill>
                  <a:srgbClr val="14B8A6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230F61-1B08-4D7F-99D1-F340788C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482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069C68-BC6B-42B4-80ED-884C0158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75310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可收费形态：团队版 SaaS、企业私有化、云市场插件、故障基因包 / Skill 市场、审计合规模块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E0917F-1D9F-4671-B81A-110B8BD3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97BAC1-8D52-4D3B-A243-4276BAF2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4309532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E68505-3624-45A1-9727-A132F1469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906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ChronosFix 的价值不是替代研发判断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CCB1F5-B25A-4345-93D3-455CE9AD3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954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B8A6"/>
                </a:solidFill>
              </a:defRPr>
            </a:pPr>
            <a:r>
              <a:rPr sz="3150" b="1">
                <a:solidFill>
                  <a:srgbClr val="14B8A6"/>
                </a:solidFill>
              </a:rPr>
              <a:t>而是把判断所需的证据变成可复利的质量资产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1E175-682D-4AC0-9914-A226F342B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2095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82F8E8-F2FE-4AED-A0F4-069C7156A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004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A34A"/>
                </a:solidFill>
              </a:defRPr>
            </a:pPr>
            <a:r>
              <a:rPr sz="1725" b="1">
                <a:solidFill>
                  <a:srgbClr val="16A34A"/>
                </a:solidFill>
              </a:rPr>
              <a:t>根因可证明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B1CDA2-45E4-4AA7-BB62-70C5E840D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576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反事实实验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607602-D06E-4157-9516-914E1854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429000"/>
            <a:ext cx="2095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0B8B81-9507-45DA-9DD8-C70C0CA52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6004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补丁可验证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85326A-3777-49D6-86B6-32A63D9E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0576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缺陷基因竞赛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CB7566-B321-4516-8EBD-814B8DE72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429000"/>
            <a:ext cx="2095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7934F0-A6AB-4003-B329-1782F2E9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004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发布可审计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67DFCC-96B3-4EDF-B2C5-C8BC08EC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576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证据护照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5EEE94-7CB7-4675-AA99-18F7A98BC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429000"/>
            <a:ext cx="2095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F08A01-3FE0-44AC-9B85-2522F059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004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经验可复用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9E2FFE-CADD-46E3-A66C-F850271EB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576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Skill 自进化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501E8D-E3DA-49C6-81F9-86B4DF0F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1495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D7E3F5"/>
                </a:solidFill>
              </a:defRPr>
            </a:pPr>
            <a:r>
              <a:rPr sz="1875" b="1">
                <a:solidFill>
                  <a:srgbClr val="D7E3F5"/>
                </a:solidFill>
              </a:rPr>
              <a:t>AsoulAI 让软件修复从经验猜测升级为可回放、可审计、可复用、可商业化的实验闭环。</a:t>
            </a:r>
          </a:p>
        </p:txBody>
      </p:sp>
    </p:spTree>
    <p:extLst>
      <p:ext uri="{BB962C8B-B14F-4D97-AF65-F5344CB8AC3E}">
        <p14:creationId xmlns:p14="http://schemas.microsoft.com/office/powerpoint/2010/main" val="626067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2026-08-12T08:30:33.6920000Z</dcterms:created>
  <dcterms:modified xsi:type="dcterms:W3CDTF">2026-08-12T08:30:33.6920000Z</dcterms:modified>
</coreProperties>
</file>