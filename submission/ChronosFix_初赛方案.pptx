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9cf1f8aa4b4701" /><Relationship Type="http://schemas.openxmlformats.org/officeDocument/2006/relationships/extended-properties" Target="/docProps/app.xml" Id="R6d6bf9532a4e4aab" /><Relationship Type="http://schemas.openxmlformats.org/officeDocument/2006/relationships/officeDocument" Target="/ppt/presentation.xml" Id="R88df0fff21044e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cd17e0a4f64936"/>
  </p:sldMasterIdLst>
  <p:notesMasterIdLst>
    <p:notesMasterId xmlns:r="http://schemas.openxmlformats.org/officeDocument/2006/relationships" r:id="Rf31f5d3205214f19"/>
  </p:notesMasterIdLst>
  <p:sldIdLst>
    <p:sldId xmlns:r="http://schemas.openxmlformats.org/officeDocument/2006/relationships" id="256" r:id="Rc606f0d387994313"/>
    <p:sldId xmlns:r="http://schemas.openxmlformats.org/officeDocument/2006/relationships" id="257" r:id="R1f0003ccba8a4c09"/>
    <p:sldId xmlns:r="http://schemas.openxmlformats.org/officeDocument/2006/relationships" id="258" r:id="Rc7df20da861048ff"/>
    <p:sldId xmlns:r="http://schemas.openxmlformats.org/officeDocument/2006/relationships" id="259" r:id="R5f83af3f5a764363"/>
    <p:sldId xmlns:r="http://schemas.openxmlformats.org/officeDocument/2006/relationships" id="260" r:id="Re1d670dde9c84a68"/>
    <p:sldId xmlns:r="http://schemas.openxmlformats.org/officeDocument/2006/relationships" id="261" r:id="Re9f71be92cce4be5"/>
    <p:sldId xmlns:r="http://schemas.openxmlformats.org/officeDocument/2006/relationships" id="262" r:id="R0b00cc5355f949ba"/>
    <p:sldId xmlns:r="http://schemas.openxmlformats.org/officeDocument/2006/relationships" id="263" r:id="R1369490ee27141b4"/>
    <p:sldId xmlns:r="http://schemas.openxmlformats.org/officeDocument/2006/relationships" id="264" r:id="Rd07dbe8e2bab40ee"/>
    <p:sldId xmlns:r="http://schemas.openxmlformats.org/officeDocument/2006/relationships" id="265" r:id="Radcd0d73b88e4bfc"/>
    <p:sldId xmlns:r="http://schemas.openxmlformats.org/officeDocument/2006/relationships" id="266" r:id="Re1338e58d11a4d12"/>
    <p:sldId xmlns:r="http://schemas.openxmlformats.org/officeDocument/2006/relationships" id="267" r:id="R4552082370534506"/>
    <p:sldId xmlns:r="http://schemas.openxmlformats.org/officeDocument/2006/relationships" id="268" r:id="R042a3aa586d84d07"/>
    <p:sldId xmlns:r="http://schemas.openxmlformats.org/officeDocument/2006/relationships" id="269" r:id="R0a0d222eeca544bd"/>
    <p:sldId xmlns:r="http://schemas.openxmlformats.org/officeDocument/2006/relationships" id="270" r:id="R64ea4e16fa634be8"/>
    <p:sldId xmlns:r="http://schemas.openxmlformats.org/officeDocument/2006/relationships" id="271" r:id="R8697862cff524c1e"/>
    <p:sldId xmlns:r="http://schemas.openxmlformats.org/officeDocument/2006/relationships" id="272" r:id="R91c606f8ab744779"/>
    <p:sldId xmlns:r="http://schemas.openxmlformats.org/officeDocument/2006/relationships" id="273" r:id="R25b88efccbd541cf"/>
    <p:sldId xmlns:r="http://schemas.openxmlformats.org/officeDocument/2006/relationships" id="274" r:id="Rcbb51fb2f7084b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fccfb20431443b" /><Relationship Type="http://schemas.openxmlformats.org/officeDocument/2006/relationships/slideMaster" Target="/ppt/slideMasters/slideMaster1.xml" Id="R20cd17e0a4f64936" /><Relationship Type="http://schemas.openxmlformats.org/officeDocument/2006/relationships/notesMaster" Target="/ppt/notesMasters/notesMaster1.xml" Id="Rf31f5d3205214f19" /><Relationship Type="http://schemas.openxmlformats.org/officeDocument/2006/relationships/presProps" Target="/ppt/presProps.xml" Id="R3f027b8ad1904eb4" /><Relationship Type="http://schemas.openxmlformats.org/officeDocument/2006/relationships/tableStyles" Target="/ppt/tableStyles.xml" Id="Rc299a66f036f406e" /><Relationship Type="http://schemas.openxmlformats.org/officeDocument/2006/relationships/slide" Target="/ppt/slides/slide1.xml" Id="Rc606f0d387994313" /><Relationship Type="http://schemas.openxmlformats.org/officeDocument/2006/relationships/slide" Target="/ppt/slides/slide2.xml" Id="R1f0003ccba8a4c09" /><Relationship Type="http://schemas.openxmlformats.org/officeDocument/2006/relationships/slide" Target="/ppt/slides/slide3.xml" Id="Rc7df20da861048ff" /><Relationship Type="http://schemas.openxmlformats.org/officeDocument/2006/relationships/slide" Target="/ppt/slides/slide4.xml" Id="R5f83af3f5a764363" /><Relationship Type="http://schemas.openxmlformats.org/officeDocument/2006/relationships/slide" Target="/ppt/slides/slide5.xml" Id="Re1d670dde9c84a68" /><Relationship Type="http://schemas.openxmlformats.org/officeDocument/2006/relationships/slide" Target="/ppt/slides/slide6.xml" Id="Re9f71be92cce4be5" /><Relationship Type="http://schemas.openxmlformats.org/officeDocument/2006/relationships/slide" Target="/ppt/slides/slide7.xml" Id="R0b00cc5355f949ba" /><Relationship Type="http://schemas.openxmlformats.org/officeDocument/2006/relationships/slide" Target="/ppt/slides/slide8.xml" Id="R1369490ee27141b4" /><Relationship Type="http://schemas.openxmlformats.org/officeDocument/2006/relationships/slide" Target="/ppt/slides/slide9.xml" Id="Rd07dbe8e2bab40ee" /><Relationship Type="http://schemas.openxmlformats.org/officeDocument/2006/relationships/slide" Target="/ppt/slides/slide10.xml" Id="Radcd0d73b88e4bfc" /><Relationship Type="http://schemas.openxmlformats.org/officeDocument/2006/relationships/slide" Target="/ppt/slides/slide11.xml" Id="Re1338e58d11a4d12" /><Relationship Type="http://schemas.openxmlformats.org/officeDocument/2006/relationships/slide" Target="/ppt/slides/slide12.xml" Id="R4552082370534506" /><Relationship Type="http://schemas.openxmlformats.org/officeDocument/2006/relationships/slide" Target="/ppt/slides/slide13.xml" Id="R042a3aa586d84d07" /><Relationship Type="http://schemas.openxmlformats.org/officeDocument/2006/relationships/slide" Target="/ppt/slides/slide14.xml" Id="R0a0d222eeca544bd" /><Relationship Type="http://schemas.openxmlformats.org/officeDocument/2006/relationships/slide" Target="/ppt/slides/slide15.xml" Id="R64ea4e16fa634be8" /><Relationship Type="http://schemas.openxmlformats.org/officeDocument/2006/relationships/slide" Target="/ppt/slides/slide16.xml" Id="R8697862cff524c1e" /><Relationship Type="http://schemas.openxmlformats.org/officeDocument/2006/relationships/slide" Target="/ppt/slides/slide17.xml" Id="R91c606f8ab744779" /><Relationship Type="http://schemas.openxmlformats.org/officeDocument/2006/relationships/slide" Target="/ppt/slides/slide18.xml" Id="R25b88efccbd541cf" /><Relationship Type="http://schemas.openxmlformats.org/officeDocument/2006/relationships/slide" Target="/ppt/slides/slide19.xml" Id="Rcbb51fb2f7084b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8336a5e95d43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d19796d16240dc" /><Relationship Type="http://schemas.openxmlformats.org/officeDocument/2006/relationships/notesMaster" Target="/ppt/notesMasters/notesMaster1.xml" Id="Rc04c300eebcf4a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c1448c43c64513" /><Relationship Type="http://schemas.openxmlformats.org/officeDocument/2006/relationships/notesMaster" Target="/ppt/notesMasters/notesMaster1.xml" Id="R1db5aa64f9214f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0e5e7d96ea4eb2" /><Relationship Type="http://schemas.openxmlformats.org/officeDocument/2006/relationships/notesMaster" Target="/ppt/notesMasters/notesMaster1.xml" Id="R8177aef27a404d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77303e882e4cca" /><Relationship Type="http://schemas.openxmlformats.org/officeDocument/2006/relationships/notesMaster" Target="/ppt/notesMasters/notesMaster1.xml" Id="R30040a6d766f48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abe0670ee74282" /><Relationship Type="http://schemas.openxmlformats.org/officeDocument/2006/relationships/notesMaster" Target="/ppt/notesMasters/notesMaster1.xml" Id="R2754eb7895b549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ab54299cf44534" /><Relationship Type="http://schemas.openxmlformats.org/officeDocument/2006/relationships/notesMaster" Target="/ppt/notesMasters/notesMaster1.xml" Id="R83bb7f0f381148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12da1d546f499b" /><Relationship Type="http://schemas.openxmlformats.org/officeDocument/2006/relationships/notesMaster" Target="/ppt/notesMasters/notesMaster1.xml" Id="R00d198b30e5640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dde3256fc84db6" /><Relationship Type="http://schemas.openxmlformats.org/officeDocument/2006/relationships/notesMaster" Target="/ppt/notesMasters/notesMaster1.xml" Id="Ra42e834bbd024d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04d325f61d4ee9" /><Relationship Type="http://schemas.openxmlformats.org/officeDocument/2006/relationships/notesMaster" Target="/ppt/notesMasters/notesMaster1.xml" Id="R742c1e6713674e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d194aa74ae485a" /><Relationship Type="http://schemas.openxmlformats.org/officeDocument/2006/relationships/notesMaster" Target="/ppt/notesMasters/notesMaster1.xml" Id="R3fb929802b074d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b9afac75524975" /><Relationship Type="http://schemas.openxmlformats.org/officeDocument/2006/relationships/notesMaster" Target="/ppt/notesMasters/notesMaster1.xml" Id="R50a622d4ca0a41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5a662b62c04de2" /><Relationship Type="http://schemas.openxmlformats.org/officeDocument/2006/relationships/notesMaster" Target="/ppt/notesMasters/notesMaster1.xml" Id="Re1b600ca0cdf4f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28ceed419b4291" /><Relationship Type="http://schemas.openxmlformats.org/officeDocument/2006/relationships/notesMaster" Target="/ppt/notesMasters/notesMaster1.xml" Id="R33d576a28b904a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0b47d717c34c10" /><Relationship Type="http://schemas.openxmlformats.org/officeDocument/2006/relationships/notesMaster" Target="/ppt/notesMasters/notesMaster1.xml" Id="R8b169ae7a7424c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da9a1073694aa1" /><Relationship Type="http://schemas.openxmlformats.org/officeDocument/2006/relationships/notesMaster" Target="/ppt/notesMasters/notesMaster1.xml" Id="R8872c703922940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ebe4fd69474337" /><Relationship Type="http://schemas.openxmlformats.org/officeDocument/2006/relationships/notesMaster" Target="/ppt/notesMasters/notesMaster1.xml" Id="R6fb23406bd0e4e1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98961850884f34" /><Relationship Type="http://schemas.openxmlformats.org/officeDocument/2006/relationships/notesMaster" Target="/ppt/notesMasters/notesMaster1.xml" Id="Rb24068bf73574a9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d500e640d0454b" /><Relationship Type="http://schemas.openxmlformats.org/officeDocument/2006/relationships/notesMaster" Target="/ppt/notesMasters/notesMaster1.xml" Id="R4fca9ff32ccf451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d19af4963ce4725" /><Relationship Type="http://schemas.openxmlformats.org/officeDocument/2006/relationships/notesMaster" Target="/ppt/notesMasters/notesMaster1.xml" Id="R7cea93902f6a4c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2e567d1a-99c1-45ce-8a0f-3d36d11f3314.pdf：GOAI 初赛方案 PPT 内容框架模板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submission/work-intro-500.txt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2e567d1a-99c1-45ce-8a0f-3d36d11f3314.pdf：P0 一页纸速览模板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evidence/proof-bundle.json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2e567d1a-99c1-45ce-8a0f-3d36d11f3314.pdf：目录页框架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2e567d1a-99c1-45ce-8a0f-3d36d11f3314.pdf：第一章场景与价值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scenarios/checkout-timeout/scenario.json</a:t>
            </a:r>
          </a:p>
          <a:p xmlns:a="http://schemas.openxmlformats.org/drawingml/2006/main">
            <a:r>
              <a:t>evidence/proof-bundle.json</a:t>
            </a:r>
          </a:p>
          <a:p xmlns:a="http://schemas.openxmlformats.org/drawingml/2006/main">
            <a:r>
              <a:t>docs/business-value.md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2e567d1a-99c1-45ce-8a0f-3d36d11f3314.pdf：第二章方案总览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6e21b053-f18b-4857-83e2-835bd96d5434.pdf：OpsPilot Zero 示例</a:t>
            </a:r>
          </a:p>
          <a:p xmlns:a="http://schemas.openxmlformats.org/drawingml/2006/main">
            <a:r>
              <a:t>docs/official-baseline.md</a:t>
            </a:r>
          </a:p>
          <a:p xmlns:a="http://schemas.openxmlformats.org/drawingml/2006/main">
            <a:r>
              <a:t>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2e567d1a-99c1-45ce-8a0f-3d36d11f3314.pdf：第三章多 Agent 协同设计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docs/agent-identity.md</a:t>
            </a:r>
          </a:p>
          <a:p xmlns:a="http://schemas.openxmlformats.org/drawingml/2006/main">
            <a:r>
              <a:t>agentteams/chronosfix-team.yaml</a:t>
            </a:r>
          </a:p>
          <a:p xmlns:a="http://schemas.openxmlformats.org/drawingml/2006/main">
            <a:r>
              <a:t>src/chronosfix/orchestrator.py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2e567d1a-99c1-45ce-8a0f-3d36d11f3314.pdf：第四章 Skill 工程体系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docs/skill-specs.md</a:t>
            </a:r>
          </a:p>
          <a:p xmlns:a="http://schemas.openxmlformats.org/drawingml/2006/main">
            <a:r>
              <a:t>src/chronosfix/skills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2e567d1a-99c1-45ce-8a0f-3d36d11f3314.pdf：第五章工程落地、安全可审计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tests/test_pipeline.py</a:t>
            </a:r>
          </a:p>
          <a:p xmlns:a="http://schemas.openxmlformats.org/drawingml/2006/main">
            <a:r>
              <a:t>evidence/trace.jsonl</a:t>
            </a:r>
          </a:p>
          <a:p xmlns:a="http://schemas.openxmlformats.org/drawingml/2006/main">
            <a:r>
              <a:t>evidence/proof-report.md</a:t>
            </a:r>
          </a:p>
          <a:p xmlns:a="http://schemas.openxmlformats.org/drawingml/2006/main">
            <a:r>
              <a:t>docs/safety-and-audit.md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2e567d1a-99c1-45ce-8a0f-3d36d11f3314.pdf：第六章开放 / 开源计划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docs/open-source-compliance.md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公开搜索检查：未发现完全同名 ChronosFix 主流开源项目；存在 Chronos 类调试/推理项目，因此本方案强化 AsoulAI / A-CFX 品牌边界。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2e567d1a-99c1-45ce-8a0f-3d36d11f3314.pdf：第七章落地计划与进展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docs/requirements-matrix.md</a:t>
            </a:r>
          </a:p>
          <a:p xmlns:a="http://schemas.openxmlformats.org/drawingml/2006/main">
            <a:r>
              <a:t>docs/business-value.md</a:t>
            </a:r>
          </a:p>
          <a:p xmlns:a="http://schemas.openxmlformats.org/drawingml/2006/main">
            <a:r>
              <a:t>repair-cockpit/README.md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2e567d1a-99c1-45ce-8a0f-3d36d11f3314.pdf：第八章团队介绍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提交入口说明.md</a:t>
            </a:r>
          </a:p>
          <a:p xmlns:a="http://schemas.openxmlformats.org/drawingml/2006/main">
            <a:r>
              <a:t>submission/work-intro-500.txt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af6a61a4c42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47ae2b3bbf4581" /><Relationship Type="http://schemas.openxmlformats.org/officeDocument/2006/relationships/slideLayout" Target="/ppt/slideLayouts/slideLayout1.xml" Id="Rea10f3a2dbb645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10f3a2dbb645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bdfe5c813468f" /><Relationship Type="http://schemas.openxmlformats.org/officeDocument/2006/relationships/notesSlide" Target="/ppt/notesSlides/notesSlide1.xml" Id="R145a5d9dd6c646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abbd7d05345a5" /><Relationship Type="http://schemas.openxmlformats.org/officeDocument/2006/relationships/notesSlide" Target="/ppt/notesSlides/notesSlide2.xml" Id="Rd59796a1b6404e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c06bb78ab4d50" /><Relationship Type="http://schemas.openxmlformats.org/officeDocument/2006/relationships/notesSlide" Target="/ppt/notesSlides/notesSlide3.xml" Id="R225d2a57973a41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d9dd94ba14162" /><Relationship Type="http://schemas.openxmlformats.org/officeDocument/2006/relationships/notesSlide" Target="/ppt/notesSlides/notesSlide4.xml" Id="Re3d4def93b4c4e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0afe325b041c7" /><Relationship Type="http://schemas.openxmlformats.org/officeDocument/2006/relationships/notesSlide" Target="/ppt/notesSlides/notesSlide5.xml" Id="Rdd0ca3fe71ad49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63fa6e3fb4233" /><Relationship Type="http://schemas.openxmlformats.org/officeDocument/2006/relationships/notesSlide" Target="/ppt/notesSlides/notesSlide6.xml" Id="R23b39391b14d44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82694dd0b4c64" /><Relationship Type="http://schemas.openxmlformats.org/officeDocument/2006/relationships/notesSlide" Target="/ppt/notesSlides/notesSlide7.xml" Id="Rf83ce0f8909f43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ad997b7434292" /><Relationship Type="http://schemas.openxmlformats.org/officeDocument/2006/relationships/notesSlide" Target="/ppt/notesSlides/notesSlide8.xml" Id="R57597285737841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a84acbef54857" /><Relationship Type="http://schemas.openxmlformats.org/officeDocument/2006/relationships/notesSlide" Target="/ppt/notesSlides/notesSlide9.xml" Id="R0a6e1a40a6ae4a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c54a6aeb44eca" /><Relationship Type="http://schemas.openxmlformats.org/officeDocument/2006/relationships/notesSlide" Target="/ppt/notesSlides/notesSlide10.xml" Id="Ra2c7fb6d189b4c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79b9832754eca" /><Relationship Type="http://schemas.openxmlformats.org/officeDocument/2006/relationships/notesSlide" Target="/ppt/notesSlides/notesSlide11.xml" Id="R63e1d1ab9f6d40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df94b50b149cd" /><Relationship Type="http://schemas.openxmlformats.org/officeDocument/2006/relationships/notesSlide" Target="/ppt/notesSlides/notesSlide12.xml" Id="R33c6a7ae7d154d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8371a41384a85" /><Relationship Type="http://schemas.openxmlformats.org/officeDocument/2006/relationships/notesSlide" Target="/ppt/notesSlides/notesSlide13.xml" Id="R83af9919304546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3040639774526" /><Relationship Type="http://schemas.openxmlformats.org/officeDocument/2006/relationships/notesSlide" Target="/ppt/notesSlides/notesSlide14.xml" Id="Ra2c36c4cde6c46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1627a42e84601" /><Relationship Type="http://schemas.openxmlformats.org/officeDocument/2006/relationships/notesSlide" Target="/ppt/notesSlides/notesSlide15.xml" Id="Re1ed41b5dca54f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00b1f167e4c6d" /><Relationship Type="http://schemas.openxmlformats.org/officeDocument/2006/relationships/notesSlide" Target="/ppt/notesSlides/notesSlide16.xml" Id="R87db1a9e2dd24b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456e896254d58" /><Relationship Type="http://schemas.openxmlformats.org/officeDocument/2006/relationships/notesSlide" Target="/ppt/notesSlides/notesSlide17.xml" Id="R0e674ce95b944d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ff9d3a053426c" /><Relationship Type="http://schemas.openxmlformats.org/officeDocument/2006/relationships/notesSlide" Target="/ppt/notesSlides/notesSlide18.xml" Id="R3223cc83ae6744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8d9085c9347ce" /><Relationship Type="http://schemas.openxmlformats.org/officeDocument/2006/relationships/notesSlide" Target="/ppt/notesSlides/notesSlide19.xml" Id="R08d4e98564fc44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9A3AF-6EC5-4674-AE37-01DB5499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10971-89C4-4CAD-9655-CEF39906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</a:defRPr>
            </a:pPr>
            <a:r>
              <a:rPr sz="1350" b="1">
                <a:solidFill>
                  <a:srgbClr val="14B8A6"/>
                </a:solidFill>
              </a:rPr>
              <a:t>GOAI 世界人工智能开源大赛 · Agent Infra 新智基座 · 方向三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3E29F-39F1-4781-82DF-FCAC90CE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AsoulAI ChronosFix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5AAC4-058E-4599-A0FC-19EE4CBE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A-CFX：软件故障时间机器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6A244-B313-4168-926C-FB344584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3F5"/>
                </a:solidFill>
              </a:defRPr>
            </a:pPr>
            <a:r>
              <a:rPr sz="1800" b="0">
                <a:solidFill>
                  <a:srgbClr val="D7E3F5"/>
                </a:solidFill>
              </a:rPr>
              <a:t>把线上事故沉淀为可复用 Skill、故障基因包和证据护照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DC734-3227-4291-A774-E39FE73D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86AD8-EBB4-4708-8FC6-38F02262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B8A6"/>
                </a:solidFill>
              </a:defRPr>
            </a:pPr>
            <a:r>
              <a:rPr sz="1050" b="1">
                <a:solidFill>
                  <a:srgbClr val="14B8A6"/>
                </a:solidFill>
              </a:rPr>
              <a:t>官方 PPT 框架对齐版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DB30C-A725-42F3-835A-570A074C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32C2D-7D74-4642-A8E2-392431B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052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97316"/>
                </a:solidFill>
              </a:defRPr>
            </a:pPr>
            <a:r>
              <a:rPr sz="1050" b="1">
                <a:solidFill>
                  <a:srgbClr val="F97316"/>
                </a:solidFill>
              </a:rPr>
              <a:t>队伍：AsoulAI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34A2C-B6F4-4C7C-8C16-A5686C70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3860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40808-5CEC-4F43-9A49-9C311523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052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初赛 V0.3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3D05A-1126-4ABC-B157-6CC6C991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1276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6F38F-9008-4433-815E-8D1E2D1B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33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事故证据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0A782-1D61-4790-8258-4FE4538A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19350"/>
            <a:ext cx="1276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6DEC2-F70B-43E1-92B2-641E9505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76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反事实实验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E9AAA-6266-46B9-B2A4-ACBAC165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1276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ED6FB-D2F8-4F06-AEDF-DD6AAE1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957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证据护照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C367A-0DCA-4ED9-858C-2F721335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38550"/>
            <a:ext cx="1276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08797B-3A26-4229-8EEF-5C3E0B1D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957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Skill / 基因包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0F2A1-6BBB-4F4A-ADB9-FE7A5AF7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19350"/>
            <a:ext cx="1276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9978E-8EFB-41D2-A10B-D18BB0D9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76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复用分发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F93B0-2E6C-4067-9FBB-0AAF53BF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B8A6"/>
                </a:solidFill>
              </a:defRPr>
            </a:pPr>
            <a:r>
              <a:rPr sz="2550" b="1">
                <a:solidFill>
                  <a:srgbClr val="14B8A6"/>
                </a:solidFill>
              </a:rPr>
              <a:t>A-CFX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4F545-1B87-422F-876C-1E59A453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7E8"/>
                </a:solidFill>
              </a:defRPr>
            </a:pPr>
            <a:r>
              <a:rPr sz="1125" b="0">
                <a:solidFill>
                  <a:srgbClr val="AFC7E8"/>
                </a:solidFill>
              </a:rPr>
              <a:t>代码仓库与 Demo 已公开，可直接复现</a:t>
            </a:r>
          </a:p>
        </p:txBody>
      </p:sp>
    </p:spTree>
    <p:extLst>
      <p:ext uri="{BB962C8B-B14F-4D97-AF65-F5344CB8AC3E}">
        <p14:creationId xmlns:p14="http://schemas.microsoft.com/office/powerpoint/2010/main" val="66839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77E7E-94EA-444B-BC99-2FABD2E2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P0 · 一页纸速览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564B8-BCDA-4810-8FC1-0187A827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AsoulAI ChronosFix：为研发团队提供“带证据的自动修复”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E2301-2DBF-4E7B-B3F5-D7A124D9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按官方模板补齐项目名称、场景、方案、创新、开放复用和当前进展。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D2485-F15C-4E3F-9B32-B9230C46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4762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5585C-260B-47CC-BC46-F19F2CD1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项目名称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5A123-CCF8-45C2-B3E2-EB4B09C7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AsoulAI ChronosFix（A-CFX）</a:t>
            </a:r>
          </a:p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软件故障时间机器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BE5CF-D950-4C95-BF5E-C83A1996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4762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A9F03-A503-4D9C-879C-266D62B0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问题与场景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B3FBF-FF07-479F-8238-1B8682A8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050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中大型研发团队面对线上故障时，代码、配置、依赖、流量和外部系统同时变化，根因判断容易停留在猜测。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AEDC1-A891-4B1C-9FEB-8312888E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4762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22618-6887-41B1-A2DA-C6721D93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核心方案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E792C-BD8F-45AA-9965-E2F988D6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7 个职能 Agent 协同重建时间线，用反事实实验证明根因，再通过故障基因竞赛、证据护照和 RiskGate 交付补丁。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270A9-0FD8-465A-BCB8-C8494E7E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48000"/>
            <a:ext cx="4762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8D0CC-1B68-4FE7-B2D7-1E2E5162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创新差异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F8A6A-9490-4C00-B2E2-97B1D818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不是 Debug Bot，也不是只生成补丁；A-CFX 把事故处理升级为可回放、可验证、可审计的质量资产生产线。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D5B26-CB63-41CD-B7F6-131AEAF6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4762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AAF8CC-79CE-4C70-877C-B6C39DE5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开放复用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4E279-63DC-4E10-9EEA-55C9D3B2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开放 Skill 规格、AgentTeams 草案、故障回放样例、证据护照模板和 MCP 适配器路线。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04840-107E-4012-91E8-1252D469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43400"/>
            <a:ext cx="4762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2FB08-2360-40DE-9E67-DCE5F9D6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C2626"/>
                </a:solidFill>
              </a:defRPr>
            </a:pPr>
            <a:r>
              <a:rPr sz="1575" b="1">
                <a:solidFill>
                  <a:srgbClr val="DC2626"/>
                </a:solidFill>
              </a:rPr>
              <a:t>当前进展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E8B810-C07D-43A2-8EA9-07F88447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958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已完成本地 Demo、前端驾驶舱、自动化测试、Trace、proof-bundle、PPT 和公开仓库。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BE3F14-1A67-4506-9410-6A92598F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初赛方案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673238-70F4-41BD-A952-5A45322F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0724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A1BCF6-4FC6-4031-A55A-B9781CB4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AD466-A2B1-4FAA-A38B-BB97857C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按官方初赛 PPT 框架组织，不只讲创意，也讲可落地性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6C4AC-F8C2-4F35-AFE7-6F9D906B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每一章对应官方模板里的建议内容与评分关注点。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319EC-83D5-45A9-B088-5A746F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724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9DD6D-4492-470F-A7A5-1BF22F57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28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B8A6"/>
                </a:solidFill>
              </a:defRPr>
            </a:pPr>
            <a:r>
              <a:rPr sz="1500" b="1">
                <a:solidFill>
                  <a:srgbClr val="14B8A6"/>
                </a:solidFill>
              </a:rPr>
              <a:t>1 场景与价值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6CFB2-4522-44DF-9D7F-AAD25EAC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383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真实痛点、目标用户、可量化收益、商业化空间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4DD30-80F8-4F43-8AAA-69C96581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95450"/>
            <a:ext cx="4724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C7CDE-382D-497C-A982-C5362752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28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2 方案总览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AA393-0EE4-4161-8F2B-F7C5BED3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383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端到端闭环、官方 Baseline 对照、关键技术选型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172C9-2AF4-4935-A419-D20777F8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724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477A6-9CEC-4680-B232-69AA543D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B8A6"/>
                </a:solidFill>
              </a:defRPr>
            </a:pPr>
            <a:r>
              <a:rPr sz="1500" b="1">
                <a:solidFill>
                  <a:srgbClr val="14B8A6"/>
                </a:solidFill>
              </a:rPr>
              <a:t>3 多 Agent 协同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3A2AB-69F8-49AE-86ED-2BFF47EB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289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Agent 分工、状态流转、冲突处理与安全边界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A7A17-4C6F-4830-9E98-6439D09D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86050"/>
            <a:ext cx="4724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E6DEC-0B60-43ED-96C9-C6E55703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19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4 Skills 工具体系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68732-0C42-49D1-A1BF-A8F37B67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289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Skill 清单、规格、复用、生命周期管理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1ECBB-12C3-4B1C-A608-FDFAA24B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4724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A33BC-4E82-4377-B9C1-38F3746B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B8A6"/>
                </a:solidFill>
              </a:defRPr>
            </a:pPr>
            <a:r>
              <a:rPr sz="1500" b="1">
                <a:solidFill>
                  <a:srgbClr val="14B8A6"/>
                </a:solidFill>
              </a:rPr>
              <a:t>5 工程验证与安全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A4344-D69A-4DB9-BDCB-88FE3178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195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Demo、Trace、审计、RiskGate 与可运行证据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7CF40-7270-4649-945C-533E9C14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76650"/>
            <a:ext cx="4724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520DD3-1265-4B7C-BB70-05920624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10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6 开源开放计划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E86539-A2CE-47E3-AFCA-DDF7A8E8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195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代码、协议、接口契约、原创性边界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40794-EC12-4825-89B9-EF7973DC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724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D5CE7-1A73-48F3-A5A9-CA6C0DF7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B8A6"/>
                </a:solidFill>
              </a:defRPr>
            </a:pPr>
            <a:r>
              <a:rPr sz="1500" b="1">
                <a:solidFill>
                  <a:srgbClr val="14B8A6"/>
                </a:solidFill>
              </a:rPr>
              <a:t>7 落地计划与进展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DAACE9-C60E-4618-982D-89BD9523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0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已完成内容、复赛路线、风险控制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E07289-C2BE-4EF9-8DC5-590E87DB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667250"/>
            <a:ext cx="4724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FD8A38-66F0-4931-973E-54043BB9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800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8 团队与提交物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35DB33-0AF4-4CAA-894C-6255C46F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10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AsoulAI、仓库、Demo、PPT、简介和证据材料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A35A5F-12D1-4B43-B3E7-FD120EF2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初赛方案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96F1C7-1AA2-487B-ADFC-1F0F834B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856792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174FC-3631-4BD2-9FA3-952FE9D0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51681-6389-477F-A7CC-13444827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B8A6"/>
                </a:solidFill>
              </a:defRPr>
            </a:pPr>
            <a:r>
              <a:rPr sz="2100" b="1">
                <a:solidFill>
                  <a:srgbClr val="14B8A6"/>
                </a:solidFill>
              </a:rPr>
              <a:t>第一章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D4896-7538-42CB-82F4-CAE395C1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场景与价值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0CF87-C3CE-446E-BED0-ACA7A55E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7E8"/>
                </a:solidFill>
              </a:defRPr>
            </a:pPr>
            <a:r>
              <a:rPr sz="1500" b="0">
                <a:solidFill>
                  <a:srgbClr val="AFC7E8"/>
                </a:solidFill>
              </a:rPr>
              <a:t>对应官方 PPT 框架与评分维度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469E5-980F-4C11-9386-F414E6AF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00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B15D2-9C53-405D-BF97-D700FE65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场景价值与行业可复制性 25%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C708E-9D45-4B00-8E82-98637F10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AsoulAI · A-CFX · 官方模板对齐版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BF3FF-86FB-417D-840D-9E30ADD5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94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72502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CE12DC-7CE4-4F16-8279-0C1DF779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场景与价值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BF0D2-88E8-44C3-AB54-517A7489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A-CFX 面向“高变更密度”的研发故障，而不是泛化聊天式排障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83875-6D10-4507-8828-B6C34C6A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真实场景来自订单接口故障：同一窗口内同时发生代码、依赖、配置和流量变化。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9D5CE-8B2C-4549-BB73-AE75FE69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41C14-3BD6-4C83-8CF8-BAB5CC25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目标用户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D97D7-B790-4EF2-99F6-5BDA8F71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中大型研发组织、平台工程团队、云厂商 DevOps / AIOps 产品线。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1D676-E571-4307-A4CE-0358D8A0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32CB4-415A-4CBC-9BFF-B354DAF1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812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核心痛点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08822-CE42-4064-BC1A-C814340E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622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事故发生时根因候选太多，AI 总结无法证明因果，补丁也缺少发布证据。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318D2-02A2-4598-BCB1-0113EFE3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8A521-5237-4EA1-B0BE-F8766997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812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可复制价值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05B61-48F8-48B2-A937-5861F8E9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把故障处理流程抽象成 Agent + Skill + Evidence Passport，可迁移到支付、网关、库存、配置治理等场景。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754A6-F0BE-4FB8-8B88-667E1558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80CBB-3DA8-42D7-AF77-18528CAC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DC2626"/>
                </a:solidFill>
              </a:defRPr>
            </a:pPr>
            <a:r>
              <a:rPr sz="2325" b="1">
                <a:solidFill>
                  <a:srgbClr val="DC2626"/>
                </a:solidFill>
              </a:rPr>
              <a:t>48.72%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489EE-4CD6-48DA-9F85-780D537E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Demo 基线失败率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E54C7-13C9-4F3F-B500-F006FFD9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7B409-459F-4116-95BB-9A6A79D9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97316"/>
                </a:solidFill>
              </a:defRPr>
            </a:pPr>
            <a:r>
              <a:rPr sz="2325" b="1">
                <a:solidFill>
                  <a:srgbClr val="F97316"/>
                </a:solidFill>
              </a:rPr>
              <a:t>606.96ms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2DE7F-55B6-47A3-A50C-07A3C740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Demo P99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D07BA-2269-4B68-8D58-D1A499D2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863C6-A328-4434-BB4A-4194C6F0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7C3AED"/>
                </a:solidFill>
              </a:defRPr>
            </a:pPr>
            <a:r>
              <a:rPr sz="2325" b="1">
                <a:solidFill>
                  <a:srgbClr val="7C3AED"/>
                </a:solidFill>
              </a:rPr>
              <a:t>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4E27C-037E-4774-9A08-9532771A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故障基因变体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48C6A-2AFF-49F0-8953-08904B6B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9F99CF-16B9-41EC-B801-0C47B40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563EB"/>
                </a:solidFill>
              </a:defRPr>
            </a:pPr>
            <a:r>
              <a:rPr sz="2325" b="1">
                <a:solidFill>
                  <a:srgbClr val="2563EB"/>
                </a:solidFill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149FD6-0982-490E-96D0-FC90BD6A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证据护照声明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4275F8-5336-4677-85C4-DC09B6BF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C9B0A4-91C7-49DE-9C70-F4A447A7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A34A"/>
                </a:solidFill>
              </a:defRPr>
            </a:pPr>
            <a:r>
              <a:rPr sz="2325" b="1">
                <a:solidFill>
                  <a:srgbClr val="16A34A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4510B7-7E41-4D97-B1BA-9A4E2679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质量资产类型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4EB48-5CAB-4AD3-BCB1-7D656D53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91150"/>
            <a:ext cx="979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商业命题：把事故成本中心变成研发质量资产生产线，收益来自 MTTR 降低、误修复风险下降、跨团队复用与合规审计自动化。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FD70A8-99D0-4813-A4DB-BFAF6074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初赛方案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1387C7-3AA4-42E0-88DF-C63EF902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2216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1F6A2-6205-45DE-BAE2-C5090900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05E8E-9A77-4AA1-AAB4-30016FE9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B8A6"/>
                </a:solidFill>
              </a:defRPr>
            </a:pPr>
            <a:r>
              <a:rPr sz="2100" b="1">
                <a:solidFill>
                  <a:srgbClr val="14B8A6"/>
                </a:solidFill>
              </a:rPr>
              <a:t>第二章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8D47A-1D8D-4792-B80C-809DCDE5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方案总览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F1BBF-4100-4CAA-BAED-CD537B45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7E8"/>
                </a:solidFill>
              </a:defRPr>
            </a:pPr>
            <a:r>
              <a:rPr sz="1500" b="0">
                <a:solidFill>
                  <a:srgbClr val="AFC7E8"/>
                </a:solidFill>
              </a:rPr>
              <a:t>对应官方 PPT 框架与评分维度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FC018-D6EE-454E-B4B6-689C218D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00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220ED-63E8-4C9E-A948-1565D461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端到端主流程与关键技术选型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3AB2C-FADD-415D-9699-45817458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AsoulAI · A-CFX · 官方模板对齐版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236B7-C063-4449-AB14-D077092E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94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45481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099107-C7F1-4C0F-8B94-8000D42F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方案总览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04EC8-06BD-403A-88C1-9F3ACA8E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从官方 OpsPilot Zero 到 A-CFX：把运维自愈范式迁移到研发协同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534AD-D9E2-4A29-AD57-958CAC88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官方未给代码仓库型 baseline；本方案使用官方作品示例 OpsPilot Zero 作为参考 Baseline。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4297A-BE28-44C9-B947-7DB1BC4A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0ACBE-3413-4FBF-9069-BE9B4408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官方参考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C9E15-6926-4C7A-895D-B3140FDF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2533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OpsPilot Zero 强调 AgentTeams、Skill、MCP/适配器、Trace、审计和安全边界。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FB94F-FB5A-4AE1-A753-F61955E5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954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BA140-CF96-4042-903A-916973B1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669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A-CFX 对齐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62F03-B6BA-4FEB-928C-EDC43A13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47900"/>
            <a:ext cx="2533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保留 7 职能 Agent、Skill 工程化、Incident State、Trace 与 RiskGate。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1902A-47ED-45C5-B1D5-B8D0D80F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51C49-20C5-47AB-9167-1B17B34E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A-CFX 增强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D2ACE-B017-43C0-A94B-784C7222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2533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扩展到 Issue / Git / 依赖 / 配置 / CI / 发布审批，并增加反事实证明、故障基因和证据护照。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2F401-87A5-4A9B-8667-9B2C1F96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158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732AC-7D69-4C20-A842-BF8640A0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证据融合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06265-FFD5-416C-B517-12D12832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05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7C600-5CBF-4FE1-A420-0C8EEEF0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24300"/>
            <a:ext cx="158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1C410-B244-44F6-8816-9C7A0555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B8A6"/>
                </a:solidFill>
              </a:defRPr>
            </a:pPr>
            <a:r>
              <a:rPr sz="1425" b="1">
                <a:solidFill>
                  <a:srgbClr val="14B8A6"/>
                </a:solidFill>
              </a:rPr>
              <a:t>时间线重建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B8854-FAC7-48CB-BE32-A4403D26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05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9B1CE-85EB-4E6F-A959-57249714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24300"/>
            <a:ext cx="158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AD794-1CCE-4A21-8CBD-2C7F8F3A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719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反事实证明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830D8-CFD9-4421-881A-715D7167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05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E1A90-0C19-4141-AF37-37C0EB19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24300"/>
            <a:ext cx="158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7C2E0-05E1-453D-9361-DB058108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719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97316"/>
                </a:solidFill>
              </a:defRPr>
            </a:pPr>
            <a:r>
              <a:rPr sz="1425" b="1">
                <a:solidFill>
                  <a:srgbClr val="F97316"/>
                </a:solidFill>
              </a:rPr>
              <a:t>补丁竞赛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A7C41C-2164-480A-BE23-26A5CD70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05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10F31D-859C-4145-95A7-EB0EC3C4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24300"/>
            <a:ext cx="158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32FA7F-20E2-4311-81B7-2D84CDEE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719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A34A"/>
                </a:solidFill>
              </a:defRPr>
            </a:pPr>
            <a:r>
              <a:rPr sz="1425" b="1">
                <a:solidFill>
                  <a:srgbClr val="16A34A"/>
                </a:solidFill>
              </a:rPr>
              <a:t>证据发布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06234-42EA-41F8-AE8A-22975C5A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768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输出：trace.jsonl、proof-bundle.json、proof-report.md、Repair Cockpit、可复用 Skill 候选。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2A6C5B-A3F8-4D4B-B2CA-BB90D7BD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初赛方案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2E1CC8-9E1B-40B1-8D9F-D23F37EC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446860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0AEF4-701A-4AC1-AD19-485675DF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E2AE4-4DC4-4E5A-9788-34BE400E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B8A6"/>
                </a:solidFill>
              </a:defRPr>
            </a:pPr>
            <a:r>
              <a:rPr sz="2100" b="1">
                <a:solidFill>
                  <a:srgbClr val="14B8A6"/>
                </a:solidFill>
              </a:rPr>
              <a:t>第三章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8EDC3-4E51-4122-94C0-4D2300FF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多 Agent 协同设计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DD91A-362C-46F3-A9BB-12CD8E4D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7E8"/>
                </a:solidFill>
              </a:defRPr>
            </a:pPr>
            <a:r>
              <a:rPr sz="1500" b="0">
                <a:solidFill>
                  <a:srgbClr val="AFC7E8"/>
                </a:solidFill>
              </a:rPr>
              <a:t>对应官方 PPT 框架与评分维度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9F30C-43A8-488C-B0AE-860C191B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00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92BCA-0786-4FD4-9351-6A34CCDE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多 Agent 协同与自主闭环能力 25%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F7CBC-4A56-4B1D-97AA-4DD015B7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AsoulAI · A-CFX · 官方模板对齐版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45A99-33AB-4DC2-9777-7A5549A6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94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974748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18F6B6-2F9D-4609-ADF1-A99D9687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多 Agent 协同设计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B323F-A44C-49CE-A45E-BFFB7580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7 个职能 Agent 形成从调查到发布的闭环，满足官方“至少 3 个 Agent”要求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FFD52-C0D9-4015-A97C-28A4D199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Agent 不抢结论，而是围绕同一个 Incident State 分工、竞赛、审计。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1218B-FCCB-4026-B652-FFE5B658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28E87-3E04-4155-82B4-0AAA67A9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Commander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AD5F6-CE3E-4B69-AC3B-64974F54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7E3F5"/>
                </a:solidFill>
              </a:defRPr>
            </a:pPr>
            <a:r>
              <a:rPr sz="1125" b="0">
                <a:solidFill>
                  <a:srgbClr val="D7E3F5"/>
                </a:solidFill>
              </a:rPr>
              <a:t>拆解任务</a:t>
            </a:r>
          </a:p>
          <a:p xmlns:a="http://schemas.openxmlformats.org/drawingml/2006/main">
            <a:pPr algn="ctr">
              <a:defRPr sz="1125" b="0">
                <a:solidFill>
                  <a:srgbClr val="D7E3F5"/>
                </a:solidFill>
              </a:defRPr>
            </a:pPr>
            <a:r>
              <a:rPr sz="1125" b="0">
                <a:solidFill>
                  <a:srgbClr val="D7E3F5"/>
                </a:solidFill>
              </a:rPr>
              <a:t>裁决冲突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E7C6C-C8E2-46F8-9F16-637A4293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EBA33-74E1-41BB-B1D8-BBEED03F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2A2D0-9DB0-40FC-86A5-9776A857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Timeline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7B1AA-F928-4B2C-ADD3-F0A1B903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融合证据</a:t>
            </a:r>
          </a:p>
          <a:p xmlns:a="http://schemas.openxmlformats.org/drawingml/2006/main">
            <a:pPr algn="ctr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重建时间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D95EE-153A-4F77-90A4-E47B706B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38E11-53BB-4215-B166-8FF4EEF9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6035E-0AE3-45A7-A4A9-81FAD79F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Hypothesis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A45FD-43BB-4C1F-83DF-B0C0D483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提出假设</a:t>
            </a:r>
          </a:p>
          <a:p xmlns:a="http://schemas.openxmlformats.org/drawingml/2006/main">
            <a:pPr algn="ctr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可证伪约束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E5BA6-2405-4599-B17E-DEE22CB5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C9C8D-4674-4C6D-A1A2-71692CD3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2DB74-9FC2-4D02-8D5D-FEFC7CDA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Universe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EE38D-E19D-4261-A573-3451B0D7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反事实实验</a:t>
            </a:r>
          </a:p>
          <a:p xmlns:a="http://schemas.openxmlformats.org/drawingml/2006/main">
            <a:pPr algn="ctr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故障基因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293C8-F604-4EDF-A5FB-43AFC465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8A2544-DD6B-4BA3-91C7-3DFEBBA7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7E9EAF-7F83-4B39-B956-76B26D26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386FD-F5B0-40E2-8684-BB1D9EEA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生成补丁</a:t>
            </a:r>
          </a:p>
          <a:p xmlns:a="http://schemas.openxmlformats.org/drawingml/2006/main">
            <a:pPr algn="ctr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回滚契约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CE27A-98CD-4FA3-AC6C-344EA679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02B9B-48F9-466C-AA17-392685F3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FA35A-4A1D-4536-BA16-48AF5BD8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Verifier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C2ADA9-659C-4617-BC54-2D171F76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对抗验证</a:t>
            </a:r>
          </a:p>
          <a:p xmlns:a="http://schemas.openxmlformats.org/drawingml/2006/main">
            <a:pPr algn="ctr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竞赛评分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D44C31-A383-4F4A-A262-732307B4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E1FA04-33A1-4A42-A04B-A3166275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DB84AD-94DC-41B5-B046-A9883CFC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Auditor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4E7578-C80C-45C5-8CB1-FE5D9818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风险门禁</a:t>
            </a:r>
          </a:p>
          <a:p xmlns:a="http://schemas.openxmlformats.org/drawingml/2006/main">
            <a:pPr algn="ctr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证据护照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32F961-543D-4D4B-BC57-C0184796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2781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1F882D-BBC9-4EAF-990D-BF388413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291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共享状态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51D9C6-75DF-49AD-94D3-11797C03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Incident State：根因假设、实验结果、补丁候选、审批状态统一流转。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11126B-F434-48C3-9724-993EE9EC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2781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4D1816-45B3-4801-ACE5-D0557136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291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冲突处理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0507FF-81AC-4D54-8659-9B6F9405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01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Hypothesis 与 Universe 通过反事实实验裁决，而不是少数服从多数。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66DADB-94B3-41DD-A9DC-1CE0FC20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57650"/>
            <a:ext cx="2781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C6799C-ADC1-4DD6-B729-EDC79C04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安全边界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52E1E4-9685-4219-BE37-C242D0B9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01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L0/L1 自动执行；L2 策略检查；L3 生产发布必须人工审批。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CE66DE-2185-4AA6-8F7F-92AF3F24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初赛方案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78100A-72B4-4AB1-B888-93E3C2D1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483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A6C68-A8E7-4B83-A962-7BE1882A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56205-4B6A-4D4A-B00C-A3080223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B8A6"/>
                </a:solidFill>
              </a:defRPr>
            </a:pPr>
            <a:r>
              <a:rPr sz="2100" b="1">
                <a:solidFill>
                  <a:srgbClr val="14B8A6"/>
                </a:solidFill>
              </a:rPr>
              <a:t>第四章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D042B-FFA3-4127-A5F7-17AF375C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Skill 工程体系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75583-44CC-498F-AE05-8ABE0EA9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7E8"/>
                </a:solidFill>
              </a:defRPr>
            </a:pPr>
            <a:r>
              <a:rPr sz="1500" b="0">
                <a:solidFill>
                  <a:srgbClr val="AFC7E8"/>
                </a:solidFill>
              </a:rPr>
              <a:t>对应官方 PPT 框架与评分维度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AB388-EAC4-4ED1-8DA8-3097788C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00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20AE0-4968-4A51-89A3-960A937C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Skill 工程体系与生态复用 25%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FEF93-2460-4CB1-9632-C34D8E39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AsoulAI · A-CFX · 官方模板对齐版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E01D7-7639-4C3A-A368-8FE8EAF0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94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57229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A41772-A10F-45D8-A53B-155C5FD9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Skill 工程体系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88AD7-A3DA-4B6F-A9F2-F224AACB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9 个 Skill 覆盖证据、因果、验证、门禁、报告和资产沉淀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98A44-E822-4990-8D67-2B98A0C4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每个 Skill 都有输入输出、失败处理、可复用边界和生命周期。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33599-8209-4F20-988E-066B83A3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CE5F1-B31A-4D33-93CC-8376BF27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EvidenceFusion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26759-81C2-4F4B-89E4-AF84C07B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多源证据标准化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D3E7A-4D92-434E-B9A1-59E257A8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954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55680-843F-48DB-A7DA-FBE225EB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478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B8A6"/>
                </a:solidFill>
              </a:defRPr>
            </a:pPr>
            <a:r>
              <a:rPr sz="1425" b="1">
                <a:solidFill>
                  <a:srgbClr val="14B8A6"/>
                </a:solidFill>
              </a:rPr>
              <a:t>ChangeTimeline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FE4B4-31EE-4C18-8C33-51B11BA3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变更时间线重建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A0406-01C0-40D9-A809-5D2C5B4B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954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177B3-B41C-4D27-BD9E-BCA287D2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CounterfactualReplay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3EA37-BD3E-4C80-9D68-9F694CC2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反事实实验回放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9BD8C-F6C5-4DCA-A047-B20D08FD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0F967-0D72-4BFF-8848-C918858B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FaultGenome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66D0B-2112-4FFB-B03E-8C85F3AB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故障基因变体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F85A7-7494-46BD-B803-593CC9F6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03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D7645-498F-4FDF-ABC0-8DDC646D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527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B8A6"/>
                </a:solidFill>
              </a:defRPr>
            </a:pPr>
            <a:r>
              <a:rPr sz="1425" b="1">
                <a:solidFill>
                  <a:srgbClr val="14B8A6"/>
                </a:solidFill>
              </a:rPr>
              <a:t>PatchTournament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578A8-6A73-42A8-9E15-8549A5F6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575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补丁竞赛评分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BC87B-7177-4D8F-BAF3-5D717ABE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003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4F3C5-02A9-4EB0-BC90-2F4BF368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RiskGate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B933A0-4008-4C24-8D6A-EE702E3F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575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风险门禁审批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A64011-8D78-4D61-A553-9E2F2F80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A6C7D0-762B-4788-8E4D-AD8F169B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EvidencePassport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06634D-2057-4F50-AAC2-5C337AFB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证据护照声明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06B367-9967-4E63-AFD8-9D219006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052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24A285-AB67-415F-8D8F-F42D372A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B8A6"/>
                </a:solidFill>
              </a:defRPr>
            </a:pPr>
            <a:r>
              <a:rPr sz="1425" b="1">
                <a:solidFill>
                  <a:srgbClr val="14B8A6"/>
                </a:solidFill>
              </a:rPr>
              <a:t>ProofReport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CF96D6-1F0B-4A25-B064-BE030ED1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624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可审计报告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594872-2FCA-4720-B37C-6260B2AB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A2CBB3-4237-4BB7-8336-B3CBD7AA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576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SkillForge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D68A70-AD09-4A0B-A3FD-EDA6D8A5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复用 Skill 候选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425F8E-A654-48A9-A0F1-EE40A782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979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复用路径：事故处理完成后，SkillForge 只生成候选；进入复用前仍需要评审、回放评测、版本管理和适配器声明。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A00853-0293-49DA-829E-64DC2480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初赛方案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121243-7B3A-4565-9368-2B706A27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479431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A46C1-937A-4A48-97D6-73B1C855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A162E-D300-4818-B041-EC02C6DE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B8A6"/>
                </a:solidFill>
              </a:defRPr>
            </a:pPr>
            <a:r>
              <a:rPr sz="2100" b="1">
                <a:solidFill>
                  <a:srgbClr val="14B8A6"/>
                </a:solidFill>
              </a:rPr>
              <a:t>第五章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2F97D-C1F9-4355-85B6-C37D993D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工程落地、运行验证与安全可审计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AD024-2F77-41F6-B103-D00EB101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7E8"/>
                </a:solidFill>
              </a:defRPr>
            </a:pPr>
            <a:r>
              <a:rPr sz="1500" b="0">
                <a:solidFill>
                  <a:srgbClr val="AFC7E8"/>
                </a:solidFill>
              </a:rPr>
              <a:t>对应官方 PPT 框架与评分维度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6FDD4-00EA-44C0-A283-875D88A8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00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F6341-2712-4C0B-BAF3-5E440BF0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工程落地与安全可审计 20%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4725C-D44C-4BBA-A9C3-6867931B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AsoulAI · A-CFX · 官方模板对齐版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05F19-33D9-4131-B6FD-62766501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94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887948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3A64E-3859-42DA-BD3B-86BB07CE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工程验证与安全审计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A9548-23AA-4708-8679-B1D3AC10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初赛已跑通可验证闭环，关键输出可以被评委直接打开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6553F-9E6A-448A-A83C-BACDB983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Demo 是确定性执行内核，复赛接入真实 Git、CI、日志、配置中心和工单系统。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2DB25-A175-4B54-B33A-C45F3287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1EB2F-1B90-43E3-932A-035BEA11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可运行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0FB0E-B551-4579-B7F6-69252375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python demo.py --approve --output evidence</a:t>
            </a:r>
          </a:p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自动生成 proof-bundle、trace 和报告。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5190C-27F3-439B-A7EE-B5E48D31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19F9C-61A2-4081-B533-1743F555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可视化驾驶舱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22F0A-8D71-470E-96FF-F4BB730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Repair Cockpit 展示时间线、平行宇宙、故障基因、补丁竞赛和证据护照。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9EEB9-3540-4BE7-86AE-C548ABD0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74A66-2262-4C25-86C2-C7D76817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可审计证据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2342A-44BA-4040-9822-F57B7B4E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15 个 Trace Span 覆盖 Agent/Skill 调用、实验结果、风险门禁和报告生成。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0EB7F-C661-486A-BA85-42178773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E8B7E-82F4-4AFA-86BF-581F7974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安全门禁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255F1-333B-4E77-BFD9-56855BA4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中高风险补丁必须人工确认；每个补丁带回滚策略和缺口声明。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C0A35-0238-48DB-825E-24B8586D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FAE8B-6825-4CF1-85B1-01D26F04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测试覆盖根因证明、故障变体、补丁选择、证据护照、Skill 沉淀和人工审批门禁。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398F4-9428-4BF9-A56B-A7DBCA0A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BDAFA-661B-42EB-B4BF-C9965804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证据链避免暴露密钥或原始敏感数据；报告只保留可审计摘要和结构化声明。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BAF8D-9BE4-4CC8-9B68-EC9110AA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47387-283F-421F-89D1-983E26A6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Mock 边界清楚：初赛证明方法闭环，复赛再接入真实系统适配器。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7E1EA-ABAE-485F-A9D1-B47FCA43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初赛方案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8E55C-C7CD-418A-813C-90AA0B0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123450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21E9E-5D25-4F50-9E8D-F4926F9C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08B93-0C50-4043-B110-D04C29AD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B8A6"/>
                </a:solidFill>
              </a:defRPr>
            </a:pPr>
            <a:r>
              <a:rPr sz="2100" b="1">
                <a:solidFill>
                  <a:srgbClr val="14B8A6"/>
                </a:solidFill>
              </a:rPr>
              <a:t>第六章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A9392-D327-4DDE-9C1C-45065884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开放 / 开源计划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3B46A-CF36-4692-B4D5-718F9C39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7E8"/>
                </a:solidFill>
              </a:defRPr>
            </a:pPr>
            <a:r>
              <a:rPr sz="1500" b="0">
                <a:solidFill>
                  <a:srgbClr val="AFC7E8"/>
                </a:solidFill>
              </a:rPr>
              <a:t>对应官方 PPT 框架与评分维度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CE95B-0A09-43AC-9A8B-34B7AE69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00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0D13B-C341-42F7-A5C4-93517251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开放 / 开源贡献 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16A1F-CC9B-4436-8216-5460446C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AsoulAI · A-CFX · 官方模板对齐版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5E974-BB4F-41D2-BA4D-1D326651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94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948721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498559-CDA6-4343-AF39-3C429121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开源开放计划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36364-832D-4913-B2A2-49229CBF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统一使用 AsoulAI A-CFX，避免与泛 Chronos 项目混淆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5A2CC-01D7-4B89-B41A-28F206E4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精确名称使用 AsoulAI ChronosFix / A-CFX；核心差异是故障基因、证据护照和质量资产飞轮。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866D5-DC47-4B51-AE2E-DB241FC3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04296-68D0-481B-9985-4B277404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开源内容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2EB36-59F2-458F-8773-CFB84328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核心代码、Skill 规格、AgentTeams 草案、Demo 样例、证据输出和评测脚本。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3A94C-4FFD-424C-88DE-67849D10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9070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930CE-1745-473B-87D5-B2E30778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621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开放接口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D6E01-6FBA-4ACB-A5AC-C88983DF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431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复赛补齐 Git、CI、日志、Trace、配置中心、工单系统 MCP / Adapter 契约。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5A47F-F998-41D0-9F15-91D199DA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EBF84-BCAC-4351-A4BA-E1B1FB5F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原创边界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00B52-62A8-4205-AEB6-35CCF28E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统一使用 AsoulAI ChronosFix / A-CFX；核心表达锁定质量资产闭环。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880F9-E26E-4BFB-A361-420DB856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3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3B2DA-809B-40BD-AE18-54C90D37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338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相邻开源方向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9B9CA-11E7-4BEB-96EE-5C21F809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3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C68D1-8AF8-43DC-8A27-4C3D28DE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常见定位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487AD-C7CC-4A09-AAB2-AE12A531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195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3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31BA2-750B-43A3-925C-8BF140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338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A-CFX 差异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C7297-320A-47B4-B111-4E685A43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1BDF0-2429-42A2-938D-12925E66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Chronos / debugging-first 类项目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952F3-FB75-418F-BC61-44F0DECE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767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ED93F-87AB-4EA7-A954-F51EF2C5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910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模型或调试助手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ABE24-241B-47C5-98CE-E33D0A20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67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D4954-4C88-411A-BC2F-E20E03C5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多 Agent 事故实验闭环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64A04B-3C2F-4012-82C4-B38010FA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C68AF-A7DC-4FF4-AEAF-D97C2BDE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482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自动补丁工具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D7E4D6-966D-415A-A551-EA74981B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339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9045FE-7DA2-412D-BEF0-9B3DA5DC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生成修复建议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3E951-5C2B-45AB-8D61-60D29335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339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1D7D40-3FB4-4103-9C91-DF829484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482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补丁必须携带证据护照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3440A6-55FA-45C7-BE3B-12FEDC9D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911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C86A94-0CBC-476A-A293-FA6394C9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054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AIOps 排障系统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EDB9C7-9866-4324-BFB5-9B623B7E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911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A75813-15A8-4DB7-992B-EB9AB7C5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054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运维故障自愈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12686D-89BB-4F73-883A-4B4ACF74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911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FC5696-096C-4E31-83A3-F70E6CA1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054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面向软件研发全流程协同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E94CCF-FCBB-4029-BF4D-8408C447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初赛方案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E358A3-0D1D-4450-9D9A-BE6D5976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921325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241D4-546C-4A83-91ED-0719E054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B12D5-A9E6-4F5B-80C2-223872A3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B8A6"/>
                </a:solidFill>
              </a:defRPr>
            </a:pPr>
            <a:r>
              <a:rPr sz="2100" b="1">
                <a:solidFill>
                  <a:srgbClr val="14B8A6"/>
                </a:solidFill>
              </a:rPr>
              <a:t>第七章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A787D-A2D5-4F11-A34D-ABB7E065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落地计划与进展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CC4D3-6799-4BD1-9DD2-466E2296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7E8"/>
                </a:solidFill>
              </a:defRPr>
            </a:pPr>
            <a:r>
              <a:rPr sz="1500" b="0">
                <a:solidFill>
                  <a:srgbClr val="AFC7E8"/>
                </a:solidFill>
              </a:rPr>
              <a:t>对应官方 PPT 框架与评分维度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1FAFE-5A78-4FF4-83DC-E5FEAE45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00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44C6C-DAAF-4A95-9D6D-75E25854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当前进展、整体可行性与风险控制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4C977-771E-432A-BF78-09B8BE79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AsoulAI · A-CFX · 官方模板对齐版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AEF45-DE1A-425F-80AA-FF2C8976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94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669075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EDD836-A520-45DA-B3BD-B7B41563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落地计划与进展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50880-7681-490F-BDA5-609886AC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初赛完成最小可验证闭环；复赛把 A-CFX 接到真实研发工具链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5B148-5D1F-4537-A3F9-FA98D6B1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路线不是重写概念，而是把已验证的闭环替换为真实适配器。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087A0-6162-4BAB-A330-AD81D886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2724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52100-DC21-426D-A8C6-4C4A9488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81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初赛已完成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B56DF-06A7-488A-B93B-5AA4D148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2305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本地 Demo</a:t>
            </a:r>
          </a:p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Repair Cockpit</a:t>
            </a:r>
          </a:p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官方模板版 PPT</a:t>
            </a:r>
          </a:p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公开仓库</a:t>
            </a:r>
          </a:p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测试与证据链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71EC2-5C2C-4783-A0E5-4EEC2089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956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895DD-04D1-4789-A395-90389E13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2724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774B9-E13E-4B0F-B11B-8CC73359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81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复赛增强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5BB15-591E-4257-B951-8EB19153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2305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真实 Git / CI</a:t>
            </a:r>
          </a:p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日志与 Trace 适配器</a:t>
            </a:r>
          </a:p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历史事故 RAG</a:t>
            </a:r>
          </a:p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AgentTeams 部署</a:t>
            </a:r>
          </a:p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更多故障回放集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F4206-D920-4805-B876-4B264E48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956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593CA-F654-4F44-B67A-09CECA89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2724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5C9B9-B87D-4EC1-99DB-760BC6DE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81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决赛展示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14683-2A26-4FAD-A64E-7C3AA963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2305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现场故障回放</a:t>
            </a:r>
          </a:p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多团队 Skill 复用</a:t>
            </a:r>
          </a:p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审计证据导出</a:t>
            </a:r>
          </a:p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商业化插件样机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C8DDB-D6C4-4FC2-BC90-2672A75A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C9FCF-D105-4171-95E6-0E8A885D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863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主要风险：真实工具链权限与数据脱敏；控制方式：只读优先、审批门禁、最小权限 MCP、脱敏 Trace。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92F55-7BCA-46A5-9F16-5A84BD14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0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6348B-6075-4A58-8CB0-82DEDF7E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054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商业落地：优先接入 DevOps / AIOps 平台，作为“带证据的自动修复”增值模块。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E59EB-0099-4A81-8133-169352BB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初赛方案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D46D0-0FF6-44D1-8C27-008A28AB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857494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2536C-C70F-4533-8105-D59474E9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2AB59-D094-47D6-9E8E-10FFB98D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B8A6"/>
                </a:solidFill>
              </a:defRPr>
            </a:pPr>
            <a:r>
              <a:rPr sz="2100" b="1">
                <a:solidFill>
                  <a:srgbClr val="14B8A6"/>
                </a:solidFill>
              </a:rPr>
              <a:t>第八章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7E04F-7E9C-40E4-BCB5-C2050A1B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团队介绍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CE408-9E8C-4A4C-A485-296F5C49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7E8"/>
                </a:solidFill>
              </a:defRPr>
            </a:pPr>
            <a:r>
              <a:rPr sz="1500" b="0">
                <a:solidFill>
                  <a:srgbClr val="AFC7E8"/>
                </a:solidFill>
              </a:rPr>
              <a:t>对应官方 PPT 框架与评分维度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2B59D-852A-4456-962E-A3D2AE0D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00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F0156-1913-4475-AC5C-3F94C513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团队基本情况、分工与提交入口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7CB9A-D7BF-4062-895E-2D0DB3B8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AsoulAI · A-CFX · 官方模板对齐版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D4638-7AB7-403F-844F-6CF53819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94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422763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1B84F2-61C8-4C1A-858D-D03B1760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团队与提交物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30797-E4E0-4BCF-AE8C-2A49EEF5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AsoulAI 交付的是完整方案包，不只是一个概念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571A1-8249-4B12-B656-054A23C7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评委可以从 GitHub、在线 Demo、PPT、简介和 evidence 证据目录分别进入。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00A48-5771-4B87-BAB4-57060752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190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D5316-3E6D-493A-9BA4-5986FAAF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队伍名称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F4A4D-89EA-4F03-A553-E88ED9C4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AsoulAI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6F9CD-3F75-4A48-98C4-6CFF756A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90700"/>
            <a:ext cx="31432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70F44-1FC8-4921-BF41-B36DC50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作品名称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75DB2-57C8-4BC6-9EA9-89893175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4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AsoulAI ChronosFix：软件故障时间机器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3E6CE-B52A-4ABB-A162-6C784E14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90700"/>
            <a:ext cx="4000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B6A29-7CA9-4C6A-8590-51098F7A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62150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E9A99-4019-492B-A6A4-04C4A06E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43150"/>
            <a:ext cx="358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https://asoul-official.github.io/asoulai-chronosfix/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5ABEC-DB60-4EDA-91BB-8711BECF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4267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5FB3B-B73D-4B9E-A934-28107962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代码仓库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FBA4B-BC6D-4381-9391-0D67A3E6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0045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github.com/ASOUL-Official/asoulai-chronosfix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D0971-E418-4BF6-95EB-535E1BAD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4267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FBEF8-87D5-47B2-9003-AC3580B2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00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97316"/>
                </a:solidFill>
              </a:defRPr>
            </a:pPr>
            <a:r>
              <a:rPr sz="1275" b="1">
                <a:solidFill>
                  <a:srgbClr val="F97316"/>
                </a:solidFill>
              </a:rPr>
              <a:t>方案材料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32FC2-ED46-42EF-A00B-23BDCD80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0045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submission/ChronosFix_初赛方案.pptx + work-intro-500.txt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FA537-CBBC-4CAA-9302-959AC903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4267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081B4-B75C-4191-A244-244FD57A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196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可验证证据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D0C899-9AE8-4840-83B5-33BA6BA6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196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evidence/proof-bundle.json + proof-report.md + trace.jsonl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EFBFA-4777-4E18-A0D8-AB3DB779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48150"/>
            <a:ext cx="4267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91FCA4-8DE3-4AE0-8B45-3669A6A8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196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97316"/>
                </a:solidFill>
              </a:defRPr>
            </a:pPr>
            <a:r>
              <a:rPr sz="1275" b="1">
                <a:solidFill>
                  <a:srgbClr val="F97316"/>
                </a:solidFill>
              </a:rPr>
              <a:t>核心结论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23ACC-B924-4EA5-B0CE-9E5E37D9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196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根因可证明，补丁可验证，发布可审计，经验可复用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A51BE4-1766-48C0-AA24-E0D1CFCB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67350"/>
            <a:ext cx="967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A-CFX 的目标：让软件修复从经验猜测升级为可回放、可审计、可复用、可商业化的研发质量资产闭环。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B7921B-2589-4CE8-80A0-158C15D5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初赛方案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8F877A-34C5-41E1-90B9-4E681060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66514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2026-08-15T09:55:45.9220000Z</dcterms:created>
  <dcterms:modified xsi:type="dcterms:W3CDTF">2026-08-15T09:55:45.9220000Z</dcterms:modified>
</coreProperties>
</file>