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776d59f5c94479c" /><Relationship Type="http://schemas.openxmlformats.org/officeDocument/2006/relationships/extended-properties" Target="/docProps/app.xml" Id="R805e37bd7e6c4104" /><Relationship Type="http://schemas.openxmlformats.org/officeDocument/2006/relationships/officeDocument" Target="/ppt/presentation.xml" Id="R2b05b39efa5a46d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60c99f11b749ec"/>
  </p:sldMasterIdLst>
  <p:notesMasterIdLst>
    <p:notesMasterId xmlns:r="http://schemas.openxmlformats.org/officeDocument/2006/relationships" r:id="Rd08eac36097b4a7e"/>
  </p:notesMasterIdLst>
  <p:sldIdLst>
    <p:sldId xmlns:r="http://schemas.openxmlformats.org/officeDocument/2006/relationships" id="256" r:id="R819bcb6f78854bf5"/>
    <p:sldId xmlns:r="http://schemas.openxmlformats.org/officeDocument/2006/relationships" id="257" r:id="R80a93fb60c4c413c"/>
    <p:sldId xmlns:r="http://schemas.openxmlformats.org/officeDocument/2006/relationships" id="258" r:id="R4a30d6407f3c40f0"/>
    <p:sldId xmlns:r="http://schemas.openxmlformats.org/officeDocument/2006/relationships" id="259" r:id="R68dde4f980b04b37"/>
    <p:sldId xmlns:r="http://schemas.openxmlformats.org/officeDocument/2006/relationships" id="260" r:id="R458d016aec394dfa"/>
    <p:sldId xmlns:r="http://schemas.openxmlformats.org/officeDocument/2006/relationships" id="261" r:id="R142b988fbdea41ab"/>
    <p:sldId xmlns:r="http://schemas.openxmlformats.org/officeDocument/2006/relationships" id="262" r:id="Red261158872540ff"/>
    <p:sldId xmlns:r="http://schemas.openxmlformats.org/officeDocument/2006/relationships" id="263" r:id="R6fe229fdcce245d7"/>
    <p:sldId xmlns:r="http://schemas.openxmlformats.org/officeDocument/2006/relationships" id="264" r:id="Ra6ab0c72193b46c7"/>
    <p:sldId xmlns:r="http://schemas.openxmlformats.org/officeDocument/2006/relationships" id="265" r:id="R3ea7e9edbd224f66"/>
    <p:sldId xmlns:r="http://schemas.openxmlformats.org/officeDocument/2006/relationships" id="266" r:id="Rd9265183baab405e"/>
    <p:sldId xmlns:r="http://schemas.openxmlformats.org/officeDocument/2006/relationships" id="267" r:id="R956891da53514a16"/>
    <p:sldId xmlns:r="http://schemas.openxmlformats.org/officeDocument/2006/relationships" id="268" r:id="Rc7dfeb1bb81d4d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73ead707d940b1" /><Relationship Type="http://schemas.openxmlformats.org/officeDocument/2006/relationships/slideMaster" Target="/ppt/slideMasters/slideMaster1.xml" Id="Rd660c99f11b749ec" /><Relationship Type="http://schemas.openxmlformats.org/officeDocument/2006/relationships/notesMaster" Target="/ppt/notesMasters/notesMaster1.xml" Id="Rd08eac36097b4a7e" /><Relationship Type="http://schemas.openxmlformats.org/officeDocument/2006/relationships/presProps" Target="/ppt/presProps.xml" Id="Re679b9529be64f89" /><Relationship Type="http://schemas.openxmlformats.org/officeDocument/2006/relationships/tableStyles" Target="/ppt/tableStyles.xml" Id="R55256560d9ff43c8" /><Relationship Type="http://schemas.openxmlformats.org/officeDocument/2006/relationships/slide" Target="/ppt/slides/slide1.xml" Id="R819bcb6f78854bf5" /><Relationship Type="http://schemas.openxmlformats.org/officeDocument/2006/relationships/slide" Target="/ppt/slides/slide2.xml" Id="R80a93fb60c4c413c" /><Relationship Type="http://schemas.openxmlformats.org/officeDocument/2006/relationships/slide" Target="/ppt/slides/slide3.xml" Id="R4a30d6407f3c40f0" /><Relationship Type="http://schemas.openxmlformats.org/officeDocument/2006/relationships/slide" Target="/ppt/slides/slide4.xml" Id="R68dde4f980b04b37" /><Relationship Type="http://schemas.openxmlformats.org/officeDocument/2006/relationships/slide" Target="/ppt/slides/slide5.xml" Id="R458d016aec394dfa" /><Relationship Type="http://schemas.openxmlformats.org/officeDocument/2006/relationships/slide" Target="/ppt/slides/slide6.xml" Id="R142b988fbdea41ab" /><Relationship Type="http://schemas.openxmlformats.org/officeDocument/2006/relationships/slide" Target="/ppt/slides/slide7.xml" Id="Red261158872540ff" /><Relationship Type="http://schemas.openxmlformats.org/officeDocument/2006/relationships/slide" Target="/ppt/slides/slide8.xml" Id="R6fe229fdcce245d7" /><Relationship Type="http://schemas.openxmlformats.org/officeDocument/2006/relationships/slide" Target="/ppt/slides/slide9.xml" Id="Ra6ab0c72193b46c7" /><Relationship Type="http://schemas.openxmlformats.org/officeDocument/2006/relationships/slide" Target="/ppt/slides/slide10.xml" Id="R3ea7e9edbd224f66" /><Relationship Type="http://schemas.openxmlformats.org/officeDocument/2006/relationships/slide" Target="/ppt/slides/slide11.xml" Id="Rd9265183baab405e" /><Relationship Type="http://schemas.openxmlformats.org/officeDocument/2006/relationships/slide" Target="/ppt/slides/slide12.xml" Id="R956891da53514a16" /><Relationship Type="http://schemas.openxmlformats.org/officeDocument/2006/relationships/slide" Target="/ppt/slides/slide13.xml" Id="Rc7dfeb1bb81d4d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9058a7968b4b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a2f6f49677a4edc" /><Relationship Type="http://schemas.openxmlformats.org/officeDocument/2006/relationships/notesMaster" Target="/ppt/notesMasters/notesMaster1.xml" Id="Re68a5eb12b4c4b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16d1e0d74a41cd" /><Relationship Type="http://schemas.openxmlformats.org/officeDocument/2006/relationships/notesMaster" Target="/ppt/notesMasters/notesMaster1.xml" Id="R31fb7e067c43488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fab7e746d14b93" /><Relationship Type="http://schemas.openxmlformats.org/officeDocument/2006/relationships/notesMaster" Target="/ppt/notesMasters/notesMaster1.xml" Id="Rfdd1a6ce21444d6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f5136733c145d5" /><Relationship Type="http://schemas.openxmlformats.org/officeDocument/2006/relationships/notesMaster" Target="/ppt/notesMasters/notesMaster1.xml" Id="R470f0d474cec4c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53b0b21a994fd9" /><Relationship Type="http://schemas.openxmlformats.org/officeDocument/2006/relationships/notesMaster" Target="/ppt/notesMasters/notesMaster1.xml" Id="Rc394fec8e2ef4c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6cb408672db45fd" /><Relationship Type="http://schemas.openxmlformats.org/officeDocument/2006/relationships/notesMaster" Target="/ppt/notesMasters/notesMaster1.xml" Id="R066f758b791b4f5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0ada3df06f4930" /><Relationship Type="http://schemas.openxmlformats.org/officeDocument/2006/relationships/notesMaster" Target="/ppt/notesMasters/notesMaster1.xml" Id="Rf2d16fded26f47a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d4f303a4b604886" /><Relationship Type="http://schemas.openxmlformats.org/officeDocument/2006/relationships/notesMaster" Target="/ppt/notesMasters/notesMaster1.xml" Id="R9c2154bb9f2e40b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1313c57cb74e22" /><Relationship Type="http://schemas.openxmlformats.org/officeDocument/2006/relationships/notesMaster" Target="/ppt/notesMasters/notesMaster1.xml" Id="Re389bbc1b1554da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251c8a91b3242cc" /><Relationship Type="http://schemas.openxmlformats.org/officeDocument/2006/relationships/notesMaster" Target="/ppt/notesMasters/notesMaster1.xml" Id="R678bd58a426b45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1c0bef43d5848fd" /><Relationship Type="http://schemas.openxmlformats.org/officeDocument/2006/relationships/notesMaster" Target="/ppt/notesMasters/notesMaster1.xml" Id="R7830a0a6cb064f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de0c893e62f4f0d" /><Relationship Type="http://schemas.openxmlformats.org/officeDocument/2006/relationships/notesMaster" Target="/ppt/notesMasters/notesMaster1.xml" Id="R6ab0150d7e75474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1b7762fb66484d" /><Relationship Type="http://schemas.openxmlformats.org/officeDocument/2006/relationships/notesMaster" Target="/ppt/notesMasters/notesMaster1.xml" Id="Rd5479438b00e479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submission/ppt-outline.md</a:t>
            </a:r>
          </a:p>
          <a:p xmlns:a="http://schemas.openxmlformats.org/drawingml/2006/main">
            <a:r>
              <a:t>submission/work-intro-500.txt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docs/agent-identity.md</a:t>
            </a:r>
          </a:p>
          <a:p xmlns:a="http://schemas.openxmlformats.org/drawingml/2006/main">
            <a:r>
              <a:t>agentteams/chronosfix-team.yaml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src/chronosfix/skills/fault_genome.py</a:t>
            </a:r>
          </a:p>
          <a:p xmlns:a="http://schemas.openxmlformats.org/drawingml/2006/main">
            <a:r>
              <a:t>evidence/proof-report.md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src/chronosfix/skills/evidence_passport.py</a:t>
            </a:r>
          </a:p>
          <a:p xmlns:a="http://schemas.openxmlformats.org/drawingml/2006/main">
            <a:r>
              <a:t>docs/safety-and-audit.md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src/chronosfix/skills/skill_forge.py</a:t>
            </a:r>
          </a:p>
          <a:p xmlns:a="http://schemas.openxmlformats.org/drawingml/2006/main">
            <a:r>
              <a:t>docs/skill-specs.md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docs/safety-and-audit.md</a:t>
            </a:r>
          </a:p>
          <a:p xmlns:a="http://schemas.openxmlformats.org/drawingml/2006/main">
            <a:r>
              <a:t>src/chronosfix/skills/risk_gate.py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docs/requirements-matrix.md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submission/work-intro-500.txt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3d1f3bffaf44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571f77917d4c69" /><Relationship Type="http://schemas.openxmlformats.org/officeDocument/2006/relationships/slideLayout" Target="/ppt/slideLayouts/slideLayout1.xml" Id="R15c5e0636af4468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c5e0636af4468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9128cb34574531" /><Relationship Type="http://schemas.openxmlformats.org/officeDocument/2006/relationships/notesSlide" Target="/ppt/notesSlides/notesSlide1.xml" Id="Rab6f8b6d291e40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cffa022e2b4450" /><Relationship Type="http://schemas.openxmlformats.org/officeDocument/2006/relationships/notesSlide" Target="/ppt/notesSlides/notesSlide2.xml" Id="Re550de4a9e7141d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d21f2900074d98" /><Relationship Type="http://schemas.openxmlformats.org/officeDocument/2006/relationships/notesSlide" Target="/ppt/notesSlides/notesSlide3.xml" Id="R1975531bec85460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8f0b667b5e4c59" /><Relationship Type="http://schemas.openxmlformats.org/officeDocument/2006/relationships/notesSlide" Target="/ppt/notesSlides/notesSlide4.xml" Id="Rcbed880fd7994a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c20e2349554faa" /><Relationship Type="http://schemas.openxmlformats.org/officeDocument/2006/relationships/notesSlide" Target="/ppt/notesSlides/notesSlide5.xml" Id="Rbd86cea0ff71413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4a76d1a1d64934" /><Relationship Type="http://schemas.openxmlformats.org/officeDocument/2006/relationships/notesSlide" Target="/ppt/notesSlides/notesSlide6.xml" Id="Rcc5568352bbf4d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ecae976da4596" /><Relationship Type="http://schemas.openxmlformats.org/officeDocument/2006/relationships/notesSlide" Target="/ppt/notesSlides/notesSlide7.xml" Id="R79d9a7c26b3f434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f6df0013540c6" /><Relationship Type="http://schemas.openxmlformats.org/officeDocument/2006/relationships/notesSlide" Target="/ppt/notesSlides/notesSlide8.xml" Id="R07c0d96714e548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1932027b3b4ee8" /><Relationship Type="http://schemas.openxmlformats.org/officeDocument/2006/relationships/notesSlide" Target="/ppt/notesSlides/notesSlide9.xml" Id="R4e7939c111b3433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c1d89767746e7" /><Relationship Type="http://schemas.openxmlformats.org/officeDocument/2006/relationships/notesSlide" Target="/ppt/notesSlides/notesSlide10.xml" Id="R99bd36a0faf34b8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c5c91c0bcc4713" /><Relationship Type="http://schemas.openxmlformats.org/officeDocument/2006/relationships/notesSlide" Target="/ppt/notesSlides/notesSlide11.xml" Id="Ra92d744fcf864b7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679966eaa45cd" /><Relationship Type="http://schemas.openxmlformats.org/officeDocument/2006/relationships/notesSlide" Target="/ppt/notesSlides/notesSlide12.xml" Id="Refd722b37b604e4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846559c074267" /><Relationship Type="http://schemas.openxmlformats.org/officeDocument/2006/relationships/notesSlide" Target="/ppt/notesSlides/notesSlide13.xml" Id="R9bf6e69bdc9948b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D058E4-83FB-46F4-ACC0-2A7BCBCD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AsoulAI · GOAI 新智基座 · Agent Infra · 方向三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822979-C072-4993-8A47-25D2CC226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647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</a:defRPr>
            </a:pPr>
            <a:r>
              <a:rPr sz="5100" b="1">
                <a:solidFill>
                  <a:srgbClr val="FFFFFF"/>
                </a:solidFill>
              </a:rPr>
              <a:t>ChronosFix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DC0E0-2A57-4624-8794-C4DC3AB9F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软件故障时间机器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5AD53-FD59-43FF-B845-B60290F0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让补丁带着因果证明、故障基因验证和证据护照进入发布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52DFAD-05B7-435D-84DA-A683E5824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FB5D1"/>
                </a:solidFill>
              </a:defRPr>
            </a:pPr>
            <a:r>
              <a:rPr sz="1200" b="0">
                <a:solidFill>
                  <a:srgbClr val="9FB5D1"/>
                </a:solidFill>
              </a:rPr>
              <a:t>队伍：AsoulAI · 软件研发全流程协同 · 初赛 V0.2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7D629F-46CB-4A9F-ACE9-831597E7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4287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4C9A54-DB01-4688-8C4C-0FD2812B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954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Issue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3D638B-9E73-4A2C-869A-CA7933937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1145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92FC9C-215A-4236-BF9F-822FC2B7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812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Git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453ED3-45E9-47EC-A164-110CEACF4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C76B7E-C683-4BFC-900E-75EC50FE2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670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Config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27F3E1-6AEC-42DA-865F-D79203FE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4861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ADC092-7E41-4629-95E9-CC45D550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5528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Trace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167803-85E2-4C4F-B0F2-6E33928E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71950"/>
            <a:ext cx="11811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0FE9B-FC99-4B20-A9FB-74CBFB49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38625"/>
            <a:ext cx="990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4B8A6"/>
                </a:solidFill>
              </a:defRPr>
            </a:pPr>
            <a:r>
              <a:rPr sz="1125" b="1">
                <a:solidFill>
                  <a:srgbClr val="14B8A6"/>
                </a:solidFill>
              </a:rPr>
              <a:t>Patch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C3770D-BB2F-4596-8F25-68A816D8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81350"/>
            <a:ext cx="1238250" cy="1238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2854F7-2A0B-440F-B99C-E8247465B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467100"/>
            <a:ext cx="666750" cy="666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6E3C4C-2AA9-47CC-A699-F860D00F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反事实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重放</a:t>
            </a:r>
          </a:p>
        </p:txBody>
      </p:sp>
    </p:spTree>
    <p:extLst>
      <p:ext uri="{BB962C8B-B14F-4D97-AF65-F5344CB8AC3E}">
        <p14:creationId xmlns:p14="http://schemas.microsoft.com/office/powerpoint/2010/main" val="20856857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135D1F-1E5C-4478-95B6-3AFBD3AF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场景价值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3580E4-A335-474E-822C-3357F9FB2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研发故障真正难的不是“看见异常”，而是证明哪次变化造成了异常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7F79C7-6F3A-42EC-8EC6-F757EBC46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EB7D4-8D74-4B4D-AC42-11463431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09750"/>
            <a:ext cx="893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一次线上故障往往同时伴随代码提交、依赖升级、配置调整、流量峰值和外部系统波动。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BE9B35-6224-4A2D-B487-1771E825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384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1370EC-BC93-44B3-943E-EF5DFBEC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43150"/>
            <a:ext cx="893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普通 AI 排障容易把时间接近的事件误判成根因，缺少可回放的因果证据。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2E13B0-FB1E-4733-9EB7-8086DC93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383BC5-B273-445A-94E7-5EED3A48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76550"/>
            <a:ext cx="8934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研发团队需要的不是一句猜测，而是根因证明、补丁验证、发布审计和经验复用。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A06C6B-9F80-4924-917E-5152110B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DC2626"/>
                </a:solidFill>
              </a:defRPr>
            </a:pPr>
            <a:r>
              <a:rPr sz="2550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0B5D5E-5E90-400D-914C-BA6262F5A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Demo 基线失败率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944CB3-61DA-49DA-B3B2-1BFB26E51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606.96ms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1DF08C-65FA-49C5-BD00-98CC21C44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Demo 基线 P99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17221F-3707-4B32-BAD7-3D1329BA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D5B553-18D7-4533-BDC8-BB0259DA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可疑根因假设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18F0D3-6D08-4371-97DF-4FF14A8E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243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C326D2-ED64-49DD-AAEE-348824FD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196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被证明主因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18B88F-869E-4063-A1C2-A1282A51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E4B32F-F08A-46EA-8F59-488A68FD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054691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F75915-9CBF-4FA7-8A1A-A9C30EA6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2BB7A4-CCF3-4ADA-BF07-1AD4C8B6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ChronosFix 把故障修复变成可回放、可验证、可审计的实验闭环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DADC5F-9D71-40CD-BA80-5242D1759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1CDBA-B463-4349-9CB5-0ACB69F4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871E1-5124-4399-AB49-14955C83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汇聚 Issue、日志、Trace、Git、依赖和配置变更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57ADC-77BF-421E-A51F-3512FF39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D4FE83-5F4F-4DC7-8CB0-339B40B7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2C4F35-BE5C-4378-AE18-B71C6568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时间重建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50E6AF-E75A-4997-BD49-CF1707FA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把故障前后的变化按因果候选排序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E1480B-5B41-42BF-8314-F7E0A7B8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7280FB-7470-4A89-AB0F-93BD7C8E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2DF1C5-979E-47FE-9A0B-23916B94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平行实验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93618B-1A74-4795-BA46-5071C55B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撤销可疑变化并重放事故，证明主因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EC27C0-F292-4E80-A244-90033B9B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A2AB93-481C-42F1-B030-E76B9720C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972917-099B-420A-9404-C69E69AA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EF0792-BA55-48A3-A7A8-5E6E089F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在故障基因族上比较多个修复方案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73974B-1468-4138-A614-D3E5B016D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71800"/>
            <a:ext cx="38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4675B5-3C84-4FAA-97C1-DE6DD519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076450"/>
            <a:ext cx="1714500" cy="1809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7C7D0E-3B1F-45A2-8D7A-20208F08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2479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证据发布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3D72B3-997E-4DDE-9FE5-9D3F2D957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05100"/>
            <a:ext cx="12573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补丁携带证据护照进入审批和复盘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5404BE-A9F8-4A17-AABB-8998F0D4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57750"/>
            <a:ext cx="933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关键变化：AI 不再直接下结论，而是组织一组 Agent 去做实验、竞争和审计。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3FF711-968D-400A-B08D-F2CDFDCB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BC4815-0BA0-43E0-82BE-A4CC6172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028126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B78EB8D-2C73-43BD-B224-9FAEFBBDE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多 Agent 协同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EABEDD-C1E3-4295-AE56-9B185747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7 个职能 Agent 覆盖从证据调查到发布审计的完整闭环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DFD83A-9854-41B7-8CBA-F1171BBD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0B122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D558F2-612D-4E26-B051-57D271F4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Commander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15651E-ABDA-42A2-A6EF-E1480D81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D7E3F5"/>
                </a:solidFill>
              </a:defRPr>
            </a:pPr>
            <a:r>
              <a:rPr sz="1200" b="0">
                <a:solidFill>
                  <a:srgbClr val="D7E3F5"/>
                </a:solidFill>
              </a:rPr>
              <a:t>任务拆解</a:t>
            </a:r>
          </a:p>
          <a:p xmlns:a="http://schemas.openxmlformats.org/drawingml/2006/main">
            <a:pPr algn="ctr">
              <a:defRPr sz="1200" b="0">
                <a:solidFill>
                  <a:srgbClr val="D7E3F5"/>
                </a:solidFill>
              </a:defRPr>
            </a:pPr>
            <a:r>
              <a:rPr sz="1200" b="0">
                <a:solidFill>
                  <a:srgbClr val="D7E3F5"/>
                </a:solidFill>
              </a:rPr>
              <a:t>状态编排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5411B-C722-4BF6-A0B7-0CC24965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C50AF4-A603-4326-96C1-B4B24E0F6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303CFC-140C-4867-9ED6-E940E040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2B9761-73B1-4542-9D8F-EBB63FE9B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证据融合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时间线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5F167-72DC-4321-8881-87185C24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6710AD-5CA9-4003-9800-7E9522EFB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0C0383-3604-4667-BA01-18B34C0F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F65DC5-BA8B-468D-865B-B74CA77F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根因假设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证伪契约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9904E0-34C0-4CEF-B503-A7DEC2F5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FB2C83-DB1E-46AE-BD97-FFDE759E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9A883B-B948-49AE-850A-D02E03B1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0FF8ED-F174-4C60-97BD-C460C7F1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平行版本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故障基因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B8E340-C0E4-44AE-8492-678AE496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6780E8-8FE2-440A-A308-5FB72E07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78DF66-5847-4498-A295-A0765CB7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C2D769-873D-49D2-A751-6FE8C7A7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候选补丁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回滚契约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89D4EE-01CA-497F-AD33-F2F0DB9D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2E8CDB-1A51-420E-B71D-9C19DF13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157FCE-2734-410E-AD0C-19FEC8285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Verifier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7346E0-3F72-4894-885C-3CC5534A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对抗验证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竞赛排名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3D417E-1FD8-478D-818B-26D9D610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8130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916EF3-E0F9-4C0A-A190-D1F7CDD1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095500"/>
            <a:ext cx="1257300" cy="131445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4B7AAF-F403-4003-818A-979CF774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324100"/>
            <a:ext cx="1104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Auditor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CD1F69-FA99-4891-91E8-5CB065A7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781300"/>
            <a:ext cx="990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风险门禁</a:t>
            </a:r>
          </a:p>
          <a:p xmlns:a="http://schemas.openxmlformats.org/drawingml/2006/main">
            <a:pPr algn="ctr">
              <a:defRPr sz="1200" b="0">
                <a:solidFill>
                  <a:srgbClr val="0F172A"/>
                </a:solidFill>
              </a:defRPr>
            </a:pPr>
            <a:r>
              <a:rPr sz="1200" b="0">
                <a:solidFill>
                  <a:srgbClr val="0F172A"/>
                </a:solidFill>
              </a:rPr>
              <a:t>证据护照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C579DA-57D8-42B4-8C9E-DF79F400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1338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97316"/>
                </a:solidFill>
              </a:defRPr>
            </a:pPr>
            <a:r>
              <a:rPr sz="1350" b="1">
                <a:solidFill>
                  <a:srgbClr val="F97316"/>
                </a:solidFill>
              </a:rPr>
              <a:t>输入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815078-B9CC-4201-BC9A-A1F18EA8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338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Issue / Git / 日志 / Trace / 配置 / 流量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722562-8044-4CF6-9FD7-78D8BD27E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339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</a:defRPr>
            </a:pPr>
            <a:r>
              <a:rPr sz="1350" b="1">
                <a:solidFill>
                  <a:srgbClr val="2563EB"/>
                </a:solidFill>
              </a:rPr>
              <a:t>诊断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5D9E88-D1CD-493D-8F1E-4982198A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3390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证据归并、假设竞争、反事实回放、因果分类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5F8DAB0-9570-4FEC-98F6-D97DEF9D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339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A34A"/>
                </a:solidFill>
              </a:defRPr>
            </a:pPr>
            <a:r>
              <a:rPr sz="1350" b="1">
                <a:solidFill>
                  <a:srgbClr val="16A34A"/>
                </a:solidFill>
              </a:rPr>
              <a:t>执行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730FDD-1F1F-4676-86F0-35EDD250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3395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补丁竞赛、风险分级、审批、回滚检查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377BE2-2576-4F90-B5E3-2109B5CC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33400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沉淀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D3EB9C-45B5-418D-9B1D-4575D24D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Trace、proof-bundle、proof-report、Skill 候选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FA9703-77CD-494D-9166-811D64DB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6BA91-A058-4364-863D-9B191A18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05127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4E2D4B-6CC1-4A45-9456-C49B9F2A0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BDC6A-0184-4EA1-994E-AA75B712A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故障时间机器用反事实实验把“相关性”变成“因果证据”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61303E-C109-44EB-A1F5-C56B5AB0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平行版本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7CB038-D9FD-45C6-961E-8A61D2D0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基线失败率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4E5638-A576-4BC0-BA04-2CF5F590B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反事实失败率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23BACD-F636-4D5D-B225-F29CF9FB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526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结论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828BA5-14CD-46A1-AAAB-3BD698024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09800"/>
            <a:ext cx="10096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2E612A-9AF3-44CB-9499-9596BD7E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撤销代码提交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5CD968-FB93-4F6F-85BF-92B46151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2626"/>
                </a:solidFill>
              </a:defRPr>
            </a:pPr>
            <a:r>
              <a:rPr sz="1650" b="0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2957E-5D91-40A5-9826-33295A6E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97316"/>
                </a:solidFill>
              </a:defRPr>
            </a:pPr>
            <a:r>
              <a:rPr sz="1650" b="0">
                <a:solidFill>
                  <a:srgbClr val="F97316"/>
                </a:solidFill>
              </a:rPr>
              <a:t>48.72%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DB5AA1-A47C-4AB3-B035-01641CCCB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003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26071"/>
                </a:solidFill>
              </a:defRPr>
            </a:pPr>
            <a:r>
              <a:rPr sz="1650" b="1">
                <a:solidFill>
                  <a:srgbClr val="526071"/>
                </a:solidFill>
              </a:rPr>
              <a:t>证伪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555E9F-FE99-4AD5-B84E-853AA24B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24200"/>
            <a:ext cx="10096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C75F9F-4071-4FDE-9710-8D9C1008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14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回退支付依赖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5BBF5-528E-4AD4-B1FE-42386B0E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147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2626"/>
                </a:solidFill>
              </a:defRPr>
            </a:pPr>
            <a:r>
              <a:rPr sz="1650" b="0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4BEDD4-D8F0-4BE6-863A-5675CBC1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147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97316"/>
                </a:solidFill>
              </a:defRPr>
            </a:pPr>
            <a:r>
              <a:rPr sz="1650" b="0">
                <a:solidFill>
                  <a:srgbClr val="F97316"/>
                </a:solidFill>
              </a:rPr>
              <a:t>33.33%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536509-2F72-4E0F-9176-A4335DEA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147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526071"/>
                </a:solidFill>
              </a:defRPr>
            </a:pPr>
            <a:r>
              <a:rPr sz="1650" b="1">
                <a:solidFill>
                  <a:srgbClr val="526071"/>
                </a:solidFill>
              </a:rPr>
              <a:t>放大因素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B1848C-0B81-4508-BC50-9BDB8B7FF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10096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086AB-34EA-4570-B1A9-697B880E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29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恢复连接池 24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888290-D83E-41DF-9DB6-198080305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29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C2626"/>
                </a:solidFill>
              </a:defRPr>
            </a:pPr>
            <a:r>
              <a:rPr sz="1650" b="0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896DF7-EE80-4CA6-9197-7471358D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29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A34A"/>
                </a:solidFill>
              </a:defRPr>
            </a:pPr>
            <a:r>
              <a:rPr sz="1650" b="0">
                <a:solidFill>
                  <a:srgbClr val="16A34A"/>
                </a:solidFill>
              </a:rPr>
              <a:t>0.00%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D8468C-2687-4400-870B-19D8F010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2291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主因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B1F6E9-1DBE-4710-A7BC-1E4BF5AE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结论：连接池缩容是主因，支付依赖升级是放大因素，代码变更被证伪。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4F103E-ABAE-4FA8-B5CA-66E16538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3B7BA7-46E7-40C7-8381-7143CD4B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2609813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96975B-0642-4390-A41C-31F73914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52463-E890-4EDA-B02E-EB64910E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缺陷基因实验室让补丁修“一类问题”，而不是只修一个样例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ADA41D-81BE-4125-BAB6-F7B77CD4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E5BCA-0157-46C7-BE7F-5256DFFB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原始复现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4022A2-1C7B-49CE-82A7-A2037A3B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nominal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D7F18D-FDBD-4CF3-B0EE-A050A27F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59EE4-B205-4B2B-A944-4443CDC6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高流量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9B87F8-D1B1-4CC6-8263-E6E22DE2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high-traffic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741A39-E80F-4393-9C63-48ED1383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FDF907-C2E1-4311-A5B0-C36B47FA7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下游变慢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166243-068D-48A5-B129-EA1AC11E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slow-downstream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C4CD86-FC71-495C-9C82-0FE68B9B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8669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03F977-A8E5-45DD-90B7-7A1E94A2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383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组合压力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412E52-82D5-4E7F-88DD-812BC1C2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4955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combined-stress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229F7-8EB8-4A5D-A440-D8086D67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EAEE5-A97C-4507-9D32-3C29B08D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容量临界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DE3044-654C-4A12-81CC-459652CC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pool-borderline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F8AB2D-826F-4BB7-86EF-0C02A90A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CBD2DD-1094-454C-BD71-84B58108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恢复尖峰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96F89A-BD41-4E46-BEED-56E59BAF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recovery-spike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177575-7950-4C17-AA14-8C3C7632E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8B74E5-86DF-4A27-9162-A9C625CC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下游抖动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80C012-C08E-46CC-A4BF-E3166BC4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downstream-jitter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1F9B9D-3F8D-4083-B76A-E754371A8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162300"/>
            <a:ext cx="20764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E97CA1-DCA4-4B26-9EE5-4C959B26F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333750"/>
            <a:ext cx="1695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配置漂移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3F6931-23A3-4536-A6E1-8A1D03D6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9095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silent-config-drift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915435-AA0E-4AD9-9D4E-FF7E8AB19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7680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</a:defRPr>
            </a:pPr>
            <a:r>
              <a:rPr sz="1875" b="1">
                <a:solidFill>
                  <a:srgbClr val="0F172A"/>
                </a:solidFill>
              </a:rPr>
              <a:t>补丁必须通过 8 个同源变体；再按失败率、风险和成本综合排名。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8469BB-1879-4D21-8685-FE8F37A9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4E625E4-227D-4D72-B750-FA72527EB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596721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A2DDBD-74C3-4F1E-B3EF-8C95361F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创新三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8CFFC5-572B-471C-A315-6A493710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证据护照让自动修复从“AI 建议”升级为“可发布材料”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94B2F6-4609-4571-AA77-1352AAC8D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9FD1A0-D12A-48D0-87C3-CBEB7B5E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981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需求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C7A26-EC2F-4D37-B5C5-A2B7709E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384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修复什么问题，不能违反哪些约束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938693-F727-46FD-AD3C-D651F10D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097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8FCFD8-556D-4E08-8D86-35BA934E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81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4B8A6"/>
                </a:solidFill>
              </a:defRPr>
            </a:pPr>
            <a:r>
              <a:rPr sz="1725" b="1">
                <a:solidFill>
                  <a:srgbClr val="14B8A6"/>
                </a:solidFill>
              </a:rPr>
              <a:t>因果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5BB5EA-9535-4207-B970-A3E93427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384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为什么它修的是主因，而不是伪相关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790E2-6490-4E7A-99A1-1DBF2513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097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669DB2-754F-4FCA-AAF8-339ABDA0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9812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7C999-83DE-44A5-AEFD-F5874B60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4384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在哪些故障变体上通过，最差表现如何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D09A04-A4B2-47B0-AF8E-996FB2E34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718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B0A91F-DB1A-496A-AFFC-F5B4DB7C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43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风险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C2810D-83E1-41FE-B59C-BDC5E9D55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00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风险、成本和审批状态是否可接受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8DFBF6-DA84-4846-A88C-8D9E4FEB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3718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61FAF-6EDA-462E-9E9D-2E4C8004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43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回滚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1CB68E-5586-418F-A3AD-A35EFF4BE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00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发布失败后如何恢复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A4C633-9662-431B-9A03-509D49FF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71850"/>
            <a:ext cx="2571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A9D90B-1FAA-4A7F-A1B9-FE19A825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5433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DC2626"/>
                </a:solidFill>
              </a:defRPr>
            </a:pPr>
            <a:r>
              <a:rPr sz="1725" b="1">
                <a:solidFill>
                  <a:srgbClr val="DC2626"/>
                </a:solidFill>
              </a:rPr>
              <a:t>缺口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108297-C0FB-441A-98D1-E5D5FF19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00500"/>
            <a:ext cx="2114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哪些场景仍需人工判断或补强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60E3CF-589E-4885-A57E-D871175F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当前 Demo 生成 12 条结构化证据声明；缺少关键声明时，补丁不得标记为可发布。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BD3788-AD2A-4B52-AE8E-5D5A24FF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0B991D-CA9F-4DA2-B4B1-CAB27FD4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6000486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605F57-25BC-4EB7-9BEB-AB60F781B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创新四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4384F-DAA6-4E25-8633-17515F5B6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Skill 自进化工坊把一次事故处理沉淀成下次可复用的能力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919EE3-A817-4454-9A0D-8CB07E5F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764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2B0177-E9FC-4FD5-A490-B48AA51F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2479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容量守卫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F52E04-BB61-46D3-8731-4C16360D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705100"/>
            <a:ext cx="2266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PoolCapacityGuard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容量建议与测试门禁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E89EFB-B8A0-4871-B13E-416942FC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FF4364-1F49-423B-95D9-CD85B29F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2479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反事实回放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2266CD-1C9A-4535-8764-ED0183A1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05100"/>
            <a:ext cx="2266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ConfigReplay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验证配置是否为主因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9FA73-128E-4BA9-883F-6C100220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76450"/>
            <a:ext cx="2724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72DCAB-BDD6-4DD8-B4DD-C3478B69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343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带证明补丁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5396F-8DC5-4982-BC31-4A9F9817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05100"/>
            <a:ext cx="22669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ProofPatch</a:t>
            </a:r>
          </a:p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生成证据护照与审计摘要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BCA047-860C-4941-8A4A-C7380D9E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6672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B93735-E1F6-43EF-8EEC-61D6F35CF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SkillForge 只生成候选，不自动上线；候选需要人工评审、回放评测和版本管理。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AB3228-F335-4864-9706-D4F35231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863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E499D-4050-4E92-B1CF-A509D75C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99110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这让事故复盘不再沉睡在文档里，而是变成团队下一次可调用的标准能力。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DB776-D1E4-4D51-811F-39BCB3858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0C7DF1-CBAC-4E95-A63F-4C9D566F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59001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542D25-B90A-44D7-8FA9-5E9AF7F6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运行场景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11FD7-680D-46D6-B828-C67325473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Demo 场景：订单接口在午间流量下出现高失败率与长尾延迟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DD079E-9A74-4637-967A-92CD1EFB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0A968-860C-4DF1-989C-91E3DD6A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09:40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0AB8CF-D052-48E5-8A04-BB6E61032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766567-64AB-446B-B0A9-D7B87FA9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代码提交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1E8C6C-3A6E-40E9-BAF3-C4F0AEC6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增加关联日志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C5C16-6E7F-4AC8-89A3-7BB280F0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4B0851-E487-47C5-B22B-DE3FE5E9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09:55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52885-D21F-4648-B66C-19BA28ED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18B8BD-F200-45C6-9116-AD39FC40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依赖升级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FC7B39-BB0A-41E3-99A5-21F07711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payment-client 2.0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7C9059-0802-4700-B43E-DE0F0A4D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8368F1-D167-42AA-B18C-32B419DC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10:10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DC7170-7A57-4BA6-AF43-099BE355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855F55-D96C-4BD0-A49E-C6B086042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配置变更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B956AB-0272-43CE-8958-482CC296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连接池 24 → 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EA99B7-6BD9-4F8B-89A9-E0F89B6B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A5930D-45C0-4B9D-92BA-C8C1BB0AD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F172A"/>
                </a:solidFill>
              </a:defRPr>
            </a:pPr>
            <a:r>
              <a:rPr sz="1350" b="1">
                <a:solidFill>
                  <a:srgbClr val="0F172A"/>
                </a:solidFill>
              </a:rPr>
              <a:t>10:15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8CFBB8-F83F-4DEC-B26E-B772E335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90850"/>
            <a:ext cx="895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271641-2C6B-49F1-8675-2B14DCB4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流量上涨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D8A3F1-CD2B-44DC-B57C-41B964A7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120 RPS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2227C1-0E69-4F9E-8FDE-B3B99CEF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71750"/>
            <a:ext cx="838200" cy="838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5BF691-619B-4AA5-B0D5-CC8F5C45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7813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10:16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7162A-1375-4FA9-B150-6F86617E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714750"/>
            <a:ext cx="121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告警触发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8B78A4-8423-4F50-A1B9-7C2C2167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57650"/>
            <a:ext cx="163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5xx 与 P99 升高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B3CD68-0DF1-4383-9EF9-8B65C86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同一窗口内有多种变化，正适合展示 ChronosFix 如何避免“时间近似即根因”的误判。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78F02A-E1F1-4705-B711-3DD96DB9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FF8DB9-75B8-4047-B955-57A21AF1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57371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8BB874-3174-44E6-A2A1-0EDD40C0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运行结果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D06D6C-B6FA-458D-BF90-D5BC3A27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补丁是在故障家族里竞赛筛出来的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8E5BB0-6BF3-443B-9441-797C2D8E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52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补丁综合评分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136B8-3781-424A-ABEA-477656F6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恢复连接池 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B3516-491F-4E14-86B7-7DD12D38F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431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23419-2C25-4FBB-8A89-446FCC49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43150"/>
            <a:ext cx="3419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1A27C-D7FE-4A89-995D-480833030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05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A34A"/>
                </a:solidFill>
              </a:defRPr>
            </a:pPr>
            <a:r>
              <a:rPr sz="1500" b="1">
                <a:solidFill>
                  <a:srgbClr val="16A34A"/>
                </a:solidFill>
              </a:rPr>
              <a:t>0.9195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C9D830-0847-4418-B2AE-AEAC0ABC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099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自适应下限保护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44BC0C-EA7E-4AA1-A3D5-E11523AB7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289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EBC96D-A24C-48F0-8C84-041C22AA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028950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B6A39-ED34-4ACA-B760-917C34DF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B8A6"/>
                </a:solidFill>
              </a:defRPr>
            </a:pPr>
            <a:r>
              <a:rPr sz="1500" b="1">
                <a:solidFill>
                  <a:srgbClr val="14B8A6"/>
                </a:solidFill>
              </a:rPr>
              <a:t>0.8450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FAB74B-10CB-46CA-B28E-389BF25B5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回退支付依赖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DB4C5C-A448-4BFB-A7E1-8C2A6A45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147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940383-4883-43F6-BB85-00C2809D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14750"/>
            <a:ext cx="22764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3CE799-245B-452D-AABE-F47C47582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766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97316"/>
                </a:solidFill>
              </a:defRPr>
            </a:pPr>
            <a:r>
              <a:rPr sz="1500" b="1">
                <a:solidFill>
                  <a:srgbClr val="F97316"/>
                </a:solidFill>
              </a:rPr>
              <a:t>0.6130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F7580-E2F1-4297-839B-87960132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15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回滚代码提交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956BA0-98DD-43AB-B719-AD206761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0055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ED5041-A4B1-4B9F-861C-E91711A7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400550"/>
            <a:ext cx="19907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60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926DFC-03CD-4324-A2BD-99ADE9A4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3624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526071"/>
                </a:solidFill>
              </a:defRPr>
            </a:pPr>
            <a:r>
              <a:rPr sz="1500" b="1">
                <a:solidFill>
                  <a:srgbClr val="526071"/>
                </a:solidFill>
              </a:rPr>
              <a:t>0.5359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A6661A-2880-4CCA-9399-B76FD7FA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812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7C3AED"/>
                </a:solidFill>
              </a:defRPr>
            </a:pPr>
            <a:r>
              <a:rPr sz="2550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9F9626-C939-408F-B538-0DA4C590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765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故障基因变体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65973B-298B-43B5-B733-23BDEFDE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812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69AAD7-48B6-4D3B-882E-2B8580772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765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补丁候选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6C2CE0-739E-4953-A6AE-D58CAC7B5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290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12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DE570A-0555-4BC0-8529-AF0BE4B1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243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证据声明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D1B4E9-4BF4-47BE-91AA-01F402B1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290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5F4705-0107-4C84-915A-FABBDA65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26071"/>
                </a:solidFill>
              </a:defRPr>
            </a:pPr>
            <a:r>
              <a:rPr sz="1200" b="0">
                <a:solidFill>
                  <a:srgbClr val="526071"/>
                </a:solidFill>
              </a:rPr>
              <a:t>Trace Span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04C2CE-57FE-4029-A951-95511F78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953000"/>
            <a:ext cx="381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选中补丁最差失败率 6.25%，仍满足健康阈值；中风险发布需要人工审批。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1DEB80-2BE8-4093-B23C-8B8DDD82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4FF85A-93F6-4D3D-ACA3-F0B97AE4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760830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3CDF4C-DFDF-40CF-81AD-49FB26903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安全与审计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BC364D-128B-438A-A81E-69D766C8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安全边界让自动化停在可审批、可回滚、可审计的位置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2AA751-A635-4E30-9B1B-39B887B0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C7AF1E-A118-46C9-9FC0-5FAD1AD4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L0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E12522-9504-4E3D-A347-FC49A61D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只读诊断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906EA8-FC4A-40C7-8DE6-45B5AB8F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自动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A210CD-3813-4F21-8FBC-28088437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A0875B-B47A-4E9A-B735-4315B1BD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L1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F536BB-F0D1-4327-B553-B74BC360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隔离重放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BA9DC7-6BD4-4BB3-8B97-9E0F5DA7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自动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C98075-53C7-46EF-9BDF-6F39318C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1D008D-3448-4B07-BD29-D3F86ABEB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L2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992C13-FC0A-4FE7-A4D5-83CD0613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测试环境变更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55BD9B-3409-459D-8F3C-B02B0235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策略检查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D81A97-AB2A-4BA1-8C1A-8D8BC13B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1619250" cy="18097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21288-3B6B-4AEE-A027-7171EF38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266950"/>
            <a:ext cx="781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97316"/>
                </a:solidFill>
              </a:defRPr>
            </a:pPr>
            <a:r>
              <a:rPr sz="2550" b="1">
                <a:solidFill>
                  <a:srgbClr val="F97316"/>
                </a:solidFill>
              </a:rPr>
              <a:t>L3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E58BE7-77D2-4DF4-AB23-2A2AB20D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956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</a:defRPr>
            </a:pPr>
            <a:r>
              <a:rPr sz="1500" b="1">
                <a:solidFill>
                  <a:srgbClr val="0F172A"/>
                </a:solidFill>
              </a:rPr>
              <a:t>生产发布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8704BF-7362-43CB-A91F-BB3A13EA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337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26071"/>
                </a:solidFill>
              </a:defRPr>
            </a:pPr>
            <a:r>
              <a:rPr sz="1350" b="0">
                <a:solidFill>
                  <a:srgbClr val="526071"/>
                </a:solidFill>
              </a:rPr>
              <a:t>人工审批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AABF1D-E664-4C90-8E95-81CC561D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5720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8146D7-FA09-4B6C-BC55-4BC2FCC0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47675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当前选中补丁风险分 0.30，被 RiskGate 判定为 medium，必须人类确认。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1F8835-CED6-4D74-A6BD-692477BB8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91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62104E-3BB2-4E2C-BA94-0201A446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89585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每个补丁都附带回滚策略；配置类修复保留旧值和变更单号。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8F8EEE-814B-4C93-8AA1-0D4A9556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10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03A74C-90D0-44AC-B601-5AEBEF07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314950"/>
            <a:ext cx="8839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Trace、proof-bundle、proof-report 和证据护照共同构成审计链。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B5A7F7-D7B7-4A02-9D8E-5D863803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86E2E4-41CB-4CC5-B268-7307D9D1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073208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D9398D-DB6E-4ECC-B4E1-459D2161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97316"/>
                </a:solidFill>
              </a:defRPr>
            </a:pPr>
            <a:r>
              <a:rPr sz="1200" b="1">
                <a:solidFill>
                  <a:srgbClr val="F97316"/>
                </a:solidFill>
              </a:rPr>
              <a:t>工程落地与开源计划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9C3F4C-3D72-4360-983E-D67DC7AC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F172A"/>
                </a:solidFill>
              </a:defRPr>
            </a:pPr>
            <a:r>
              <a:rPr sz="2850" b="1">
                <a:solidFill>
                  <a:srgbClr val="0F172A"/>
                </a:solidFill>
              </a:rPr>
              <a:t>初赛已跑通可验证闭环，复赛接入真实研发工具链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72E99F-9FB7-41B2-BA74-68AB1F477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09750"/>
            <a:ext cx="2571750" cy="2952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7D7CCB-4F38-480E-BB98-B3D3940F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14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A34A"/>
                </a:solidFill>
              </a:defRPr>
            </a:pPr>
            <a:r>
              <a:rPr sz="1875" b="1">
                <a:solidFill>
                  <a:srgbClr val="16A34A"/>
                </a:solidFill>
              </a:rPr>
              <a:t>初赛 V0.2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A13D2-9C35-4BD1-8A0A-09FD0BA7D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724150"/>
            <a:ext cx="1809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本地故障样例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7 Agent 设计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9 Skill 实现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Repair Cockpit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Trace 与证明报告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1121DC-D0AB-4CBA-A8E2-FAE51E3F9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171950"/>
            <a:ext cx="1123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CC1B62-F9C1-473C-A8C4-83441EBA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386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A34A"/>
                </a:solidFill>
              </a:defRPr>
            </a:pPr>
            <a:r>
              <a:rPr sz="1125" b="1">
                <a:solidFill>
                  <a:srgbClr val="16A34A"/>
                </a:solidFill>
              </a:rPr>
              <a:t>已完成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89AA72-897B-44E4-A89C-D565AE9C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09750"/>
            <a:ext cx="2571750" cy="2952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1EFDC-77C9-41BA-8D36-EE7CFA8C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14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复赛 V0.5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9D1654-87F7-42B5-A912-6368BB91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724150"/>
            <a:ext cx="1809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真实 Git/CI 适配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AgentTeams 部署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历史事故 RAG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评测数据集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FF5E9A-3177-45BA-A119-662CAF25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171950"/>
            <a:ext cx="1123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0BC502-6E12-4955-9B85-ACA6F9AC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2386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</a:defRPr>
            </a:pPr>
            <a:r>
              <a:rPr sz="1125" b="1">
                <a:solidFill>
                  <a:srgbClr val="2563EB"/>
                </a:solidFill>
              </a:rPr>
              <a:t>可验证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553B9A-2930-4C2E-8D49-454DDB24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09750"/>
            <a:ext cx="2571750" cy="2952750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4E85C8-7036-4504-812A-AEC6992E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145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97316"/>
                </a:solidFill>
              </a:defRPr>
            </a:pPr>
            <a:r>
              <a:rPr sz="1875" b="1">
                <a:solidFill>
                  <a:srgbClr val="F97316"/>
                </a:solidFill>
              </a:rPr>
              <a:t>开源计划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F27BDD-7E78-45FC-8CB2-E14A62BFE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24150"/>
            <a:ext cx="1809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核心代码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Skill Schema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MCP 适配器模板</a:t>
            </a:r>
          </a:p>
          <a:p xmlns:a="http://schemas.openxmlformats.org/drawingml/2006/main">
            <a:pPr algn="ctr">
              <a:defRPr sz="1425" b="0">
                <a:solidFill>
                  <a:srgbClr val="0F172A"/>
                </a:solidFill>
              </a:defRPr>
            </a:pPr>
            <a:r>
              <a:rPr sz="1425" b="0">
                <a:solidFill>
                  <a:srgbClr val="0F172A"/>
                </a:solidFill>
              </a:rPr>
              <a:t>故障回放数据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97B037-D1DD-418D-9080-F8134BAC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71950"/>
            <a:ext cx="11239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88D8A2-1E0A-49F4-A551-92674569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3862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可复用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3C7864-AE6C-4F9F-A053-83F8EFCB2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62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AsoulAI · ChronosFix · GOAI Agent Infra 初赛方案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28B645-C646-4B80-8F2E-AD074B0F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62700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26071"/>
                </a:solidFill>
              </a:defRPr>
            </a:pPr>
            <a:r>
              <a:rPr sz="900" b="0">
                <a:solidFill>
                  <a:srgbClr val="526071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2155195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AA948E-C60E-45F7-9E53-08463BC6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8585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ChronosFix 的价值不是替代研发判断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D3C697-43E4-4418-AF24-E7CAF8CA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9334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4B8A6"/>
                </a:solidFill>
              </a:defRPr>
            </a:pPr>
            <a:r>
              <a:rPr sz="3150" b="1">
                <a:solidFill>
                  <a:srgbClr val="14B8A6"/>
                </a:solidFill>
              </a:rPr>
              <a:t>而是把判断所需的证据自动组织起来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07122A-6AFA-4747-93BC-B6CF97B9B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8E1C09-EA95-43C9-8145-4EBC2B9A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根因可证明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5F874-E402-4380-BE8B-8A507E2F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反事实实验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A0BBE2-E7E4-4169-937F-495824B4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E710AA-E0B2-4FBD-9485-82DFFCE4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97316"/>
                </a:solidFill>
              </a:defRPr>
            </a:pPr>
            <a:r>
              <a:rPr sz="1725" b="1">
                <a:solidFill>
                  <a:srgbClr val="F97316"/>
                </a:solidFill>
              </a:rPr>
              <a:t>补丁可验证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587BDE-CC74-430D-9A86-E92F60CF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缺陷基因竞赛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0D20B0-C833-4A7E-A01A-62925798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0247A3-7AF9-478F-A9EB-2776AA773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发布可审计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C1975D-0B51-461E-A071-87C6845E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证据护照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554287-7111-4183-930C-BA96258D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42900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8499E2-E266-41AB-9439-DA33AD841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004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经验可复用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AFAC8D-274F-4504-8547-E96377783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57650"/>
            <a:ext cx="1638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F172A"/>
                </a:solidFill>
              </a:defRPr>
            </a:pPr>
            <a:r>
              <a:rPr sz="1350" b="0">
                <a:solidFill>
                  <a:srgbClr val="0F172A"/>
                </a:solidFill>
              </a:rPr>
              <a:t>Skill 自进化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FD721C-A688-4B82-81E1-7B66667A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14950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D7E3F5"/>
                </a:solidFill>
              </a:defRPr>
            </a:pPr>
            <a:r>
              <a:rPr sz="1950" b="1">
                <a:solidFill>
                  <a:srgbClr val="D7E3F5"/>
                </a:solidFill>
              </a:rPr>
              <a:t>AsoulAI 让软件修复从经验猜测升级为可回放、可审计、可复用的实验闭环。</a:t>
            </a:r>
          </a:p>
        </p:txBody>
      </p:sp>
    </p:spTree>
    <p:extLst>
      <p:ext uri="{BB962C8B-B14F-4D97-AF65-F5344CB8AC3E}">
        <p14:creationId xmlns:p14="http://schemas.microsoft.com/office/powerpoint/2010/main" val="2850186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2026-08-11T05:16:51.8180000Z</dcterms:created>
  <dcterms:modified xsi:type="dcterms:W3CDTF">2026-08-11T05:16:51.8180000Z</dcterms:modified>
</coreProperties>
</file>