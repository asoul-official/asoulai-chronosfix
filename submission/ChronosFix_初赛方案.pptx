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6f6abc96e74098" /><Relationship Type="http://schemas.openxmlformats.org/officeDocument/2006/relationships/extended-properties" Target="/docProps/app.xml" Id="Rb74d7b644fd94a33" /><Relationship Type="http://schemas.openxmlformats.org/officeDocument/2006/relationships/officeDocument" Target="/ppt/presentation.xml" Id="R8875c124183d4d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5bebd38c72c4018"/>
  </p:sldMasterIdLst>
  <p:notesMasterIdLst>
    <p:notesMasterId xmlns:r="http://schemas.openxmlformats.org/officeDocument/2006/relationships" r:id="R23d1637a1dbb4bb1"/>
  </p:notesMasterIdLst>
  <p:sldIdLst>
    <p:sldId xmlns:r="http://schemas.openxmlformats.org/officeDocument/2006/relationships" id="256" r:id="R14e58e3558a04178"/>
    <p:sldId xmlns:r="http://schemas.openxmlformats.org/officeDocument/2006/relationships" id="257" r:id="R738df538193d4812"/>
    <p:sldId xmlns:r="http://schemas.openxmlformats.org/officeDocument/2006/relationships" id="258" r:id="R2c67afc25d8b430c"/>
    <p:sldId xmlns:r="http://schemas.openxmlformats.org/officeDocument/2006/relationships" id="259" r:id="Rc432b64ff05b43fe"/>
    <p:sldId xmlns:r="http://schemas.openxmlformats.org/officeDocument/2006/relationships" id="260" r:id="Rae77327654064de8"/>
    <p:sldId xmlns:r="http://schemas.openxmlformats.org/officeDocument/2006/relationships" id="261" r:id="R73d3182446af4793"/>
    <p:sldId xmlns:r="http://schemas.openxmlformats.org/officeDocument/2006/relationships" id="262" r:id="Re766f9d399ed405e"/>
    <p:sldId xmlns:r="http://schemas.openxmlformats.org/officeDocument/2006/relationships" id="263" r:id="Re88d362191d24261"/>
    <p:sldId xmlns:r="http://schemas.openxmlformats.org/officeDocument/2006/relationships" id="264" r:id="Rbe4ff42b1f964175"/>
    <p:sldId xmlns:r="http://schemas.openxmlformats.org/officeDocument/2006/relationships" id="265" r:id="R347bdd5faceb4840"/>
    <p:sldId xmlns:r="http://schemas.openxmlformats.org/officeDocument/2006/relationships" id="266" r:id="Rdef12b4c72fe4b8b"/>
    <p:sldId xmlns:r="http://schemas.openxmlformats.org/officeDocument/2006/relationships" id="267" r:id="R4c5500fe5fd746f6"/>
    <p:sldId xmlns:r="http://schemas.openxmlformats.org/officeDocument/2006/relationships" id="268" r:id="R4a377b5c9e474bfe"/>
    <p:sldId xmlns:r="http://schemas.openxmlformats.org/officeDocument/2006/relationships" id="269" r:id="R0f0b9f9476de4f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aa0c341b8d480c" /><Relationship Type="http://schemas.openxmlformats.org/officeDocument/2006/relationships/slideMaster" Target="/ppt/slideMasters/slideMaster1.xml" Id="R85bebd38c72c4018" /><Relationship Type="http://schemas.openxmlformats.org/officeDocument/2006/relationships/notesMaster" Target="/ppt/notesMasters/notesMaster1.xml" Id="R23d1637a1dbb4bb1" /><Relationship Type="http://schemas.openxmlformats.org/officeDocument/2006/relationships/presProps" Target="/ppt/presProps.xml" Id="R155baa8965044e87" /><Relationship Type="http://schemas.openxmlformats.org/officeDocument/2006/relationships/tableStyles" Target="/ppt/tableStyles.xml" Id="R3d8f68e61c674ba6" /><Relationship Type="http://schemas.openxmlformats.org/officeDocument/2006/relationships/slide" Target="/ppt/slides/slide1.xml" Id="R14e58e3558a04178" /><Relationship Type="http://schemas.openxmlformats.org/officeDocument/2006/relationships/slide" Target="/ppt/slides/slide2.xml" Id="R738df538193d4812" /><Relationship Type="http://schemas.openxmlformats.org/officeDocument/2006/relationships/slide" Target="/ppt/slides/slide3.xml" Id="R2c67afc25d8b430c" /><Relationship Type="http://schemas.openxmlformats.org/officeDocument/2006/relationships/slide" Target="/ppt/slides/slide4.xml" Id="Rc432b64ff05b43fe" /><Relationship Type="http://schemas.openxmlformats.org/officeDocument/2006/relationships/slide" Target="/ppt/slides/slide5.xml" Id="Rae77327654064de8" /><Relationship Type="http://schemas.openxmlformats.org/officeDocument/2006/relationships/slide" Target="/ppt/slides/slide6.xml" Id="R73d3182446af4793" /><Relationship Type="http://schemas.openxmlformats.org/officeDocument/2006/relationships/slide" Target="/ppt/slides/slide7.xml" Id="Re766f9d399ed405e" /><Relationship Type="http://schemas.openxmlformats.org/officeDocument/2006/relationships/slide" Target="/ppt/slides/slide8.xml" Id="Re88d362191d24261" /><Relationship Type="http://schemas.openxmlformats.org/officeDocument/2006/relationships/slide" Target="/ppt/slides/slide9.xml" Id="Rbe4ff42b1f964175" /><Relationship Type="http://schemas.openxmlformats.org/officeDocument/2006/relationships/slide" Target="/ppt/slides/slide10.xml" Id="R347bdd5faceb4840" /><Relationship Type="http://schemas.openxmlformats.org/officeDocument/2006/relationships/slide" Target="/ppt/slides/slide11.xml" Id="Rdef12b4c72fe4b8b" /><Relationship Type="http://schemas.openxmlformats.org/officeDocument/2006/relationships/slide" Target="/ppt/slides/slide12.xml" Id="R4c5500fe5fd746f6" /><Relationship Type="http://schemas.openxmlformats.org/officeDocument/2006/relationships/slide" Target="/ppt/slides/slide13.xml" Id="R4a377b5c9e474bfe" /><Relationship Type="http://schemas.openxmlformats.org/officeDocument/2006/relationships/slide" Target="/ppt/slides/slide14.xml" Id="R0f0b9f9476de4f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d73b49208040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537d1757ed460b" /><Relationship Type="http://schemas.openxmlformats.org/officeDocument/2006/relationships/notesMaster" Target="/ppt/notesMasters/notesMaster1.xml" Id="R1b9d170eea1a4d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36b595b4874d9b" /><Relationship Type="http://schemas.openxmlformats.org/officeDocument/2006/relationships/notesMaster" Target="/ppt/notesMasters/notesMaster1.xml" Id="R7f2a8b7319c741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9eba00fc7e840df" /><Relationship Type="http://schemas.openxmlformats.org/officeDocument/2006/relationships/notesMaster" Target="/ppt/notesMasters/notesMaster1.xml" Id="Rc77b8a855bc540e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d20d4a68654d4d" /><Relationship Type="http://schemas.openxmlformats.org/officeDocument/2006/relationships/notesMaster" Target="/ppt/notesMasters/notesMaster1.xml" Id="R16164751e2b7422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390fe863034457" /><Relationship Type="http://schemas.openxmlformats.org/officeDocument/2006/relationships/notesMaster" Target="/ppt/notesMasters/notesMaster1.xml" Id="Rcae466f79e9342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d30a249ce2f450e" /><Relationship Type="http://schemas.openxmlformats.org/officeDocument/2006/relationships/notesMaster" Target="/ppt/notesMasters/notesMaster1.xml" Id="Rcc4100cbb6c747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c3f9bf8d60b49c2" /><Relationship Type="http://schemas.openxmlformats.org/officeDocument/2006/relationships/notesMaster" Target="/ppt/notesMasters/notesMaster1.xml" Id="R85f8a97246cb4d7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ddcf5c5618f4a4e" /><Relationship Type="http://schemas.openxmlformats.org/officeDocument/2006/relationships/notesMaster" Target="/ppt/notesMasters/notesMaster1.xml" Id="Rc1683d2a5735441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05394c7c60e46ba" /><Relationship Type="http://schemas.openxmlformats.org/officeDocument/2006/relationships/notesMaster" Target="/ppt/notesMasters/notesMaster1.xml" Id="Rea7c9685faf2489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5e1ec01c1cb4ad0" /><Relationship Type="http://schemas.openxmlformats.org/officeDocument/2006/relationships/notesMaster" Target="/ppt/notesMasters/notesMaster1.xml" Id="Rf12375ca1cba4a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4234aa6f9d24ef3" /><Relationship Type="http://schemas.openxmlformats.org/officeDocument/2006/relationships/notesMaster" Target="/ppt/notesMasters/notesMaster1.xml" Id="R52025fea3a3e482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83dbd660ae94232" /><Relationship Type="http://schemas.openxmlformats.org/officeDocument/2006/relationships/notesMaster" Target="/ppt/notesMasters/notesMaster1.xml" Id="R1f460daf4b7a44d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28a5e1c32aa4900" /><Relationship Type="http://schemas.openxmlformats.org/officeDocument/2006/relationships/notesMaster" Target="/ppt/notesMasters/notesMaster1.xml" Id="R81256d26d68a4f9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795163b32f24c0c" /><Relationship Type="http://schemas.openxmlformats.org/officeDocument/2006/relationships/notesMaster" Target="/ppt/notesMasters/notesMaster1.xml" Id="R9ce51854bcfb45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submission/ppt-outline.md</a:t>
            </a:r>
          </a:p>
          <a:p xmlns:a="http://schemas.openxmlformats.org/drawingml/2006/main">
            <a:r>
              <a:t>submission/work-intro-500.txt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evidence/proof-bundle.json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docs/agent-identity.md</a:t>
            </a:r>
          </a:p>
          <a:p xmlns:a="http://schemas.openxmlformats.org/drawingml/2006/main">
            <a:r>
              <a:t>agentteams/chronosfix-team.yaml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evidence/proof-bundle.json</a:t>
            </a:r>
          </a:p>
          <a:p xmlns:a="http://schemas.openxmlformats.org/drawingml/2006/main">
            <a:r>
              <a:t>src/chronosfix/skills/counterfactual_replay.py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src/chronosfix/skills/fault_genome.py</a:t>
            </a:r>
          </a:p>
          <a:p xmlns:a="http://schemas.openxmlformats.org/drawingml/2006/main">
            <a:r>
              <a:t>evidence/proof-report.md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src/chronosfix/skills/evidence_passport.py</a:t>
            </a:r>
          </a:p>
          <a:p xmlns:a="http://schemas.openxmlformats.org/drawingml/2006/main">
            <a:r>
              <a:t>docs/safety-and-audit.md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src/chronosfix/skills/skill_forge.py</a:t>
            </a:r>
          </a:p>
          <a:p xmlns:a="http://schemas.openxmlformats.org/drawingml/2006/main">
            <a:r>
              <a:t>docs/skill-specs.md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evidence/proof-bundle.json</a:t>
            </a:r>
          </a:p>
          <a:p xmlns:a="http://schemas.openxmlformats.org/drawingml/2006/main">
            <a:r>
              <a:t>evidence/trace.jsonl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docs/safety-and-audit.md</a:t>
            </a:r>
          </a:p>
          <a:p xmlns:a="http://schemas.openxmlformats.org/drawingml/2006/main">
            <a:r>
              <a:t>src/chronosfix/skills/risk_gate.py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docs/open-source-compliance.md</a:t>
            </a:r>
          </a:p>
          <a:p xmlns:a="http://schemas.openxmlformats.org/drawingml/2006/main">
            <a:r>
              <a:t>docs/requirements-matrix.md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docs/business-value.md</a:t>
            </a:r>
          </a:p>
          <a:p xmlns:a="http://schemas.openxmlformats.org/drawingml/2006/main">
            <a:r>
              <a:t>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submission/work-intro-500.txt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61d6d9b30c4f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85c530feb6490a" /><Relationship Type="http://schemas.openxmlformats.org/officeDocument/2006/relationships/slideLayout" Target="/ppt/slideLayouts/slideLayout1.xml" Id="R9357c2439377460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357c243937746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ee3847ad84802" /><Relationship Type="http://schemas.openxmlformats.org/officeDocument/2006/relationships/notesSlide" Target="/ppt/notesSlides/notesSlide1.xml" Id="R63f1a5dba02445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7e333744d04528" /><Relationship Type="http://schemas.openxmlformats.org/officeDocument/2006/relationships/notesSlide" Target="/ppt/notesSlides/notesSlide2.xml" Id="R850635d45ad741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5b6c81b094eb0" /><Relationship Type="http://schemas.openxmlformats.org/officeDocument/2006/relationships/notesSlide" Target="/ppt/notesSlides/notesSlide3.xml" Id="R5f71a01165ce43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118de90efe44ae" /><Relationship Type="http://schemas.openxmlformats.org/officeDocument/2006/relationships/notesSlide" Target="/ppt/notesSlides/notesSlide4.xml" Id="Rbdfdafc34d7b45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daf7982ed8447c" /><Relationship Type="http://schemas.openxmlformats.org/officeDocument/2006/relationships/notesSlide" Target="/ppt/notesSlides/notesSlide5.xml" Id="R013388615d1e4e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075707ec54904" /><Relationship Type="http://schemas.openxmlformats.org/officeDocument/2006/relationships/notesSlide" Target="/ppt/notesSlides/notesSlide6.xml" Id="R3e5e99f0ba084ba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6d6047ff79497c" /><Relationship Type="http://schemas.openxmlformats.org/officeDocument/2006/relationships/notesSlide" Target="/ppt/notesSlides/notesSlide7.xml" Id="Rf7031a91b29d421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bd92dcbe0240a1" /><Relationship Type="http://schemas.openxmlformats.org/officeDocument/2006/relationships/notesSlide" Target="/ppt/notesSlides/notesSlide8.xml" Id="R43db7c6c58884ed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a48e87c0a34e20" /><Relationship Type="http://schemas.openxmlformats.org/officeDocument/2006/relationships/notesSlide" Target="/ppt/notesSlides/notesSlide9.xml" Id="R9960d2f8479d40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22d880478947ad" /><Relationship Type="http://schemas.openxmlformats.org/officeDocument/2006/relationships/notesSlide" Target="/ppt/notesSlides/notesSlide10.xml" Id="R77cb8a822ff04f0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932f5c6a840c7" /><Relationship Type="http://schemas.openxmlformats.org/officeDocument/2006/relationships/notesSlide" Target="/ppt/notesSlides/notesSlide11.xml" Id="Ra01a0cee34a543b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82f59643e483f" /><Relationship Type="http://schemas.openxmlformats.org/officeDocument/2006/relationships/notesSlide" Target="/ppt/notesSlides/notesSlide12.xml" Id="Rb489f0e8703a444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fcf97985a4432f" /><Relationship Type="http://schemas.openxmlformats.org/officeDocument/2006/relationships/notesSlide" Target="/ppt/notesSlides/notesSlide13.xml" Id="R814816116a3f4e1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97e8c2873c4015" /><Relationship Type="http://schemas.openxmlformats.org/officeDocument/2006/relationships/notesSlide" Target="/ppt/notesSlides/notesSlide14.xml" Id="Rd54a8382c34349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E90E46-F12C-44B0-A39B-C8491022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AsoulAI · GOAI 新智基座 · Agent Infra · 方向三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729217-5F6B-4546-8951-CD788D5F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647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</a:defRPr>
            </a:pPr>
            <a:r>
              <a:rPr sz="5100" b="1">
                <a:solidFill>
                  <a:srgbClr val="FFFFFF"/>
                </a:solidFill>
              </a:rPr>
              <a:t>ChronosFix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9F7CF6-F340-476F-8BDD-7012B1D1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软件故障时间机器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A763BE-7A9B-4A19-9697-6A4D77CC4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685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B8A6"/>
                </a:solidFill>
              </a:defRPr>
            </a:pPr>
            <a:r>
              <a:rPr sz="2250" b="1">
                <a:solidFill>
                  <a:srgbClr val="14B8A6"/>
                </a:solidFill>
              </a:rPr>
              <a:t>研发质量资产平台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1E8D6-7283-4B60-953A-62EDC1BB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7E3F5"/>
                </a:solidFill>
              </a:defRPr>
            </a:pPr>
            <a:r>
              <a:rPr sz="1725" b="0">
                <a:solidFill>
                  <a:srgbClr val="D7E3F5"/>
                </a:solidFill>
              </a:rPr>
              <a:t>让每次事故沉淀为可复用 Skill、故障基因包和可审计证据护照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C864C0-AF24-4FEA-ADCC-DF2476A9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FB5D1"/>
                </a:solidFill>
              </a:defRPr>
            </a:pPr>
            <a:r>
              <a:rPr sz="1200" b="0">
                <a:solidFill>
                  <a:srgbClr val="9FB5D1"/>
                </a:solidFill>
              </a:rPr>
              <a:t>队伍：AsoulAI · 软件研发全流程协同 · 初赛 V0.2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C2A654-8AA4-4D7A-A432-BCF64BA2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42875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B7F4B-8E0E-4FE4-B25A-CAC3B5D4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95425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B8A6"/>
                </a:solidFill>
              </a:defRPr>
            </a:pPr>
            <a:r>
              <a:rPr sz="1125" b="1">
                <a:solidFill>
                  <a:srgbClr val="14B8A6"/>
                </a:solidFill>
              </a:rPr>
              <a:t>Issue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76BC99-04C0-4C20-B3BA-E0189CA1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11455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C00352-2F63-4498-B395-0E5E8E21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81225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B8A6"/>
                </a:solidFill>
              </a:defRPr>
            </a:pPr>
            <a:r>
              <a:rPr sz="1125" b="1">
                <a:solidFill>
                  <a:srgbClr val="14B8A6"/>
                </a:solidFill>
              </a:rPr>
              <a:t>Git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AD87A3-1847-4247-A14F-1A6F7CB1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7D71EF-1127-47D7-A6E0-C01FC8832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67025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Config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068AE3-EE4F-4633-AAF9-08892DC2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48615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5FDF02-4077-4B20-B265-AD75718B9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52825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B8A6"/>
                </a:solidFill>
              </a:defRPr>
            </a:pPr>
            <a:r>
              <a:rPr sz="1125" b="1">
                <a:solidFill>
                  <a:srgbClr val="14B8A6"/>
                </a:solidFill>
              </a:rPr>
              <a:t>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10621E-B161-4697-9F52-6FAB490F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AA6741-7A9B-4BC4-A319-788424D0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38625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B8A6"/>
                </a:solidFill>
              </a:defRPr>
            </a:pPr>
            <a:r>
              <a:rPr sz="1125" b="1">
                <a:solidFill>
                  <a:srgbClr val="14B8A6"/>
                </a:solidFill>
              </a:rPr>
              <a:t>Patch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DACD76-4D61-47E0-8CF1-06AAE0B7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81350"/>
            <a:ext cx="1238250" cy="1238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98C0DD-65AC-4B6E-8E20-BB2E535B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467100"/>
            <a:ext cx="666750" cy="666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EAE3E7-2D1C-4038-ABB4-60ED7D4C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质量资产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飞轮</a:t>
            </a:r>
          </a:p>
        </p:txBody>
      </p:sp>
    </p:spTree>
    <p:extLst>
      <p:ext uri="{BB962C8B-B14F-4D97-AF65-F5344CB8AC3E}">
        <p14:creationId xmlns:p14="http://schemas.microsoft.com/office/powerpoint/2010/main" val="20810902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9838F3-754C-42C6-BED8-A68DE48B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场景价值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7CD015-EBFB-44BB-AD85-2044FE73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研发故障真正难的不是“看见异常”，而是证明哪次变化造成了异常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F6BE6-969B-4813-B80F-E3221B7C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05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E04726-CE33-4224-B790-B6F2907B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8934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</a:defRPr>
            </a:pPr>
            <a:r>
              <a:rPr sz="1800" b="0">
                <a:solidFill>
                  <a:srgbClr val="0F172A"/>
                </a:solidFill>
              </a:rPr>
              <a:t>一次线上故障往往同时伴随代码提交、依赖升级、配置调整、流量峰值和外部系统波动。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DDDF75-E2F9-41A4-BB89-F5493C0D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38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A1D7DE-3FC2-42AC-A650-5BA755BC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43150"/>
            <a:ext cx="8934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</a:defRPr>
            </a:pPr>
            <a:r>
              <a:rPr sz="1800" b="0">
                <a:solidFill>
                  <a:srgbClr val="0F172A"/>
                </a:solidFill>
              </a:rPr>
              <a:t>普通 AI 排障容易把时间接近的事件误判成根因，缺少可回放的因果证据。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BD26B-2693-443E-B0BA-C016F73B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7043DF-2D86-4CBE-8227-1CC8AFD40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8934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</a:defRPr>
            </a:pPr>
            <a:r>
              <a:rPr sz="1800" b="0">
                <a:solidFill>
                  <a:srgbClr val="0F172A"/>
                </a:solidFill>
              </a:rPr>
              <a:t>研发团队需要的不是一句猜测，而是根因证明、补丁验证、发布审计和经验复用。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AC3E0-59FE-4741-98E7-A3A8DB04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243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DC2626"/>
                </a:solidFill>
              </a:defRPr>
            </a:pPr>
            <a:r>
              <a:rPr sz="2550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F09146-4D8A-428D-8C66-5E6D2126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196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Demo 基线失败率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53A534-A76C-4C16-BA79-D07727BC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243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97316"/>
                </a:solidFill>
              </a:defRPr>
            </a:pPr>
            <a:r>
              <a:rPr sz="2550" b="1">
                <a:solidFill>
                  <a:srgbClr val="F97316"/>
                </a:solidFill>
              </a:rPr>
              <a:t>606.96ms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0B208C-E32C-48ED-B83F-869079F2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8196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Demo 基线 P99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FA4A30-A70F-4D4C-8C01-99C39EC6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243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2C1FEF-BFD9-444B-AFC1-C8D79A1F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196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可疑根因假设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4C9D28-CE8A-46B2-959F-71EC6C39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243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6C2458-4754-42DD-88B5-2CAE6E56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196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被证明主因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B409DF-1363-41B8-96A4-989F15FE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D6D12F-1159-4AC4-A381-AB8E936A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911418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06BB68-E88D-4DC2-A0D0-54C3EE04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70B9B-B2E1-47CC-BAA5-D441BBB4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ChronosFix 把故障修复变成可回放、可验证、可审计的实验闭环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6C3131-D917-4720-89F7-8BF4375B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1714500" cy="1809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77973B-AF82-4B97-8E13-C37640DD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证据融合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17D2D5-BA6E-43E7-988C-E7DCD61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257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汇聚 Issue、日志、Trace、Git、依赖和配置变更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74D419-2A56-4A5F-9EDE-3F155251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97180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543D9C-871B-470A-ABCF-54437235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76450"/>
            <a:ext cx="1714500" cy="1809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A39672-EA43-4361-9E35-8F75E098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247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时间重建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19208D-0717-46C2-9538-9420D802D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1257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把故障前后的变化按因果候选排序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B7F416-2D98-412B-AB2E-0C766288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97180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512156-5A68-4594-9D6E-1A642E0F3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76450"/>
            <a:ext cx="1714500" cy="1809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C5BD7E-BD13-452B-AEDC-554FBC7D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247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平行实验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726B03-D7C3-43E5-820E-6AB8CCB4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705100"/>
            <a:ext cx="1257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撤销可疑变化并重放事故，证明主因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C9CEC7-AB42-42B0-B588-6979626F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7180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560427-E35B-4391-AC23-4B2F0035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76450"/>
            <a:ext cx="1714500" cy="1809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10A91F-34D6-48B8-887D-93F2425F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47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补丁竞赛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86ED18-D303-411E-920B-4DD432C9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05100"/>
            <a:ext cx="1257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在故障基因族上比较多个修复方案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6395CB-F64B-49E1-8E1B-B6D8345E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7180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E58795-3D41-4BBB-8568-B180045E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76450"/>
            <a:ext cx="1714500" cy="1809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E32076-E1B6-4825-8AC2-E6A75C40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47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A34A"/>
                </a:solidFill>
              </a:defRPr>
            </a:pPr>
            <a:r>
              <a:rPr sz="1725" b="1">
                <a:solidFill>
                  <a:srgbClr val="16A34A"/>
                </a:solidFill>
              </a:rPr>
              <a:t>证据发布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E21CEA-BCA5-4C4E-A294-034AD5232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05100"/>
            <a:ext cx="1257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补丁携带证据护照进入审批和复盘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D92E69-1FE3-45A7-9D41-08D723FA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577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关键变化：AI 不再直接下结论，而是组织一组 Agent 去做实验、竞争和审计。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1D1307-2082-4A6C-9F09-6D042AA2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86E21C-44C5-4C3E-BAAD-1AC0D11C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349923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DBDABBD-AC8A-45F3-81AF-2BE0FC85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多 Agent 协同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00A0E8-4037-4DB6-81F9-6C8185FB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7 个职能 Agent 覆盖从证据调查到发布审计的完整闭环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A132BA-0197-4264-B084-AC0F5B58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0B122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6CEB5-E920-4A52-926F-6F2078F4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Commander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F41F4C-8121-4902-82F4-79D7A6BA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D7E3F5"/>
                </a:solidFill>
              </a:defRPr>
            </a:pPr>
            <a:r>
              <a:rPr sz="1200" b="0">
                <a:solidFill>
                  <a:srgbClr val="D7E3F5"/>
                </a:solidFill>
              </a:rPr>
              <a:t>任务拆解</a:t>
            </a:r>
          </a:p>
          <a:p xmlns:a="http://schemas.openxmlformats.org/drawingml/2006/main">
            <a:pPr algn="ctr">
              <a:defRPr sz="1200" b="0">
                <a:solidFill>
                  <a:srgbClr val="D7E3F5"/>
                </a:solidFill>
              </a:defRPr>
            </a:pPr>
            <a:r>
              <a:rPr sz="1200" b="0">
                <a:solidFill>
                  <a:srgbClr val="D7E3F5"/>
                </a:solidFill>
              </a:rPr>
              <a:t>状态编排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D55119-95D7-4249-B3C9-AC95981F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9D2BF9-5194-4A08-A2D7-C2D6221A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D9CB6B-4638-43BB-B265-B65A70DA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7E7163-8748-43DF-B7C6-1A33BE1A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证据融合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时间线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6403D-59CF-436A-98E5-4C8EF24C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6F010F-68CB-4881-9565-857258B7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75D1B1-9FC1-4386-986C-8B221162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83E9B5-72A5-4233-B95D-88F8F7A0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根因假设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证伪契约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20A83D-EB21-4EFA-B691-E6F418869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2E9066-BF67-469A-8CAA-69F0845AD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0B0B0F-4BBD-4C96-854D-67DBF0E8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997984-925A-409B-BCE3-0456D32B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平行版本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故障基因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7B59AB-B919-420B-A348-99773B2D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D0A91A-C410-45DB-AC92-EA5E857B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9D1E42-D88D-48A5-9461-4C880269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Patch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95CBB9-F6A9-4429-B5A1-C8C8E624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候选补丁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回滚契约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943A02-2B21-44DC-AF3E-39D26B0A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96D5BA-B8B7-4ACE-B62B-4ED91952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A50CFC-AADF-45FE-B9F2-F66BEEEC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Verifier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F57596-D8EF-49B4-9C4E-0E87C605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对抗验证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竞赛排名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12A19-E729-4B21-BB07-956B5400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000F0E-8087-4794-AF6D-E551024E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699F31-96EB-4FAE-AA22-89D3B127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Auditor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7EB8C2-C7FF-46DA-9E30-0E9A14B1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风险门禁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证据护照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FB6A44-EAF2-4DD3-99AB-90229CCB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338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97316"/>
                </a:solidFill>
              </a:defRPr>
            </a:pPr>
            <a:r>
              <a:rPr sz="1350" b="1">
                <a:solidFill>
                  <a:srgbClr val="F97316"/>
                </a:solidFill>
              </a:rPr>
              <a:t>输入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07BB9E-68E3-45A6-9F04-BAC2DCBAA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1338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Issue / Git / 日志 / Trace / 配置 / 流量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6FD25D-3405-413F-8BF2-735D73EA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339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诊断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3A996B-B719-45D1-B17B-18A85376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3390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证据归并、假设竞争、反事实回放、因果分类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6823E0-022F-4AC6-874C-C391C87D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339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A34A"/>
                </a:solidFill>
              </a:defRPr>
            </a:pPr>
            <a:r>
              <a:rPr sz="1350" b="1">
                <a:solidFill>
                  <a:srgbClr val="16A34A"/>
                </a:solidFill>
              </a:rPr>
              <a:t>执行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D471E8-D029-4172-81BE-1124CBAA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9339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补丁竞赛、风险分级、审批、回滚检查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314954-1029-4334-9298-6EFB8B40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340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沉淀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C5002DD-D2D1-4118-A67C-CF04B84EE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Trace、proof-bundle、proof-report、Skill 候选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98B05E7-BF0B-4C2B-ACEA-70AAF8CE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7D3B05-C1D0-4D2F-A2C9-5B99F397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710034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621A19-932D-4BA4-9ECB-AF6C61E3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创新一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5C173D-72D6-4424-9959-86103104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故障时间机器用反事实实验把“相关性”变成“因果证据”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CB910B-A13D-4D42-8281-042AFF79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平行版本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77C76A-A7C9-4B1A-B523-DCF4ADCE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基线失败率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EE3328-E210-4E7C-AAFE-CA026C7C2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52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反事实失败率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8741EA-F7D0-48F2-91E5-5D72F13D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52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结论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8095E7-1E25-4287-9689-5399E42F5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10096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7FFBEF-12CF-461A-AF09-91F1A37B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撤销代码提交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DF2E37-7262-4BB8-8A3F-61F457FE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2626"/>
                </a:solidFill>
              </a:defRPr>
            </a:pPr>
            <a:r>
              <a:rPr sz="1650" b="0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65621A-D18E-4EF4-8255-8668EB0A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03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97316"/>
                </a:solidFill>
              </a:defRPr>
            </a:pPr>
            <a:r>
              <a:rPr sz="1650" b="0">
                <a:solidFill>
                  <a:srgbClr val="F97316"/>
                </a:solidFill>
              </a:rPr>
              <a:t>48.72%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73D4A8-A4BC-4DEE-8860-96A1FC52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003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26071"/>
                </a:solidFill>
              </a:defRPr>
            </a:pPr>
            <a:r>
              <a:rPr sz="1650" b="1">
                <a:solidFill>
                  <a:srgbClr val="526071"/>
                </a:solidFill>
              </a:rPr>
              <a:t>证伪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8759C5-4AA4-45EC-B1CB-ADC1CA55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24200"/>
            <a:ext cx="10096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75E885-1BA8-491E-A567-768AD6BA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14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回退支付依赖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E4A023-89D0-475B-AA40-5E7CAD95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147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2626"/>
                </a:solidFill>
              </a:defRPr>
            </a:pPr>
            <a:r>
              <a:rPr sz="1650" b="0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DB0095-E868-450E-87F7-84986E99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147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97316"/>
                </a:solidFill>
              </a:defRPr>
            </a:pPr>
            <a:r>
              <a:rPr sz="1650" b="0">
                <a:solidFill>
                  <a:srgbClr val="F97316"/>
                </a:solidFill>
              </a:rPr>
              <a:t>33.33%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02103C-CA1B-42EA-9E13-1EDA9EE6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147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26071"/>
                </a:solidFill>
              </a:defRPr>
            </a:pPr>
            <a:r>
              <a:rPr sz="1650" b="1">
                <a:solidFill>
                  <a:srgbClr val="526071"/>
                </a:solidFill>
              </a:rPr>
              <a:t>放大因素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BF9A52-898D-45CA-8F3A-1E9153B6C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10096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8046C0-78B8-4420-BD70-5CBCF079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29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恢复连接池 24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CC66E1-8B40-4890-B75D-57FCDB875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29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2626"/>
                </a:solidFill>
              </a:defRPr>
            </a:pPr>
            <a:r>
              <a:rPr sz="1650" b="0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6E93F8-76D6-4BB8-9A38-29331B60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29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A34A"/>
                </a:solidFill>
              </a:defRPr>
            </a:pPr>
            <a:r>
              <a:rPr sz="1650" b="0">
                <a:solidFill>
                  <a:srgbClr val="16A34A"/>
                </a:solidFill>
              </a:rPr>
              <a:t>0.00%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325206-9A0F-4DCC-892B-4D84ABD7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229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A34A"/>
                </a:solidFill>
              </a:defRPr>
            </a:pPr>
            <a:r>
              <a:rPr sz="1650" b="1">
                <a:solidFill>
                  <a:srgbClr val="16A34A"/>
                </a:solidFill>
              </a:rPr>
              <a:t>主因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BC043E-1F32-41CD-B77E-EB23921B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97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结论：连接池缩容是主因，支付依赖升级是放大因素，代码变更被证伪。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B64E80-0917-43D1-AFAA-E6A23ADE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5C498B-2954-4302-8BF4-17DE5793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337496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8FBFCD-7FAF-4A0A-9322-E81AC94A5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创新二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2E16BC-9BB2-48D4-A729-D82DFD93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缺陷基因实验室让补丁修“一类问题”，而不是只修一个样例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91BA65-062A-4388-A0E7-3B2AD057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669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3F3503-AC67-4476-A6AA-3291F138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383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原始复现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9723A8-5EB2-4926-8E3E-7EA30359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nominal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8CC7EB-4A0A-4296-A018-107CF3E3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669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E8A51A-8686-4984-99D1-7A5C8A31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0383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高流量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CE0A0A-3E9D-4225-981D-32E95F389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955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high-traffic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FE42F1-0C52-4FCC-90F0-B5568370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669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02FCB7-0F1F-4D2D-8CFB-5589A337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383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下游变慢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3507B7-2954-426D-A4CB-D6D64D3B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55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slow-downstream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FDF0BD-5447-4A35-BCAA-5B6B90DD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8669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1D58FC-3CF0-4008-9450-EABE56CE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383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组合压力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D9EF3A-57F6-4B21-84C6-9B2E20EA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955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combined-stress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7418C3-D85F-48C4-AFE7-EAF14E47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F06845-69F0-47D9-8E13-58F653AC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337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容量临界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59CD31-8A18-4D25-A9D3-C9A217A9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909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pool-borderline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4DE429-0F47-4205-9B2F-09360E4F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623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F31C71-2EA3-4134-A994-5EFAA5080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3337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恢复尖峰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E1CFB6-5D3A-42A6-862E-ADE6EAA2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909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recovery-spike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ED9B61-1C04-4A34-BA0B-D3403D55A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623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F9EB90-7A4B-463F-8BF2-3A2D1474D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337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下游抖动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B9BDB1-16A6-4B47-9DBA-CB129D5E5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downstream-jitter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230E9D-0EB1-4E67-B70D-23FA507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623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DDB051-DE84-4C82-8302-2BF4A980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3337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配置漂移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4CADB8-1A1F-4A1E-9BB5-28D0AD3E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909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silent-config-drift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8102E2-9785-4ED2-B4B9-E0E4AA86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7680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补丁必须通过 8 个同源变体；再按失败率、风险和成本综合排名。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F68B05-ED71-4B8B-8D34-5D250EB0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C1E424-A900-4E0A-A9F1-C0389407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939051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5FB7FC-6358-4496-A757-05A3393D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创新三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10104F-B99E-4A46-AE6B-480182EE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证据护照让自动修复从“AI 建议”升级为“可发布材料”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122042-1C29-49EA-9F4E-C6A7B9BC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3BD217-0FE7-41EC-9442-DE0E0A42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81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需求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261904-99B6-4EAE-B169-7BE05890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384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修复什么问题，不能违反哪些约束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A58C54-69B9-4DA0-A64F-F64BC87C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097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852FF0-011A-44FB-8072-8DD3BFB1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81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因果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FB6F39-E789-4FD2-8883-DF4758F6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384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为什么它修的是主因，而不是伪相关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AD24B3-AAAA-4E3B-9C05-1BA17103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097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C5BD94-A774-42C4-BE5D-93AC05D8C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81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8530BF-11A5-4B65-A9E6-0B1CD072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384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在哪些故障变体上通过，最差表现如何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46090C-D13C-4453-8C52-2A9563BD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718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0C000B-96B0-48D0-9663-CDC12DC5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风险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DC1118-2A1D-466A-B329-19FA364C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005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风险、成本和审批状态是否可接受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5AAE64-9391-438C-A966-B9275652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3718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A1A4CF-A2AB-4A13-AEAE-BC4F2A5B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43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A34A"/>
                </a:solidFill>
              </a:defRPr>
            </a:pPr>
            <a:r>
              <a:rPr sz="1725" b="1">
                <a:solidFill>
                  <a:srgbClr val="16A34A"/>
                </a:solidFill>
              </a:rPr>
              <a:t>回滚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DFF89B-39DE-46A0-AC39-CD4EE50F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005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发布失败后如何恢复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71B82E-28E7-40C3-BDA4-BC71D270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718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9FC5DA-2CAD-4040-A324-411EFFBE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43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DC2626"/>
                </a:solidFill>
              </a:defRPr>
            </a:pPr>
            <a:r>
              <a:rPr sz="1725" b="1">
                <a:solidFill>
                  <a:srgbClr val="DC2626"/>
                </a:solidFill>
              </a:rPr>
              <a:t>缺口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F95277-290E-45D1-8C61-B448A573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005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哪些场景仍需人工判断或补强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295E50-9E9C-4F9E-9F9F-71A5BD01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970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当前 Demo 生成 12 条结构化证据声明；缺少关键声明时，补丁不得标记为可发布。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A41B43-BCB7-456C-B72C-9660D7CB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5CA436-A866-47FF-8D88-D0867193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241743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AB2820-52EB-405B-BAD4-20E96462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创新四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EC0B05-7158-49DE-837B-CA3630F7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Skill 自进化工坊把一次事故处理沉淀成下次可复用的能力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0B766D-052B-44AF-9EFF-23D12CF3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76450"/>
            <a:ext cx="27241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6C210D-2B73-4B7B-8B23-F1AF528E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4790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A34A"/>
                </a:solidFill>
              </a:defRPr>
            </a:pPr>
            <a:r>
              <a:rPr sz="1725" b="1">
                <a:solidFill>
                  <a:srgbClr val="16A34A"/>
                </a:solidFill>
              </a:rPr>
              <a:t>容量守卫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F84FCB-2770-4762-B6A1-AF23A078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05100"/>
            <a:ext cx="2266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PoolCapacityGuard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容量建议与测试门禁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892DC3-6DD9-42FE-8282-AB5AB193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27241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EB066D-6416-499F-85C8-7A8A2A47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4790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反事实回放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42C1A2-8CF6-47A6-B67A-30F2EFEC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05100"/>
            <a:ext cx="2266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ConfigReplay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验证配置是否为主因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4BD300-4EE9-4C13-95B2-3E387EC2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76450"/>
            <a:ext cx="27241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033FC1-46A2-4DF4-963D-76041B242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带证明补丁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89A989-4FA1-411C-B096-5894D7479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05100"/>
            <a:ext cx="2266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ProofPatch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生成证据护照与审计摘要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FC118-7F66-44B2-9DBE-3B2CF8D1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67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4FFEA2-2205-40E1-AFB7-76AC1E44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7200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SkillForge 只生成候选，不自动上线；候选需要人工评审、回放评测和版本管理。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56D505-E783-41F6-96DE-9BF7C296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86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AA574D-1248-4F01-82E0-47B73FBF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99110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这让事故复盘不再沉睡在文档里，而是变成团队下一次可调用的标准能力。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9594F7-39AE-425D-BA42-60EF09378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6D96A0-A93D-47AB-BCE4-0B7200EB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4204386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20A1D1-1E77-4DF5-968C-78AF320A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运行场景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8067A5-CC47-4A5A-92D3-167B5970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Demo 场景：订单接口在午间流量下出现高失败率与长尾延迟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06972-6732-4575-8AF0-8212AD4D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65127B-627C-43DF-AF79-3A533C75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09:40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C2F6C-4151-4CEE-AB12-BAC63B44A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90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851C68-923F-4FCD-AF18-622DEB0C1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代码提交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51C25F-DA18-4913-9C8F-2E1BA808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5765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增加关联日志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0C3F06-6D48-438F-91FA-038DDEF93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71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3EAE7B-A62B-4F2C-87D4-473091E7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81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09:55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DC222B-13FD-4995-A995-01A86308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90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6B1B9A-5609-4593-823B-EB1FC122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714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依赖升级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834CCE-6317-4955-AE81-99AFCF48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5765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payment-client 2.0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8C2D48-4ADD-46B3-9616-C2B269344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571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76677D-437C-4834-B699-B7233A8F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781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10:10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83F664-271C-4CB6-9701-7E58E31D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990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3A72B9-0D8D-4E4D-8141-EA93DB4B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14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配置变更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6903F3-D3FD-4E60-A08F-3F05E3C6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5765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连接池 24 → 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8E2149-0805-49E9-955C-1C1B3B61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71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E8A257-055B-4D87-8A11-15D7E65B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81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10:15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098081-07DC-4C12-8FEF-5EC4EDA9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90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D31E1B-1D26-4E84-B457-61E2EE05F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14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流量上涨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AB8C7E-98B8-4ED1-8C5A-3D1A79FE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5765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120 RPS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E176A0-5A02-4CEF-968B-61F93F9F5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71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4B4D32-E7AD-4F90-91A1-A2FF05A0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81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10:16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F5F07F-5D59-4361-8172-84FBB89D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714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告警触发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8332FF-0578-4EC3-8AA2-55B7C72B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05765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5xx 与 P99 升高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FC8C20-0E98-43B9-AEF2-FBD5767F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同一窗口内有多种变化，正适合展示 ChronosFix 如何避免“时间近似即根因”的误判。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F60478-3640-4868-B815-A8DA2E23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9D0AF-30A7-483B-BF01-41950FE7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355051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0EF71B-4CE8-43D4-A8DE-A39072277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运行结果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141F7F-B149-4FF1-98F2-95AE9F65D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补丁是在故障家族里竞赛筛出来的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1B2AFC-AF99-4095-B62B-8109533A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补丁综合评分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5833E8-AC85-4240-B412-8C5749C6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恢复连接池 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503410-A9E5-488E-930B-72B59A06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3431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F30F3F-3EE8-42B6-8F2D-7C4AA718B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343150"/>
            <a:ext cx="3419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EC1BCE-E1C8-4BBB-B4D0-02143361B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050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A34A"/>
                </a:solidFill>
              </a:defRPr>
            </a:pPr>
            <a:r>
              <a:rPr sz="1500" b="1">
                <a:solidFill>
                  <a:srgbClr val="16A34A"/>
                </a:solidFill>
              </a:rPr>
              <a:t>0.9195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90D35B-823E-4B13-A125-83DEE417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自适应下限保护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994D61-C176-4C99-B6DD-66D320B7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289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52F26B-5BBC-438C-B0F4-A02EEA95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289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4565B1-707C-42DD-BB49-09149D7D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B8A6"/>
                </a:solidFill>
              </a:defRPr>
            </a:pPr>
            <a:r>
              <a:rPr sz="1500" b="1">
                <a:solidFill>
                  <a:srgbClr val="14B8A6"/>
                </a:solidFill>
              </a:rPr>
              <a:t>0.8450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3F2BDF-56E3-4E1C-9AFE-7C429B05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回退支付依赖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93DCB5-523D-4DAE-B2D6-35E467C4A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147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D46494-E5CD-40A0-9C3F-C7755E77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14750"/>
            <a:ext cx="2276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88C5B5-6D54-43E9-86B4-040DC247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766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0.6130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1E42DE-C065-4A8B-B652-3245ED2C0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1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回滚代码提交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16224D-1378-480D-B360-A213D4D5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005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57BF25-A980-41F4-8D7D-76C0CD54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00550"/>
            <a:ext cx="1990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0D9010-5E7A-4057-80F9-531C7E48B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624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071"/>
                </a:solidFill>
              </a:defRPr>
            </a:pPr>
            <a:r>
              <a:rPr sz="1500" b="1">
                <a:solidFill>
                  <a:srgbClr val="526071"/>
                </a:solidFill>
              </a:rPr>
              <a:t>0.5359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4B014C-294F-4C65-86FE-9657CA8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812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7C3AED"/>
                </a:solidFill>
              </a:defRPr>
            </a:pPr>
            <a:r>
              <a:rPr sz="2550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B74C10-BE50-44F5-911B-458C32CA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765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故障基因变体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BE34A3-DC1B-439A-BFC3-69E2399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812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97316"/>
                </a:solidFill>
              </a:defRPr>
            </a:pPr>
            <a:r>
              <a:rPr sz="2550" b="1">
                <a:solidFill>
                  <a:srgbClr val="F97316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15AB2B-27DF-4988-B87C-42E461B2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765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补丁候选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9FF0A8-A358-4CF7-BCD9-F3A6F385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290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12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D45B2E-E20B-4A28-8E53-A7796449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243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证据声明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EE287C-B009-4C6B-84EF-0BDD96A2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290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93337F-8A0E-437E-8732-C55D9E48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Trace Span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C02767-D79C-4355-A8C2-FAF1A18A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953000"/>
            <a:ext cx="381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选中补丁最差失败率 6.25%，仍满足健康阈值；中风险发布需要人工审批。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89AF67-153D-47EC-9C37-1415E5BA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7D4D82-E60C-4D51-B19C-DEFC7FC3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337196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43ECF6-7837-40C9-8D3C-D309A7FA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安全与审计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C269E5-5C5E-4179-BCC9-9230EB61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安全边界让自动化停在可审批、可回滚、可审计的位置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8B219-F698-419B-A263-9B1EFDB2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981200"/>
            <a:ext cx="1619250" cy="1809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2B6F47-87C0-41D9-B91D-EF0B552A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266950"/>
            <a:ext cx="78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L0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9ABB7B-CF99-49C0-8127-AB604AFC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956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只读诊断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AF120-8C92-4715-B621-002F295D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3337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071"/>
                </a:solidFill>
              </a:defRPr>
            </a:pPr>
            <a:r>
              <a:rPr sz="1350" b="0">
                <a:solidFill>
                  <a:srgbClr val="526071"/>
                </a:solidFill>
              </a:rPr>
              <a:t>自动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6CA753-2789-4E00-A078-2F8058DA2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1619250" cy="1809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514AB-8299-463E-8B3C-74C3BCCC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66950"/>
            <a:ext cx="78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L1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57B8A4-0BE2-43B6-A5B4-4F2C54CE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8956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隔离重放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7FE50E-E621-4840-8956-9BECD118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337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071"/>
                </a:solidFill>
              </a:defRPr>
            </a:pPr>
            <a:r>
              <a:rPr sz="1350" b="0">
                <a:solidFill>
                  <a:srgbClr val="526071"/>
                </a:solidFill>
              </a:rPr>
              <a:t>自动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8C34FD-6012-41B7-9AE9-487B2007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981200"/>
            <a:ext cx="1619250" cy="1809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1C6F93-C56B-4EAE-826C-CA2570B1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66950"/>
            <a:ext cx="78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97316"/>
                </a:solidFill>
              </a:defRPr>
            </a:pPr>
            <a:r>
              <a:rPr sz="2550" b="1">
                <a:solidFill>
                  <a:srgbClr val="F97316"/>
                </a:solidFill>
              </a:rPr>
              <a:t>L2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7BF9B4-8A7A-4FBD-A19C-DC656940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956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测试环境变更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9DEE0E-D69A-4F97-99C0-82F78220C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337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071"/>
                </a:solidFill>
              </a:defRPr>
            </a:pPr>
            <a:r>
              <a:rPr sz="1350" b="0">
                <a:solidFill>
                  <a:srgbClr val="526071"/>
                </a:solidFill>
              </a:rPr>
              <a:t>策略检查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938FBA-D52B-4781-8359-EE4BBF6F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1619250" cy="1809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6AF4EC-D08B-456A-8520-83EB4224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266950"/>
            <a:ext cx="78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97316"/>
                </a:solidFill>
              </a:defRPr>
            </a:pPr>
            <a:r>
              <a:rPr sz="2550" b="1">
                <a:solidFill>
                  <a:srgbClr val="F97316"/>
                </a:solidFill>
              </a:rPr>
              <a:t>L3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F2E7C7-1765-4CA4-99D9-2C9A0B27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956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生产发布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74E521-8FC3-4DEA-8FFE-0CA8D2370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337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071"/>
                </a:solidFill>
              </a:defRPr>
            </a:pPr>
            <a:r>
              <a:rPr sz="1350" b="0">
                <a:solidFill>
                  <a:srgbClr val="526071"/>
                </a:solidFill>
              </a:rPr>
              <a:t>人工审批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736A07-EF24-484C-9AEC-7F2E257E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5F9F7E-1B63-40C7-AC7F-5DA25C84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7675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当前选中补丁风险分 0.30，被 RiskGate 判定为 medium，必须人类确认。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602424-4225-4712-B2F3-475E5065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91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616893-479F-444D-AD88-E7D3EBFE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9585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每个补丁都附带回滚策略；配置类修复保留旧值和变更单号。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9676E8-5540-4778-B7DE-976699A8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10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4E9D9B-3B32-4CB4-A286-E3FD3F83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31495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Trace、proof-bundle、proof-report 和证据护照共同构成审计链。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65E313-5DE8-41FB-BD34-772DF0D9C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5BD674-C4EC-453C-B09E-5D8C844A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84640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29DF48-9F6B-48A3-B6D4-4FE8144B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工程落地与开源计划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BF1CC4-E84D-4DA3-ADBA-7FE09D21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初赛已跑通可验证闭环，复赛接入真实研发工具链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5B25FA-0BC5-4590-B3D4-680B60C1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09750"/>
            <a:ext cx="2571750" cy="2952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8926C-05E8-4C7B-99BB-9892BA19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14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A34A"/>
                </a:solidFill>
              </a:defRPr>
            </a:pPr>
            <a:r>
              <a:rPr sz="1875" b="1">
                <a:solidFill>
                  <a:srgbClr val="16A34A"/>
                </a:solidFill>
              </a:rPr>
              <a:t>初赛 V0.2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FEC25-66EA-4769-B8A9-5BC17FF08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724150"/>
            <a:ext cx="1809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本地故障样例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7 Agent 设计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9 Skill 实现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Repair Cockpit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Trace 与证明报告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C60DAC-ECD3-414C-91A6-BD0D44CF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171950"/>
            <a:ext cx="11239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704C83-E19D-4A01-96D1-BBA679C4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3862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A34A"/>
                </a:solidFill>
              </a:defRPr>
            </a:pPr>
            <a:r>
              <a:rPr sz="1125" b="1">
                <a:solidFill>
                  <a:srgbClr val="16A34A"/>
                </a:solidFill>
              </a:rPr>
              <a:t>已完成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B3F270-8721-4FA6-B8C9-1BDF3CDE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09750"/>
            <a:ext cx="2571750" cy="2952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7935D0-59B3-457C-8A76-880D4C57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14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复赛 V0.5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353DD0-2B49-49E1-865C-310B5F78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724150"/>
            <a:ext cx="1809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真实 Git/CI 适配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AgentTeams 部署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历史事故 RAG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评测数据集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31480A-12D6-4AA8-B6F3-1305F2C4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171950"/>
            <a:ext cx="11239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9E602B-718D-4AB0-B692-99155771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23862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563EB"/>
                </a:solidFill>
              </a:defRPr>
            </a:pPr>
            <a:r>
              <a:rPr sz="1125" b="1">
                <a:solidFill>
                  <a:srgbClr val="2563EB"/>
                </a:solidFill>
              </a:rPr>
              <a:t>可验证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7E7C2A-B7F4-46B9-8A71-D5B8CB9B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09750"/>
            <a:ext cx="2571750" cy="2952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FDD06C-B756-4594-B162-85CEFFAF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114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97316"/>
                </a:solidFill>
              </a:defRPr>
            </a:pPr>
            <a:r>
              <a:rPr sz="1875" b="1">
                <a:solidFill>
                  <a:srgbClr val="F97316"/>
                </a:solidFill>
              </a:rPr>
              <a:t>开源计划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CE4009-E3EC-4107-87D7-1B87EAB6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24150"/>
            <a:ext cx="1809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核心代码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Skill Schema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MCP 适配器模板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故障回放数据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94CEC0-52D1-4AFE-921B-0AA5F830C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171950"/>
            <a:ext cx="11239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199238-1609-4929-A962-5B786BE77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3862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可复用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FBCBE6-9525-4480-9CAA-890A26AD5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118C1C-7156-42DC-92D7-0E57BB30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6595317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5D3FCC-B61E-45F4-A512-17CBB574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商业价值与护城河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9903D6-C69C-4A46-8032-76AB4EF38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商业价值不止是缩短 MTTR，而是把事故变成研发质量资产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959433-08E2-4ADF-8ACD-E464B388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57350"/>
            <a:ext cx="2857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1A37B3-9B8A-4C2A-9838-4AD7AF51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288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研发组织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23DD7D-3350-41E0-8171-7A27F6AC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2400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减少定位时间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降低误修复风险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跨团队复用经验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BE41CD-4DC4-4047-B5C2-208CCFC5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57350"/>
            <a:ext cx="2857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018538-AE8D-4969-BAAB-85D79D59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288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云与 DevOps 平台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D85E9D-FA7E-4B9F-B284-4193F61A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86000"/>
            <a:ext cx="2400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嵌入 AIOps / CI/CD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连接配置中心与工单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提供带证据的自动修复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F07A0F-A9D2-4CC4-8518-17822896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57350"/>
            <a:ext cx="2857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8EF2A4-D323-4EAD-BE9E-CD08E617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288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高审计行业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E68174-1126-44AD-AE0C-2C4A75812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86000"/>
            <a:ext cx="2400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审批留痕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回滚证明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复盘报告自动化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5AAD00-3309-49B9-A99D-A6C968B3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95750"/>
            <a:ext cx="12192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267AE8-4E26-44A6-B31F-F2D5458E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148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6B140D-7B79-4E8B-83D5-C57AE3E1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90900"/>
            <a:ext cx="12192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4137F-F16E-475C-96C3-B58B9723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60997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C3AED"/>
                </a:solidFill>
              </a:defRPr>
            </a:pPr>
            <a:r>
              <a:rPr sz="1275" b="1">
                <a:solidFill>
                  <a:srgbClr val="7C3AED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796608-BAED-49D9-8A85-BD24A209E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90900"/>
            <a:ext cx="12192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DEA92C-2E4A-45C8-8F37-A0B468AC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0997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A34A"/>
                </a:solidFill>
              </a:defRPr>
            </a:pPr>
            <a:r>
              <a:rPr sz="1275" b="1">
                <a:solidFill>
                  <a:srgbClr val="16A34A"/>
                </a:solidFill>
              </a:rPr>
              <a:t>证据护照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46C5AF-E2B3-426D-9F6C-146190CA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95750"/>
            <a:ext cx="12192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6C6EAB-65A1-437E-9625-5F0E7C9B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148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Skill / 基因包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B7394F-6563-4FAB-AD3D-16F3D835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762500"/>
            <a:ext cx="12192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ECF0DB-0255-4D83-BC23-C0D5BC41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98157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B8A6"/>
                </a:solidFill>
              </a:defRPr>
            </a:pPr>
            <a:r>
              <a:rPr sz="1275" b="1">
                <a:solidFill>
                  <a:srgbClr val="14B8A6"/>
                </a:solidFill>
              </a:rPr>
              <a:t>复用与分发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67FCA3-B548-4EA3-8484-D2684044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3860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4B8A6"/>
                </a:solidFill>
              </a:defRPr>
            </a:pPr>
            <a:r>
              <a:rPr sz="1950" b="1">
                <a:solidFill>
                  <a:srgbClr val="14B8A6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7B1AE8-D1AD-4533-8BE8-F9F6819A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62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4B8A6"/>
                </a:solidFill>
              </a:defRPr>
            </a:pPr>
            <a:r>
              <a:rPr sz="1950" b="1">
                <a:solidFill>
                  <a:srgbClr val="14B8A6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829E5A-F5DA-47DE-97CB-9DCA9964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3860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4B8A6"/>
                </a:solidFill>
              </a:defRPr>
            </a:pPr>
            <a:r>
              <a:rPr sz="1950" b="1">
                <a:solidFill>
                  <a:srgbClr val="14B8A6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3E901F-F4C4-48C5-BF2A-F0D1A0AF0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482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8B126B-D187-4EFF-B0AA-38123634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5310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可收费形态：团队版 SaaS、企业私有化、云市场插件、故障基因包 / Skill 市场、审计合规模块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17F80C-FB22-433D-A48C-513D610CB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8C7FAB-7B58-4FC9-8813-2954EDF9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9917451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005E75-0B38-4BA6-AB4C-81C59E53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906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ChronosFix 的价值不是替代研发判断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38BDF6-4133-40B0-92A7-29AC3B96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B8A6"/>
                </a:solidFill>
              </a:defRPr>
            </a:pPr>
            <a:r>
              <a:rPr sz="3150" b="1">
                <a:solidFill>
                  <a:srgbClr val="14B8A6"/>
                </a:solidFill>
              </a:rPr>
              <a:t>而是把判断所需的证据变成可复利的质量资产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49519-7815-4A76-B39B-FA53FA9A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6C852B-AA88-49C1-BA4E-70E5660A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00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A34A"/>
                </a:solidFill>
              </a:defRPr>
            </a:pPr>
            <a:r>
              <a:rPr sz="1725" b="1">
                <a:solidFill>
                  <a:srgbClr val="16A34A"/>
                </a:solidFill>
              </a:rPr>
              <a:t>根因可证明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086EEC-33C6-4A40-8DA8-44373D1B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576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反事实实验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AF336F-27B7-4AB6-9241-0D3057F63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42900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6507FA-DA7B-41B3-BB91-A1F20D69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600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补丁可验证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DDDC2B-B20C-4BC1-A477-B874F87C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0576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缺陷基因竞赛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507E35-BCC1-457D-A015-F2FAB7F9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42900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EBCA3-8BEB-4297-B61E-C9EEF125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00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发布可审计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FC903D-03CB-45F0-9CB8-342410E6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576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证据护照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9D82DC-4F96-4C08-AB5A-A0915E67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42900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379651-9B0D-460C-A6C0-90B04D57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00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经验可复用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C570BD-1C69-45D5-BE37-90E79634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576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Skill 自进化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726C59-F0DF-4420-9FC0-0BEC6C81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149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D7E3F5"/>
                </a:solidFill>
              </a:defRPr>
            </a:pPr>
            <a:r>
              <a:rPr sz="1875" b="1">
                <a:solidFill>
                  <a:srgbClr val="D7E3F5"/>
                </a:solidFill>
              </a:rPr>
              <a:t>AsoulAI 让软件修复从经验猜测升级为可回放、可审计、可复用、可商业化的实验闭环。</a:t>
            </a:r>
          </a:p>
        </p:txBody>
      </p:sp>
    </p:spTree>
    <p:extLst>
      <p:ext uri="{BB962C8B-B14F-4D97-AF65-F5344CB8AC3E}">
        <p14:creationId xmlns:p14="http://schemas.microsoft.com/office/powerpoint/2010/main" val="6387568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2026-08-12T06:20:04.4510000Z</dcterms:created>
  <dcterms:modified xsi:type="dcterms:W3CDTF">2026-08-12T06:20:04.4510000Z</dcterms:modified>
</coreProperties>
</file>