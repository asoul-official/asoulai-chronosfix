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420c4492524e2d" /><Relationship Type="http://schemas.openxmlformats.org/officeDocument/2006/relationships/extended-properties" Target="/docProps/app.xml" Id="R967357485da84855" /><Relationship Type="http://schemas.openxmlformats.org/officeDocument/2006/relationships/officeDocument" Target="/ppt/presentation.xml" Id="Rdf05dc7f4cd84e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916bdf6ae344b6"/>
  </p:sldMasterIdLst>
  <p:notesMasterIdLst>
    <p:notesMasterId xmlns:r="http://schemas.openxmlformats.org/officeDocument/2006/relationships" r:id="R16102d87108e453d"/>
  </p:notesMasterIdLst>
  <p:sldIdLst>
    <p:sldId xmlns:r="http://schemas.openxmlformats.org/officeDocument/2006/relationships" id="256" r:id="Rcf9e44d3dbae41d9"/>
    <p:sldId xmlns:r="http://schemas.openxmlformats.org/officeDocument/2006/relationships" id="257" r:id="Rc95e227b4b324940"/>
    <p:sldId xmlns:r="http://schemas.openxmlformats.org/officeDocument/2006/relationships" id="258" r:id="Ra93a22de4adb4091"/>
    <p:sldId xmlns:r="http://schemas.openxmlformats.org/officeDocument/2006/relationships" id="259" r:id="Raf00f36d5cda4678"/>
    <p:sldId xmlns:r="http://schemas.openxmlformats.org/officeDocument/2006/relationships" id="260" r:id="R53f81c304c4a4f9b"/>
    <p:sldId xmlns:r="http://schemas.openxmlformats.org/officeDocument/2006/relationships" id="261" r:id="R65b7a0e7754f4fdf"/>
    <p:sldId xmlns:r="http://schemas.openxmlformats.org/officeDocument/2006/relationships" id="262" r:id="R203f0bd5f5424a16"/>
    <p:sldId xmlns:r="http://schemas.openxmlformats.org/officeDocument/2006/relationships" id="263" r:id="Re33487bddea1404e"/>
    <p:sldId xmlns:r="http://schemas.openxmlformats.org/officeDocument/2006/relationships" id="264" r:id="R7dd4107311ea46e9"/>
    <p:sldId xmlns:r="http://schemas.openxmlformats.org/officeDocument/2006/relationships" id="265" r:id="R090cd0deb1f7436f"/>
    <p:sldId xmlns:r="http://schemas.openxmlformats.org/officeDocument/2006/relationships" id="266" r:id="Re3a7186982064f35"/>
    <p:sldId xmlns:r="http://schemas.openxmlformats.org/officeDocument/2006/relationships" id="267" r:id="Re84d466830e64b03"/>
    <p:sldId xmlns:r="http://schemas.openxmlformats.org/officeDocument/2006/relationships" id="268" r:id="R5905930c41384806"/>
    <p:sldId xmlns:r="http://schemas.openxmlformats.org/officeDocument/2006/relationships" id="269" r:id="Re51dd2714a794140"/>
    <p:sldId xmlns:r="http://schemas.openxmlformats.org/officeDocument/2006/relationships" id="270" r:id="R6697b7bfc0594303"/>
    <p:sldId xmlns:r="http://schemas.openxmlformats.org/officeDocument/2006/relationships" id="271" r:id="Rd76cae26f77241f3"/>
    <p:sldId xmlns:r="http://schemas.openxmlformats.org/officeDocument/2006/relationships" id="272" r:id="Rd3f9f5edd3974e5c"/>
    <p:sldId xmlns:r="http://schemas.openxmlformats.org/officeDocument/2006/relationships" id="273" r:id="R696a39a26b3345af"/>
    <p:sldId xmlns:r="http://schemas.openxmlformats.org/officeDocument/2006/relationships" id="274" r:id="R5927ef6b78e94606"/>
    <p:sldId xmlns:r="http://schemas.openxmlformats.org/officeDocument/2006/relationships" id="275" r:id="R5ee03c75bcd54aec"/>
    <p:sldId xmlns:r="http://schemas.openxmlformats.org/officeDocument/2006/relationships" id="276" r:id="Rc382a1279cc64a84"/>
    <p:sldId xmlns:r="http://schemas.openxmlformats.org/officeDocument/2006/relationships" id="277" r:id="Rfffc4733fc3545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0f9be153774475" /><Relationship Type="http://schemas.openxmlformats.org/officeDocument/2006/relationships/slideMaster" Target="/ppt/slideMasters/slideMaster1.xml" Id="R00916bdf6ae344b6" /><Relationship Type="http://schemas.openxmlformats.org/officeDocument/2006/relationships/notesMaster" Target="/ppt/notesMasters/notesMaster1.xml" Id="R16102d87108e453d" /><Relationship Type="http://schemas.openxmlformats.org/officeDocument/2006/relationships/presProps" Target="/ppt/presProps.xml" Id="Rd2e0fa0446d94cdb" /><Relationship Type="http://schemas.openxmlformats.org/officeDocument/2006/relationships/tableStyles" Target="/ppt/tableStyles.xml" Id="Rab8b751e84ae4181" /><Relationship Type="http://schemas.openxmlformats.org/officeDocument/2006/relationships/slide" Target="/ppt/slides/slide1.xml" Id="Rcf9e44d3dbae41d9" /><Relationship Type="http://schemas.openxmlformats.org/officeDocument/2006/relationships/slide" Target="/ppt/slides/slide2.xml" Id="Rc95e227b4b324940" /><Relationship Type="http://schemas.openxmlformats.org/officeDocument/2006/relationships/slide" Target="/ppt/slides/slide3.xml" Id="Ra93a22de4adb4091" /><Relationship Type="http://schemas.openxmlformats.org/officeDocument/2006/relationships/slide" Target="/ppt/slides/slide4.xml" Id="Raf00f36d5cda4678" /><Relationship Type="http://schemas.openxmlformats.org/officeDocument/2006/relationships/slide" Target="/ppt/slides/slide5.xml" Id="R53f81c304c4a4f9b" /><Relationship Type="http://schemas.openxmlformats.org/officeDocument/2006/relationships/slide" Target="/ppt/slides/slide6.xml" Id="R65b7a0e7754f4fdf" /><Relationship Type="http://schemas.openxmlformats.org/officeDocument/2006/relationships/slide" Target="/ppt/slides/slide7.xml" Id="R203f0bd5f5424a16" /><Relationship Type="http://schemas.openxmlformats.org/officeDocument/2006/relationships/slide" Target="/ppt/slides/slide8.xml" Id="Re33487bddea1404e" /><Relationship Type="http://schemas.openxmlformats.org/officeDocument/2006/relationships/slide" Target="/ppt/slides/slide9.xml" Id="R7dd4107311ea46e9" /><Relationship Type="http://schemas.openxmlformats.org/officeDocument/2006/relationships/slide" Target="/ppt/slides/slide10.xml" Id="R090cd0deb1f7436f" /><Relationship Type="http://schemas.openxmlformats.org/officeDocument/2006/relationships/slide" Target="/ppt/slides/slide11.xml" Id="Re3a7186982064f35" /><Relationship Type="http://schemas.openxmlformats.org/officeDocument/2006/relationships/slide" Target="/ppt/slides/slide12.xml" Id="Re84d466830e64b03" /><Relationship Type="http://schemas.openxmlformats.org/officeDocument/2006/relationships/slide" Target="/ppt/slides/slide13.xml" Id="R5905930c41384806" /><Relationship Type="http://schemas.openxmlformats.org/officeDocument/2006/relationships/slide" Target="/ppt/slides/slide14.xml" Id="Re51dd2714a794140" /><Relationship Type="http://schemas.openxmlformats.org/officeDocument/2006/relationships/slide" Target="/ppt/slides/slide15.xml" Id="R6697b7bfc0594303" /><Relationship Type="http://schemas.openxmlformats.org/officeDocument/2006/relationships/slide" Target="/ppt/slides/slide16.xml" Id="Rd76cae26f77241f3" /><Relationship Type="http://schemas.openxmlformats.org/officeDocument/2006/relationships/slide" Target="/ppt/slides/slide17.xml" Id="Rd3f9f5edd3974e5c" /><Relationship Type="http://schemas.openxmlformats.org/officeDocument/2006/relationships/slide" Target="/ppt/slides/slide18.xml" Id="R696a39a26b3345af" /><Relationship Type="http://schemas.openxmlformats.org/officeDocument/2006/relationships/slide" Target="/ppt/slides/slide19.xml" Id="R5927ef6b78e94606" /><Relationship Type="http://schemas.openxmlformats.org/officeDocument/2006/relationships/slide" Target="/ppt/slides/slide20.xml" Id="R5ee03c75bcd54aec" /><Relationship Type="http://schemas.openxmlformats.org/officeDocument/2006/relationships/slide" Target="/ppt/slides/slide21.xml" Id="Rc382a1279cc64a84" /><Relationship Type="http://schemas.openxmlformats.org/officeDocument/2006/relationships/slide" Target="/ppt/slides/slide22.xml" Id="Rfffc4733fc3545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b8eed9f95340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b7436f5212438b" /><Relationship Type="http://schemas.openxmlformats.org/officeDocument/2006/relationships/notesMaster" Target="/ppt/notesMasters/notesMaster1.xml" Id="R6adba5f9f5914a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96f4b801c54a62" /><Relationship Type="http://schemas.openxmlformats.org/officeDocument/2006/relationships/notesMaster" Target="/ppt/notesMasters/notesMaster1.xml" Id="R2812715402ee48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79e723ad144ef0" /><Relationship Type="http://schemas.openxmlformats.org/officeDocument/2006/relationships/notesMaster" Target="/ppt/notesMasters/notesMaster1.xml" Id="R175a08beca7f41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1c33f35abc455d" /><Relationship Type="http://schemas.openxmlformats.org/officeDocument/2006/relationships/notesMaster" Target="/ppt/notesMasters/notesMaster1.xml" Id="Rad521e38908f4d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8a132aca6f4215" /><Relationship Type="http://schemas.openxmlformats.org/officeDocument/2006/relationships/notesMaster" Target="/ppt/notesMasters/notesMaster1.xml" Id="R9347b116515e4f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3c40357ebc451e" /><Relationship Type="http://schemas.openxmlformats.org/officeDocument/2006/relationships/notesMaster" Target="/ppt/notesMasters/notesMaster1.xml" Id="R530e09e0e0fa44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5888b666a5442f" /><Relationship Type="http://schemas.openxmlformats.org/officeDocument/2006/relationships/notesMaster" Target="/ppt/notesMasters/notesMaster1.xml" Id="R3adb6e396af94a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731bd675914d7b" /><Relationship Type="http://schemas.openxmlformats.org/officeDocument/2006/relationships/notesMaster" Target="/ppt/notesMasters/notesMaster1.xml" Id="R2ce0f8ccbe5341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45780538674fda" /><Relationship Type="http://schemas.openxmlformats.org/officeDocument/2006/relationships/notesMaster" Target="/ppt/notesMasters/notesMaster1.xml" Id="Rf9829072cc0743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0663bd47b349fc" /><Relationship Type="http://schemas.openxmlformats.org/officeDocument/2006/relationships/notesMaster" Target="/ppt/notesMasters/notesMaster1.xml" Id="Re8a315b1a56b42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15a6e5f4114da3" /><Relationship Type="http://schemas.openxmlformats.org/officeDocument/2006/relationships/notesMaster" Target="/ppt/notesMasters/notesMaster1.xml" Id="Rd6b4f216c29d43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28636a6bbe4fa1" /><Relationship Type="http://schemas.openxmlformats.org/officeDocument/2006/relationships/notesMaster" Target="/ppt/notesMasters/notesMaster1.xml" Id="R0eff806f61d240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68c6ca3b6a44ff" /><Relationship Type="http://schemas.openxmlformats.org/officeDocument/2006/relationships/notesMaster" Target="/ppt/notesMasters/notesMaster1.xml" Id="R75bc2077708d41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4fa5ede5464600" /><Relationship Type="http://schemas.openxmlformats.org/officeDocument/2006/relationships/notesMaster" Target="/ppt/notesMasters/notesMaster1.xml" Id="Read4b4a918a24a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25975c3f7246cd" /><Relationship Type="http://schemas.openxmlformats.org/officeDocument/2006/relationships/notesMaster" Target="/ppt/notesMasters/notesMaster1.xml" Id="Rfbe227ed053544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3fee1ca1444c81" /><Relationship Type="http://schemas.openxmlformats.org/officeDocument/2006/relationships/notesMaster" Target="/ppt/notesMasters/notesMaster1.xml" Id="Rf53649bc4fb145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2f4ba5e73f4fd9" /><Relationship Type="http://schemas.openxmlformats.org/officeDocument/2006/relationships/notesMaster" Target="/ppt/notesMasters/notesMaster1.xml" Id="Rb9625a08bf5e465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af7034881245a5" /><Relationship Type="http://schemas.openxmlformats.org/officeDocument/2006/relationships/notesMaster" Target="/ppt/notesMasters/notesMaster1.xml" Id="R0c851f007cac46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b5196e15d741b0" /><Relationship Type="http://schemas.openxmlformats.org/officeDocument/2006/relationships/notesMaster" Target="/ppt/notesMasters/notesMaster1.xml" Id="R05d4d49d1561423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2bb1c57e344265" /><Relationship Type="http://schemas.openxmlformats.org/officeDocument/2006/relationships/notesMaster" Target="/ppt/notesMasters/notesMaster1.xml" Id="Rdf1cbda543c845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b1631a7439145dd" /><Relationship Type="http://schemas.openxmlformats.org/officeDocument/2006/relationships/notesMaster" Target="/ppt/notesMasters/notesMaster1.xml" Id="R38d81f8c72454cf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e046f38a48d4e98" /><Relationship Type="http://schemas.openxmlformats.org/officeDocument/2006/relationships/notesMaster" Target="/ppt/notesMasters/notesMaster1.xml" Id="R7c98490b176247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D:/1/全球AI大赛/2e567d1a-99c1-45ce-8a0f-3d36d11f3314.pdf：官方 PPT 内容框架模板</a:t>
            </a:r>
          </a:p>
          <a:p xmlns:a="http://schemas.openxmlformats.org/drawingml/2006/main">
            <a:r>
              <a:t>D:/1/全球AI大赛/6e21b053-f18b-4857-83e2-835bd96d5434.pdf：最新版参赛指南</a:t>
            </a:r>
          </a:p>
          <a:p xmlns:a="http://schemas.openxmlformats.org/drawingml/2006/main">
            <a:r>
              <a:t>https://github.com/ASOUL-Official/asoulai-chronosfix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D:/1/全球AI大赛/6e21b053-f18b-4857-83e2-835bd96d5434.pdf：最新版参赛指南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evidence/evaluation-corpus/evaluation-summary.json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D:/1/全球AI大赛/6e21b053-f18b-4857-83e2-835bd96d5434.pdf：最新版参赛指南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docs/semifinal-guide-matrix.md</a:t>
            </a:r>
          </a:p>
          <a:p xmlns:a="http://schemas.openxmlformats.org/drawingml/2006/main">
            <a:r>
              <a:t>.github/workflows/verify.yml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scenarios/checkout-timeout/scenario.json</a:t>
            </a:r>
          </a:p>
          <a:p xmlns:a="http://schemas.openxmlformats.org/drawingml/2006/main">
            <a:r>
              <a:t>evidence/engineering-metrics.json</a:t>
            </a:r>
          </a:p>
          <a:p xmlns:a="http://schemas.openxmlformats.org/drawingml/2006/main">
            <a:r>
              <a:t>docs/business-value.md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D:/1/全球AI大赛/6e21b053-f18b-4857-83e2-835bd96d5434.pdf：最新版参赛指南</a:t>
            </a:r>
          </a:p>
          <a:p xmlns:a="http://schemas.openxmlformats.org/drawingml/2006/main">
            <a:r>
              <a:t>src/chronosfix/orchestrator.py</a:t>
            </a:r>
          </a:p>
          <a:p xmlns:a="http://schemas.openxmlformats.org/drawingml/2006/main">
            <a:r>
              <a:t>src/chronosfix/skills/risk_gate.py</a:t>
            </a:r>
          </a:p>
          <a:p xmlns:a="http://schemas.openxmlformats.org/drawingml/2006/main">
            <a:r>
              <a:t>evidence/github-pr.json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scenarios/checkout-timeout/scenario.json</a:t>
            </a:r>
          </a:p>
          <a:p xmlns:a="http://schemas.openxmlformats.org/drawingml/2006/main">
            <a:r>
              <a:t>evidence/proof-bundle.json</a:t>
            </a:r>
          </a:p>
          <a:p xmlns:a="http://schemas.openxmlformats.org/drawingml/2006/main">
            <a:r>
              <a:t>evidence/run-manifest.json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D:/1/全球AI大赛/6e21b053-f18b-4857-83e2-835bd96d5434.pdf：最新版参赛指南</a:t>
            </a:r>
          </a:p>
          <a:p xmlns:a="http://schemas.openxmlformats.org/drawingml/2006/main">
            <a:r>
              <a:t>https://github.com/agentscope-ai/AgentTeams/releases/tag/v1.2.3</a:t>
            </a:r>
          </a:p>
          <a:p xmlns:a="http://schemas.openxmlformats.org/drawingml/2006/main">
            <a:r>
              <a:t>https://github.com/agentscope-ai/AgentTeams/blob/main/docs/zh-cn/declarative-resource-management.md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https://github.com/agentscope-ai/AgentTeams/releases/tag/v1.2.3</a:t>
            </a:r>
          </a:p>
          <a:p xmlns:a="http://schemas.openxmlformats.org/drawingml/2006/main">
            <a:r>
              <a:t>https://github.com/agentscope-ai/AgentTeams/blob/main/docs/zh-cn/declarative-resource-management.md</a:t>
            </a:r>
          </a:p>
          <a:p xmlns:a="http://schemas.openxmlformats.org/drawingml/2006/main">
            <a:r>
              <a:t>agentteams/runtime/chronosfix-resources.yaml</a:t>
            </a:r>
          </a:p>
          <a:p xmlns:a="http://schemas.openxmlformats.org/drawingml/2006/main">
            <a:r>
              <a:t>evidence/agentteams-manifest-validation.json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agentteams/runtime/chronosfix-resources.yaml</a:t>
            </a:r>
          </a:p>
          <a:p xmlns:a="http://schemas.openxmlformats.org/drawingml/2006/main">
            <a:r>
              <a:t>schemas/scenario.schema.json</a:t>
            </a:r>
          </a:p>
          <a:p xmlns:a="http://schemas.openxmlformats.org/drawingml/2006/main">
            <a:r>
              <a:t>evidence/trace.jsonl</a:t>
            </a:r>
          </a:p>
          <a:p xmlns:a="http://schemas.openxmlformats.org/drawingml/2006/main">
            <a:r>
              <a:t>docs/agent-identity.md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src/chronosfix/skills/counterfactual_replay.py</a:t>
            </a:r>
          </a:p>
          <a:p xmlns:a="http://schemas.openxmlformats.org/drawingml/2006/main">
            <a:r>
              <a:t>src/chronosfix/skills/risk_gate.py</a:t>
            </a:r>
          </a:p>
          <a:p xmlns:a="http://schemas.openxmlformats.org/drawingml/2006/main">
            <a:r>
              <a:t>tests/test_evaluation.py</a:t>
            </a:r>
          </a:p>
          <a:p xmlns:a="http://schemas.openxmlformats.org/drawingml/2006/main">
            <a:r>
              <a:t>tests/test_risk_gate.py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D:/1/全球AI大赛/6e21b053-f18b-4857-83e2-835bd96d5434.pdf：最新版参赛指南</a:t>
            </a:r>
          </a:p>
          <a:p xmlns:a="http://schemas.openxmlformats.org/drawingml/2006/main">
            <a:r>
              <a:t>https://skills.aliyun.com/skills/alibabacloud-sls-query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docs/skill-specs.md</a:t>
            </a:r>
          </a:p>
          <a:p xmlns:a="http://schemas.openxmlformats.org/drawingml/2006/main">
            <a:r>
              <a:t>src/chronosfix/skills/</a:t>
            </a:r>
          </a:p>
          <a:p xmlns:a="http://schemas.openxmlformats.org/drawingml/2006/main">
            <a:r>
              <a:t>src/chronosfix/orchestrator.py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https://skills.aliyun.com/skills/alibabacloud-sls-query</a:t>
            </a:r>
          </a:p>
          <a:p xmlns:a="http://schemas.openxmlformats.org/drawingml/2006/main">
            <a:r>
              <a:t>https://github.com/aliyun/alibabacloud-aiops-skills</a:t>
            </a:r>
          </a:p>
          <a:p xmlns:a="http://schemas.openxmlformats.org/drawingml/2006/main">
            <a:r>
              <a:t>src/chronosfix/cloud_skills.py</a:t>
            </a:r>
          </a:p>
          <a:p xmlns:a="http://schemas.openxmlformats.org/drawingml/2006/main">
            <a:r>
              <a:t>evidence/cloud-skill-sls-dry-run.json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D:/1/全球AI大赛/6e21b053-f18b-4857-83e2-835bd96d5434.pdf：最新版参赛指南</a:t>
            </a:r>
          </a:p>
          <a:p xmlns:a="http://schemas.openxmlformats.org/drawingml/2006/main">
            <a:r>
              <a:t>docs/official-infra-mapping.md</a:t>
            </a:r>
          </a:p>
          <a:p xmlns:a="http://schemas.openxmlformats.org/drawingml/2006/main">
            <a:r>
              <a:t>docs/architecture.md</a:t>
            </a:r>
          </a:p>
          <a:p xmlns:a="http://schemas.openxmlformats.org/drawingml/2006/main">
            <a:r>
              <a:t>agentteams/runtime/runtime-status.md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D:/1/全球AI大赛/6e21b053-f18b-4857-83e2-835bd96d5434.pdf：最新版参赛指南</a:t>
            </a:r>
          </a:p>
          <a:p xmlns:a="http://schemas.openxmlformats.org/drawingml/2006/main">
            <a:r>
              <a:t>.github/workflows/verify.yml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evidence/run-manifest.json</a:t>
            </a:r>
          </a:p>
          <a:p xmlns:a="http://schemas.openxmlformats.org/drawingml/2006/main">
            <a:r>
              <a:t>evidence/engineering-metrics.json</a:t>
            </a:r>
          </a:p>
          <a:p xmlns:a="http://schemas.openxmlformats.org/drawingml/2006/main">
            <a:r>
              <a:t>evidence/github-pr.json</a:t>
            </a:r>
          </a:p>
          <a:p xmlns:a="http://schemas.openxmlformats.org/drawingml/2006/main">
            <a:r>
              <a:t>evidence/trace.jsonl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evidence/evaluation-corpus/evaluation-summary.json</a:t>
            </a:r>
          </a:p>
          <a:p xmlns:a="http://schemas.openxmlformats.org/drawingml/2006/main">
            <a:r>
              <a:t>evidence/evaluation-corpus/evaluation-report.md</a:t>
            </a:r>
          </a:p>
          <a:p xmlns:a="http://schemas.openxmlformats.org/drawingml/2006/main">
            <a:r>
              <a:t>scenarios/evaluation-fixtures/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scenarios/evaluation-fixtures/</a:t>
            </a:r>
          </a:p>
          <a:p xmlns:a="http://schemas.openxmlformats.org/drawingml/2006/main">
            <a:r>
              <a:t>src/chronosfix/evaluation.py</a:t>
            </a:r>
          </a:p>
          <a:p xmlns:a="http://schemas.openxmlformats.org/drawingml/2006/main">
            <a:r>
              <a:t>src/chronosfix/skills/counterfactual_replay.py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.github/workflows/verify.yml</a:t>
            </a:r>
          </a:p>
          <a:p xmlns:a="http://schemas.openxmlformats.org/drawingml/2006/main">
            <a:r>
              <a:t>schemas/scenario.schema.json</a:t>
            </a:r>
          </a:p>
          <a:p xmlns:a="http://schemas.openxmlformats.org/drawingml/2006/main">
            <a:r>
              <a:t>docs/deployment-and-verification.md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docs/business-value.md</a:t>
            </a:r>
          </a:p>
          <a:p xmlns:a="http://schemas.openxmlformats.org/drawingml/2006/main">
            <a:r>
              <a:t>docs/measurement-plan.md</a:t>
            </a:r>
          </a:p>
          <a:p xmlns:a="http://schemas.openxmlformats.org/drawingml/2006/main">
            <a:r>
              <a:t>docs/proof-carrying-change.md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LICENSE</a:t>
            </a:r>
          </a:p>
          <a:p xmlns:a="http://schemas.openxmlformats.org/drawingml/2006/main">
            <a:r>
              <a:t>THIRD_PARTY_NOTICES.md</a:t>
            </a:r>
          </a:p>
          <a:p xmlns:a="http://schemas.openxmlformats.org/drawingml/2006/main">
            <a:r>
              <a:t>SBOM.json</a:t>
            </a:r>
          </a:p>
          <a:p xmlns:a="http://schemas.openxmlformats.org/drawingml/2006/main">
            <a:r>
              <a:t>docs/open-source-compliance.md</a:t>
            </a:r>
          </a:p>
          <a:p xmlns:a="http://schemas.openxmlformats.org/drawingml/2006/main">
            <a:r>
              <a:t>agentteams/runtime/runtime-status.md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https://github.com/ASOUL-Official/asoulai-chronosfix</a:t>
            </a:r>
          </a:p>
          <a:p xmlns:a="http://schemas.openxmlformats.org/drawingml/2006/main">
            <a:r>
              <a:t>https://asoul-official.github.io/asoulai-chronosfix/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submission/submission-checklist.md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37f146d16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17062c1e854495" /><Relationship Type="http://schemas.openxmlformats.org/officeDocument/2006/relationships/slideLayout" Target="/ppt/slideLayouts/slideLayout1.xml" Id="Rfea96b96c11d43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a96b96c11d43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d4b52e9d34d57" /><Relationship Type="http://schemas.openxmlformats.org/officeDocument/2006/relationships/notesSlide" Target="/ppt/notesSlides/notesSlide1.xml" Id="R367842f3b7894b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ff444893544c5" /><Relationship Type="http://schemas.openxmlformats.org/officeDocument/2006/relationships/notesSlide" Target="/ppt/notesSlides/notesSlide2.xml" Id="R081297ee2dfa4e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f394800f749a1" /><Relationship Type="http://schemas.openxmlformats.org/officeDocument/2006/relationships/notesSlide" Target="/ppt/notesSlides/notesSlide3.xml" Id="R8f8bdedd061748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f6098fcc2444b" /><Relationship Type="http://schemas.openxmlformats.org/officeDocument/2006/relationships/notesSlide" Target="/ppt/notesSlides/notesSlide4.xml" Id="Ra5ae8f4a61b94f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5322e77d74055" /><Relationship Type="http://schemas.openxmlformats.org/officeDocument/2006/relationships/notesSlide" Target="/ppt/notesSlides/notesSlide5.xml" Id="Rffe57603ff244b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e4f2ab7b548e3" /><Relationship Type="http://schemas.openxmlformats.org/officeDocument/2006/relationships/notesSlide" Target="/ppt/notesSlides/notesSlide6.xml" Id="R95a92c62593e44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84fa9222a44e4" /><Relationship Type="http://schemas.openxmlformats.org/officeDocument/2006/relationships/notesSlide" Target="/ppt/notesSlides/notesSlide7.xml" Id="R2c56363437d24d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f5478ad5c4eb5" /><Relationship Type="http://schemas.openxmlformats.org/officeDocument/2006/relationships/notesSlide" Target="/ppt/notesSlides/notesSlide8.xml" Id="R6274e64930034c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f82d78512499a" /><Relationship Type="http://schemas.openxmlformats.org/officeDocument/2006/relationships/notesSlide" Target="/ppt/notesSlides/notesSlide9.xml" Id="R65cfb233a2c749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396c5c18c452f" /><Relationship Type="http://schemas.openxmlformats.org/officeDocument/2006/relationships/notesSlide" Target="/ppt/notesSlides/notesSlide10.xml" Id="R06a07ac94a0a48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bbe8e95324d0d" /><Relationship Type="http://schemas.openxmlformats.org/officeDocument/2006/relationships/notesSlide" Target="/ppt/notesSlides/notesSlide11.xml" Id="Re7b17796ed3c46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3ae08514e4d81" /><Relationship Type="http://schemas.openxmlformats.org/officeDocument/2006/relationships/notesSlide" Target="/ppt/notesSlides/notesSlide12.xml" Id="Refac801858844c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14b7b9ad14b85" /><Relationship Type="http://schemas.openxmlformats.org/officeDocument/2006/relationships/notesSlide" Target="/ppt/notesSlides/notesSlide13.xml" Id="Rc9bf12b4e68444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60f0487b14f95" /><Relationship Type="http://schemas.openxmlformats.org/officeDocument/2006/relationships/notesSlide" Target="/ppt/notesSlides/notesSlide14.xml" Id="Rac9e8032c3674f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ede4d623443d8" /><Relationship Type="http://schemas.openxmlformats.org/officeDocument/2006/relationships/notesSlide" Target="/ppt/notesSlides/notesSlide15.xml" Id="R0da65e256ef44e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93630fc634af1" /><Relationship Type="http://schemas.openxmlformats.org/officeDocument/2006/relationships/notesSlide" Target="/ppt/notesSlides/notesSlide16.xml" Id="R843450c0f4c14f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d888279ce4e11" /><Relationship Type="http://schemas.openxmlformats.org/officeDocument/2006/relationships/notesSlide" Target="/ppt/notesSlides/notesSlide17.xml" Id="R91f9ad05d59d4d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d8b2988434083" /><Relationship Type="http://schemas.openxmlformats.org/officeDocument/2006/relationships/notesSlide" Target="/ppt/notesSlides/notesSlide18.xml" Id="R1ba97c9436eb4e4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fe5da3a414ac9" /><Relationship Type="http://schemas.openxmlformats.org/officeDocument/2006/relationships/notesSlide" Target="/ppt/notesSlides/notesSlide19.xml" Id="Rfd21943c2e9b4f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3fb0020aa4ad7" /><Relationship Type="http://schemas.openxmlformats.org/officeDocument/2006/relationships/notesSlide" Target="/ppt/notesSlides/notesSlide20.xml" Id="R8a030cf9e2884f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7247dbbea4f5d" /><Relationship Type="http://schemas.openxmlformats.org/officeDocument/2006/relationships/notesSlide" Target="/ppt/notesSlides/notesSlide21.xml" Id="R9e2d7e07be5845b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db2adc3844ef2" /><Relationship Type="http://schemas.openxmlformats.org/officeDocument/2006/relationships/notesSlide" Target="/ppt/notesSlides/notesSlide22.xml" Id="Rc7ef082f6a4443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9A3AF-6EC5-4674-AE37-01DB5499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10971-89C4-4CAD-9655-CEF39906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B8A6"/>
                </a:solidFill>
              </a:defRPr>
            </a:pPr>
            <a:r>
              <a:rPr sz="1350" b="1">
                <a:solidFill>
                  <a:srgbClr val="14B8A6"/>
                </a:solidFill>
              </a:rPr>
              <a:t>GOAI 世界人工智能开源大赛 · Agent Infra 新智基座 · 方向三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3E29F-39F1-4781-82DF-FCAC90C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AsoulAI ChronosFix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5AAC4-058E-4599-A0FC-19EE4CB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A-CFX：软件故障时间机器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6A244-B313-4168-926C-FB344584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3F5"/>
                </a:solidFill>
              </a:defRPr>
            </a:pPr>
            <a:r>
              <a:rPr sz="1800" b="0">
                <a:solidFill>
                  <a:srgbClr val="D7E3F5"/>
                </a:solidFill>
              </a:rPr>
              <a:t>让每次变更都携带可验证证据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DC734-3227-4291-A774-E39FE73D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790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86AD8-EBB4-4708-8FC6-38F02262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60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4B8A6"/>
                </a:solidFill>
              </a:defRPr>
            </a:pPr>
            <a:r>
              <a:rPr sz="1050" b="1">
                <a:solidFill>
                  <a:srgbClr val="14B8A6"/>
                </a:solidFill>
              </a:rPr>
              <a:t>官方模板 · 复赛验证版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DB30C-A725-42F3-835A-570A074C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32C2D-7D74-4642-A8E2-392431B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052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队伍：AsoulAI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34A2C-B6F4-4C7C-8C16-A5686C70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3860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40808-5CEC-4F43-9A49-9C31152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052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复赛 V1.0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3D05A-1126-4ABC-B157-6CC6C991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6F38F-9008-4433-815E-8D1E2D1B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335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事故证据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0A782-1D61-4790-8258-4FE4538A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193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6DEC2-F70B-43E1-92B2-641E9505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76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反事实实验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E9AAA-6266-46B9-B2A4-ACBAC165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ED6FB-D2F8-4F06-AEDF-DD6AAE1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957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风险门禁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C367A-0DCA-4ED9-858C-2F721335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385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08797B-3A26-4229-8EEF-5C3E0B1D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957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故障基因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0F2A1-6BBB-4F4A-ADB9-FE7A5AF7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19350"/>
            <a:ext cx="12763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39978E-8EFB-41D2-A10B-D18BB0D9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765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资产复用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F93B0-2E6C-4067-9FBB-0AAF53B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4B8A6"/>
                </a:solidFill>
              </a:defRPr>
            </a:pPr>
            <a:r>
              <a:rPr sz="2550" b="1">
                <a:solidFill>
                  <a:srgbClr val="14B8A6"/>
                </a:solidFill>
              </a:rPr>
              <a:t>A-CFX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4F545-1B87-422F-876C-1E59A453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FC7E8"/>
                </a:solidFill>
              </a:defRPr>
            </a:pPr>
            <a:r>
              <a:rPr sz="1125" b="0">
                <a:solidFill>
                  <a:srgbClr val="AFC7E8"/>
                </a:solidFill>
              </a:rPr>
              <a:t>代码包 · 在线 Demo · 评测 · Trace · 审计证据</a:t>
            </a:r>
          </a:p>
        </p:txBody>
      </p:sp>
    </p:spTree>
    <p:extLst>
      <p:ext uri="{BB962C8B-B14F-4D97-AF65-F5344CB8AC3E}">
        <p14:creationId xmlns:p14="http://schemas.microsoft.com/office/powerpoint/2010/main" val="66839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77E7E-94EA-444B-BC99-2FABD2E2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P0 · 一页纸速览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564B8-BCDA-4810-8FC1-0187A827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把“会修复”升级为“可验证、可协同、可发布”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E2301-2DBF-4E7B-B3F5-D7A124D9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初赛：固定演示链路；复赛新增：Manager 按证据自由组合 Agent/Skill、动态协同、异常注入与 57 项验收。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D2485-F15C-4E3F-9B32-B9230C46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5585C-260B-47CC-BC46-F19F2CD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项目名称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5A123-CCF8-45C2-B3E2-EB4B09C7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ChronosFix（A-CFX）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带证明的软件变更基础设施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BE5CF-D950-4C95-BF5E-C83A1996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A9F03-A503-4D9C-879C-266D62B0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问题与场景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B3FBF-FF07-479F-8238-1B8682A8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050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多源变更下，AI 能给建议，却难证明因果、验证补丁并让组织放心合并。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AEDC1-A891-4B1C-9FEB-8312888E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22618-6887-41B1-A2DA-C6721D93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核心方案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E792C-BD8F-45AA-9965-E2F988D6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DynamicScheduler 驱动 8 个 Worker；证据触发任务插入、失败重派与人工恢复。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270A9-0FD8-465A-BCB8-C8494E7E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480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8D0CC-1B68-4FE7-B2D7-1E2E5162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创新差异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F8A6A-9490-4C00-B2E2-97B1D818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Proof-Carrying Change + 动态协同：无法区分就拒答，证据不全就阻断发布。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D5B26-CB63-41CD-B7F6-131AEAF6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AF8CC-79CE-4C70-877C-B6C39DE5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开放复用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4E279-63DC-4E10-9EEA-55C9D3B2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开放代码、Schema、12 场景、证据护照、AgentTeams v1beta1 资源与评测脚本。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604840-107E-4012-91E8-1252D469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434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2FB08-2360-40DE-9E67-DCE5F9D6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1485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C2626"/>
                </a:solidFill>
              </a:defRPr>
            </a:pPr>
            <a:r>
              <a:rPr sz="1575" b="1">
                <a:solidFill>
                  <a:srgbClr val="DC2626"/>
                </a:solidFill>
              </a:rPr>
              <a:t>复赛新增 · 红字对比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8B810-C07D-43A2-8EA9-07F88447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95850"/>
            <a:ext cx="434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57 项测试；9/9 支持范围诊断正确；1/1 冲突安全拒答；Agent Manager 会按证据自由组合 Agent/Skill。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E3F14-1A67-4506-9410-6A92598F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673238-70F4-41BD-A952-5A45322F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0724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099107-C7F1-4C0F-8B94-8000D42F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方案总览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04EC8-06BD-403A-88C1-9F3ACA8E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复赛不是加功能列表，而是让每个结论都可核验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534AD-D9E2-4A29-AD57-958CAC88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围绕完整链路、运行证据、失败处理、权限审批与开放规范升级底层工程。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4297A-BE28-44C9-B947-7DB1BC4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0ACBE-3413-4FBF-9069-BE9B4408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初赛已交付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C9E15-6926-4C7A-895D-B3140FDF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场景闭环、7 职能 Agent、9 Skill、确定性 Demo 与公开仓库。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FB94F-FB5A-4AE1-A753-F61955E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BA140-CF96-4042-903A-916973B1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底层逻辑升级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62F03-B6BA-4FEB-928C-EDC43A1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47900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Fail-closed RiskGate、真实 checks、回滚验证、可辨识性仲裁与哈希绑定。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1902A-47ED-45C5-B1D5-B8D0D80F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51C49-20C5-47AB-9167-1B17B34E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复赛新增证据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D2ACE-B017-43C0-A94B-784C722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v1beta1 资源、官方 SLS Skill 契约、12 场景评测、CI、SBOM 与 Demo 评委模式。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2F401-87A5-4A9B-8667-9B2C1F96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732AC-7D69-4C20-A842-BF8640A0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输入 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06265-FFD5-416C-B517-12D12832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7C600-5CBF-4FE1-A420-0C8EEEF0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1C410-B244-44F6-8816-9C7A0555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B8A6"/>
                </a:solidFill>
              </a:defRPr>
            </a:pPr>
            <a:r>
              <a:rPr sz="1425" b="1">
                <a:solidFill>
                  <a:srgbClr val="14B8A6"/>
                </a:solidFill>
              </a:rPr>
              <a:t>因果仲裁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B8854-FAC7-48CB-BE32-A4403D26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9B1CE-85EB-4E6F-A959-57249714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AD794-1CCE-4A21-8CBD-2C7F8F3A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补丁竞赛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830D8-CFD9-4421-881A-715D7167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E1A90-0C19-4141-AF37-37C0EB19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7C2E0-05E1-453D-9361-DB058108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97316"/>
                </a:solidFill>
              </a:defRPr>
            </a:pPr>
            <a:r>
              <a:rPr sz="1425" b="1">
                <a:solidFill>
                  <a:srgbClr val="F97316"/>
                </a:solidFill>
              </a:rPr>
              <a:t>RiskGate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7C41C-2164-480A-BE23-26A5CD70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0F31D-859C-4145-95A7-EB0EC3C4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2FA7F-20E2-4311-81B7-2D84CDEE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34A"/>
                </a:solidFill>
              </a:defRPr>
            </a:pPr>
            <a:r>
              <a:rPr sz="1425" b="1">
                <a:solidFill>
                  <a:srgbClr val="16A34A"/>
                </a:solidFill>
              </a:rPr>
              <a:t>证据护照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06234-42EA-41F8-AE8A-22975C5A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768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一条 run_id 串联 scenario → experiments → checks → PR → run-manifest。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A6C5B-A3F8-4D4B-B2CA-BB90D7BD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E1CC8-9E1B-40B1-8D9F-D23F37EC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4686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CE12DC-7CE4-4F16-8279-0C1DF779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场景与价值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BF0D2-88E8-44C3-AB54-517A7489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真正昂贵的不是找答案，而是无法放心合并答案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83875-6D10-4507-8828-B6C34C6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目标用户：中大型研发组织、平台工程团队、云厂商 DevOps / AIOps 产品线。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9D5CE-8B2C-4549-BB73-AE75FE69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41C14-3BD6-4C83-8CF8-BAB5CC25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事故成本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D97D7-B790-4EF2-99F6-5BDA8F71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代码、配置、依赖与流量同窗变化，人工排查慢且知识难沉淀。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1D676-E571-4307-A4CE-0358D8A0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32CB4-415A-4CBC-9BFF-B354DAF1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组织风险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08822-CE42-4064-BC1A-C814340E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AI 建议若缺因果、验证、回滚和审批证据，就无法进入发布流程。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318D2-02A2-4598-BCB1-0113EFE3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8A521-5237-4EA1-B0BE-F8766997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购买理由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05B61-48F8-48B2-A937-5861F8E9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让每个 PR 自动携带可审查证据，并把事故沉淀为跨团队质量资产。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754A6-F0BE-4FB8-8B88-667E155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80CBB-3DA8-42D7-AF77-18528CAC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DC2626"/>
                </a:solidFill>
              </a:defRPr>
            </a:pPr>
            <a:r>
              <a:rPr sz="2325" b="1">
                <a:solidFill>
                  <a:srgbClr val="DC2626"/>
                </a:solidFill>
              </a:rPr>
              <a:t>48.72%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489EE-4CD6-48DA-9F85-780D537E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Demo 基线失败率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E54C7-13C9-4F3F-B500-F006FFD9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7B409-459F-4116-95BB-9A6A79D9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97316"/>
                </a:solidFill>
              </a:defRPr>
            </a:pPr>
            <a:r>
              <a:rPr sz="2325" b="1">
                <a:solidFill>
                  <a:srgbClr val="F97316"/>
                </a:solidFill>
              </a:rPr>
              <a:t>6.25%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2DE7F-55B6-47A3-A50C-07A3C740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补丁最坏失败率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D07BA-2269-4B68-8D58-D1A499D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863C6-A328-4434-BB4A-4194C6F0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7C3AED"/>
                </a:solidFill>
              </a:defRPr>
            </a:pPr>
            <a:r>
              <a:rPr sz="2325" b="1">
                <a:solidFill>
                  <a:srgbClr val="7C3AED"/>
                </a:solidFill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4E27C-037E-4774-9A08-9532771A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强制故障变体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48C6A-2AFF-49F0-8953-08904B6B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F99CF-16B9-41EC-B801-0C47B40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49FD6-0982-490E-96D0-FC90BD6A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证据护照声明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275F8-5336-4677-85C4-DC09B6B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9B0A4-91C7-49DE-9C70-F4A447A7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A34A"/>
                </a:solidFill>
              </a:defRPr>
            </a:pPr>
            <a:r>
              <a:rPr sz="2325" b="1">
                <a:solidFill>
                  <a:srgbClr val="16A34A"/>
                </a:solidFill>
              </a:rPr>
              <a:t>57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510B7-7E41-4D97-B1BA-9A4E2679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自动化测试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4EB48-5CAB-4AD3-BCB1-7D656D53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91150"/>
            <a:ext cx="979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商业命题：不是替代研发判断，而是降低评审证据准备、误合并风险与合规审计成本。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FD70A8-99D0-4813-A4DB-BFAF6074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387C7-3AA4-42E0-88DF-C63EF902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2216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099107-C7F1-4C0F-8B94-8000D42F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方案总览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04EC8-06BD-403A-88C1-9F3ACA8E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从事故信号到可合并 PR，一条 run_id 贯穿闭环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534AD-D9E2-4A29-AD57-958CAC88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AgentTeams 负责编排，Skill 负责动作，RiskGate 决定是否允许发布。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4297A-BE28-44C9-B947-7DB1BC4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0ACBE-3413-4FBF-9069-BE9B4408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任务触发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C9E15-6926-4C7A-895D-B3140FDF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Issue、日志、Trace、Git、配置与流量进入统一场景契约。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FB94F-FB5A-4AE1-A753-F61955E5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BA140-CF96-4042-903A-916973B1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协同执行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62F03-B6BA-4FEB-928C-EDC43A13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47900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8 Worker 围绕 IncidentState 分工；冲突由反事实与可辨识性仲裁裁决。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1902A-47ED-45C5-B1D5-B8D0D80F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2952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51C49-20C5-47AB-9167-1B17B34E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发布输出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D2ACE-B017-43C0-A94B-784C722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47900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生成补丁变更、回滚契约、checks、PR 草案、证据护照与可复用 Skill 候选。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2F401-87A5-4A9B-8667-9B2C1F96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732AC-7D69-4C20-A842-BF8640A0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证据融合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06265-FFD5-416C-B517-12D12832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7C600-5CBF-4FE1-A420-0C8EEEF0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1C410-B244-44F6-8816-9C7A0555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B8A6"/>
                </a:solidFill>
              </a:defRPr>
            </a:pPr>
            <a:r>
              <a:rPr sz="1425" b="1">
                <a:solidFill>
                  <a:srgbClr val="14B8A6"/>
                </a:solidFill>
              </a:rPr>
              <a:t>Counterfactual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B8854-FAC7-48CB-BE32-A4403D26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9B1CE-85EB-4E6F-A959-57249714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AD794-1CCE-4A21-8CBD-2C7F8F3A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Fault Genome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830D8-CFD9-4421-881A-715D7167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E1A90-0C19-4141-AF37-37C0EB19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7C2E0-05E1-453D-9361-DB058108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97316"/>
                </a:solidFill>
              </a:defRPr>
            </a:pPr>
            <a:r>
              <a:rPr sz="1425" b="1">
                <a:solidFill>
                  <a:srgbClr val="F97316"/>
                </a:solidFill>
              </a:rPr>
              <a:t>补丁竞赛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A7C41C-2164-480A-BE23-26A5CD70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053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0F31D-859C-4145-95A7-EB0EC3C4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24300"/>
            <a:ext cx="1581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32FA7F-20E2-4311-81B7-2D84CDEE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719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A34A"/>
                </a:solidFill>
              </a:defRPr>
            </a:pPr>
            <a:r>
              <a:rPr sz="1425" b="1">
                <a:solidFill>
                  <a:srgbClr val="16A34A"/>
                </a:solidFill>
              </a:rPr>
              <a:t>门禁护照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06234-42EA-41F8-AE8A-22975C5A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768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安全分支：证据不足、check 失败、回滚缺失或无命名审批人 → draft / blocked。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A6C5B-A3F8-4D4B-B2CA-BB90D7BD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2E1CC8-9E1B-40B1-8D9F-D23F37EC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4686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3A64E-3859-42DA-BD3B-86BB07C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完整场景链路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9548-23AA-4708-8679-B1D3AC10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同一个事故，输入是场景契约，输出是变更契约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6553F-9E6A-448A-A83C-BACDB983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样例：订单创建接口在 120 RPS 下出现 48.72% 失败率与 606.96 ms P99。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2DB25-A175-4B54-B33A-C45F3287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1EB2F-1B90-43E3-932A-035BEA1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输入 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0FB0E-B551-4579-B7F6-6925237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scenario.json：事件、基线、假设、补丁候选、变体与 Ground Truth。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5190C-27F3-439B-A7EE-B5E48D3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19F9C-61A2-4081-B533-1743F555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因果结论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22F0A-8D71-470E-96FF-F4BB730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连接池缩容是主因；依赖延迟是放大器；日志代码变更非因果。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9EEB9-3540-4BE7-86AE-C548ABD0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74A66-2262-4C25-86C2-C7D7681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变更契约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2342A-44BA-4040-9822-F57B7B4E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selected: pool_size 8→24；rollback: 24→8；8 个强制变体验证。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0EB7F-C661-486A-BA85-4217877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E8B7E-82F4-4AFA-86BF-581F797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发布状态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255F1-333B-4E77-BFD9-56855BA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quality_gate=passed；release=approved；审批人和理由进入摘要哈希。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C0A35-0238-48DB-825E-24B8586D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FAE8B-6825-4CF1-85B1-01D26F0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18 个 Span、6 个动态任务、38 个协同事件；均关联同一 run_id。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398F4-9428-4BF9-A56B-A7DBCA0A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BDAFA-661B-42EB-B4BF-C9965804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Run Manifest 绑定场景、补丁、回滚、审批和产物 SHA-256。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BAF8D-9BE4-4CC8-9B68-EC9110A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47387-283F-421F-89D1-983E26A6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本页数据来自合成确定性回放，不代表真实生产准确率或 MTTR。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7E1EA-ABAE-485F-A9D1-B47FCA4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8E55C-C7CD-418A-813C-90AA0B0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123450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174FC-3631-4BD2-9FA3-952FE9D0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51681-6389-477F-A7CC-13444827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B8A6"/>
                </a:solidFill>
              </a:defRPr>
            </a:pPr>
            <a:r>
              <a:rPr sz="2100" b="1">
                <a:solidFill>
                  <a:srgbClr val="14B8A6"/>
                </a:solidFill>
              </a:rPr>
              <a:t>第二章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D4896-7538-42CB-82F4-CAE395C1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AgentTeams 多 Agent 协同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0CF87-C3CE-446E-BED0-ACA7A55E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FC7E8"/>
                </a:solidFill>
              </a:defRPr>
            </a:pPr>
            <a:r>
              <a:rPr sz="1500" b="0">
                <a:solidFill>
                  <a:srgbClr val="AFC7E8"/>
                </a:solidFill>
              </a:rPr>
              <a:t>必选基座：编排、拆解、上下文、执行、追踪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469E5-980F-4C11-9386-F414E6AF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B15D2-9C53-405D-BF97-D700FE65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多 Agent 协同与自主闭环能力 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C708E-9D45-4B00-8E82-98637F10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AsoulAI · A-CFX · 官方模板复赛版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BF3FF-86FB-417D-840D-9E30ADD5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4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725027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18F6B6-2F9D-4609-ADF1-A99D9687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多 Agent 协同设计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B323F-A44C-49CE-A45E-BFFB7580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AgentTeams v1beta1：资源声明与动态任务图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FFD52-C0D9-4015-A97C-28A4D199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1 Manager、8 Worker、1 Team、1 Human；Controller / Matrix 尚未执行。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1218B-FCCB-4026-B652-FFE5B658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28E87-3E04-4155-82B4-0AAA67A9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AD5F6-CE3E-4B69-AC3B-64974F54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7E3F5"/>
                </a:solidFill>
              </a:defRPr>
            </a:pPr>
            <a:r>
              <a:rPr sz="1125" b="0">
                <a:solidFill>
                  <a:srgbClr val="D7E3F5"/>
                </a:solidFill>
              </a:rPr>
              <a:t>入口路由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7E3F5"/>
                </a:solidFill>
              </a:defRPr>
            </a:pPr>
            <a:r>
              <a:rPr sz="1125" b="0">
                <a:solidFill>
                  <a:srgbClr val="D7E3F5"/>
                </a:solidFill>
              </a:rPr>
              <a:t>状态协调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E7C6C-C8E2-46F8-9F16-637A4293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EBA33-74E1-41BB-B1D8-BBEED03F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2A2D0-9DB0-40FC-86A5-9776A857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Commander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7B1AA-F928-4B2C-ADD3-F0A1B903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Team Leader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任务拆解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D95EE-153A-4F77-90A4-E47B706B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38E11-53BB-4215-B166-8FF4EEF9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6035E-0AE3-45A7-A4A9-81FAD79F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Timeline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A45FD-43BB-4C1F-83DF-B0C0D483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证据融合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时间线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E5BA6-2405-4599-B17E-DEE22CB5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C9C8D-4674-4C6D-A1A2-71692CD3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2DB74-9FC2-4D02-8D5D-FEFC7CD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EE38D-E19D-4261-A573-3451B0D7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假设契约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可证伪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293C8-F604-4EDF-A5FB-43AFC465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A2544-DD6B-4BA3-91C7-3DFEBBA7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E9EAF-7F83-4B39-B956-76B26D26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Universe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386FD-F5B0-40E2-8684-BB1D9EEA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反事实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故障基因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CE27A-98CD-4FA3-AC6C-344EA679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02B9B-48F9-466C-AA17-392685F3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FA35A-4A1D-4536-BA16-48AF5BD8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Patch / 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2ADA9-659C-4617-BC54-2D171F76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补丁竞赛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回滚验证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D44C31-A383-4F4A-A262-732307B4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E1FA04-33A1-4A42-A04B-A316627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B84AD-94DC-41B5-B046-A9883CFC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Audit / Curate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4E7578-C80C-45C5-8CB1-FE5D9818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门禁审计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Skill 沉淀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2F961-543D-4D4B-BC57-C0184796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1F882D-BBC9-4EAF-990D-BF38841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角色编排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51D9C6-75DF-49AD-94D3-11797C03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Team leader / Worker 分工
Human 审批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11126B-F434-48C3-9724-993EE9EC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4D1816-45B3-4801-ACE5-D0557136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资源证据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0507FF-81AC-4D54-8659-9B6F9405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11 份声明校验通过
依赖版本已锁定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66DADB-94B3-41DD-A9DC-1CE0FC20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C6799C-ADC1-4DD6-B729-EDC79C04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执行边界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52E1E4-9685-4219-BE37-C242D0B9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compatible mapping
非真实 Worker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CE66DE-2185-4AA6-8F7F-92AF3F24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78100A-72B4-4AB1-B888-93E3C2D1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4833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18F6B6-2F9D-4609-ADF1-A99D9687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多 Agent 协同设计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B323F-A44C-49CE-A45E-BFFB7580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角色靠状态契约协同，任务会随证据变化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FFD52-C0D9-4015-A97C-28A4D199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Worker 只写负责分区；Commander 做路由、裁决与升级；新证据可插入任务。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1218B-FCCB-4026-B652-FFE5B658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07111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A28E87-3E04-4155-82B4-0AAA67A9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AD5F6-CE3E-4B69-AC3B-64974F54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7E3F5"/>
                </a:solidFill>
              </a:defRPr>
            </a:pPr>
            <a:r>
              <a:rPr sz="1125" b="0">
                <a:solidFill>
                  <a:srgbClr val="D7E3F5"/>
                </a:solidFill>
              </a:rPr>
              <a:t>接收事件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7E3F5"/>
                </a:solidFill>
              </a:defRPr>
            </a:pPr>
            <a:r>
              <a:rPr sz="1125" b="0">
                <a:solidFill>
                  <a:srgbClr val="D7E3F5"/>
                </a:solidFill>
              </a:rPr>
              <a:t>校验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E7C6C-C8E2-46F8-9F16-637A4293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EBA33-74E1-41BB-B1D8-BBEED03F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2A2D0-9DB0-40FC-86A5-9776A857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7B1AA-F928-4B2C-ADD3-F0A1B903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合并证据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重建时间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7D95EE-153A-4F77-90A4-E47B706B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38E11-53BB-4215-B166-8FF4EEF9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6035E-0AE3-45A7-A4A9-81FAD79F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Hypothesis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A45FD-43BB-4C1F-83DF-B0C0D483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登记假设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干预契约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E5BA6-2405-4599-B17E-DEE22CB5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C9C8D-4674-4C6D-A1A2-71692CD3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2DB74-9FC2-4D02-8D5D-FEFC7CD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EE38D-E19D-4261-A573-3451B0D7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反事实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可辨识性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293C8-F604-4EDF-A5FB-43AFC465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8A2544-DD6B-4BA3-91C7-3DFEBBA7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7E9EAF-7F83-4B39-B956-76B26D26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386FD-F5B0-40E2-8684-BB1D9EEA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补丁候选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回滚契约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CE27A-98CD-4FA3-AC6C-344EA679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02B9B-48F9-466C-AA17-392685F3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FA35A-4A1D-4536-BA16-48AF5BD8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2ADA9-659C-4617-BC54-2D171F76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变体验证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真实 checks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D44C31-A383-4F4A-A262-732307B4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E1FA04-33A1-4A42-A04B-A3166275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943100"/>
            <a:ext cx="12763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DB84AD-94DC-41B5-B046-A9883CFC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526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Audit / Curate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4E7578-C80C-45C5-8CB1-FE5D9818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28900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审批审计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资产沉淀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32F961-543D-4D4B-BC57-C0184796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1F882D-BBC9-4EAF-990D-BF388413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上下文传递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51D9C6-75DF-49AD-94D3-11797C03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IncidentState + revision
任务图 / 实验 / 补丁 / 审批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11126B-F434-48C3-9724-993EE9EC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4D1816-45B3-4801-ACE5-D0557136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状态追踪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0507FF-81AC-4D54-8659-9B6F9405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run / trace / state revision
attempt / reassign / PR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66DADB-94B3-41DD-A9DC-1CE0FC20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57650"/>
            <a:ext cx="2781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C6799C-ADC1-4DD6-B729-EDC79C04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291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异常分支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52E1E4-9685-4219-BE37-C242D0B9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010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timeout→reassign / duplicate→dedup
stale approval→pause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CE66DE-2185-4AA6-8F7F-92AF3F24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78100A-72B4-4AB1-B888-93E3C2D1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483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3A64E-3859-42DA-BD3B-86BB07C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因果治理与发布安全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9548-23AA-4708-8679-B1D3AC10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先证明“能区分”，再决定“能发布”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6553F-9E6A-448A-A83C-BACDB983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可辨识性仲裁与 RiskGate 分别解决“结论可靠”和“动作可放行”。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2DB25-A175-4B54-B33A-C45F3287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1EB2F-1B90-43E3-932A-035BEA1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同干预冲突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0FB0E-B551-4579-B7F6-6925237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多个来源假设若映射到相同干预，统一降级为 indeterminate。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5190C-27F3-439B-A7EE-B5E48D3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19F9C-61A2-4081-B533-1743F555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无主因证据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22F0A-8D71-470E-96FF-F4BB730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没有可辨识 primary cause 时，counterfactual check 失败并阻断 PR 放行。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9EEB9-3540-4BE7-86AE-C548ABD0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74A66-2262-4C25-86C2-C7D7681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验证不完整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2342A-44BA-4040-9822-F57B7B4E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强制变体、Evidence Passport、回滚或 required checks 任一缺失即 fail closed。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0EB7F-C661-486A-BA85-4217877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E8B7E-82F4-4AFA-86BF-581F797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中高风险审批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255F1-333B-4E77-BFD9-56855BA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必须提供命名审批人和理由；布尔 approve 不能替代人工身份。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C0A35-0238-48DB-825E-24B8586D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FAE8B-6825-4CF1-85B1-01D26F0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quality_gate 与 release_decision 分离：技术通过不等于已获发布授权。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398F4-9428-4BF9-A56B-A7DBCA0A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BDAFA-661B-42EB-B4BF-C9965804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approval digest 绑定 scenario hash、patch hash、patch id 与 policy version。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BAF8D-9BE4-4CC8-9B68-EC9110A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47387-283F-421F-89D1-983E26A6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证据不足时给出 blocker，而不是为了 Demo 生成绿色成功状态。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7E1EA-ABAE-485F-A9D1-B47FCA4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8E55C-C7CD-418A-813C-90AA0B0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23450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A6C68-A8E7-4B83-A962-7BE1882A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56205-4B6A-4D4A-B00C-A3080223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B8A6"/>
                </a:solidFill>
              </a:defRPr>
            </a:pPr>
            <a:r>
              <a:rPr sz="2100" b="1">
                <a:solidFill>
                  <a:srgbClr val="14B8A6"/>
                </a:solidFill>
              </a:rPr>
              <a:t>第三章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D042B-FFA3-4127-A5F7-17AF375C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Skill 工程与云操作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75583-44CC-498F-AE05-8ABE0EA9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FC7E8"/>
                </a:solidFill>
              </a:defRPr>
            </a:pPr>
            <a:r>
              <a:rPr sz="1500" b="0">
                <a:solidFill>
                  <a:srgbClr val="AFC7E8"/>
                </a:solidFill>
              </a:rPr>
              <a:t>核心 Skill、官方云 Skill、鉴权、失败处理与生命周期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AB388-EAC4-4ED1-8DA8-3097788C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20AE0-4968-4A51-89A3-960A937C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Skill 工程体系与生态复用 25%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FEF93-2460-4CB1-9632-C34D8E3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AsoulAI · A-CFX · 官方模板复赛版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E01D7-7639-4C3A-A368-8FE8EAF0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4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57229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A41772-A10F-45D8-A53B-155C5FD9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Skill 工程体系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88AD7-A3DA-4B6F-A9F2-F224AACB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10 个 Skill 能力覆盖证据、因果、验证、协同与资产复用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98A44-E822-4990-8D67-2B98A0C4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每项能力有契约、权限边界、运行时发现、验证方式和版本演进。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33599-8209-4F20-988E-066B83A3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CE5F1-B31A-4D33-93CC-8376BF27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EvidenceFusion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26759-81C2-4F4B-89E4-AF84C07B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多源证据与缺口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D3E7A-4D92-434E-B9A1-59E257A8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55680-843F-48DB-A7DA-FBE225EB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478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B8A6"/>
                </a:solidFill>
              </a:defRPr>
            </a:pPr>
            <a:r>
              <a:rPr sz="1425" b="1">
                <a:solidFill>
                  <a:srgbClr val="14B8A6"/>
                </a:solidFill>
              </a:rPr>
              <a:t>ChangeTimeline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FE4B4-31EE-4C18-8C33-51B11BA3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时序对齐与去重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A0406-01C0-40D9-A809-5D2C5B4B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177B3-B41C-4D27-BD9E-BCA287D2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CounterfactualReplay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3EA37-BD3E-4C80-9D68-9F694CC2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干预效果回放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9BD8C-F6C5-4DCA-A047-B20D08F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0F967-0D72-4BFF-8848-C918858B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Identifiability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66D0B-2112-4FFB-B03E-8C85F3AB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同干预冲突仲裁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F85A7-7494-46BD-B803-593CC9F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03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D7645-498F-4FDF-ABC0-8DDC646D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B8A6"/>
                </a:solidFill>
              </a:defRPr>
            </a:pPr>
            <a:r>
              <a:rPr sz="1425" b="1">
                <a:solidFill>
                  <a:srgbClr val="14B8A6"/>
                </a:solidFill>
              </a:rPr>
              <a:t>FaultGenome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578A8-6A73-42A8-9E15-8549A5F6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故障变体生成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BC87B-7177-4D8F-BAF3-5D717ABE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4F3C5-02A9-4EB0-BC90-2F4BF368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PatchTournament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933A0-4008-4C24-8D6A-EE702E3F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575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补丁竞赛评分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64011-8D78-4D61-A553-9E2F2F80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6C7D0-762B-4788-8E4D-AD8F169B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RiskGate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6634D-2057-4F50-AAC2-5C337AFB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三态门禁审批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6B367-9967-4E63-AFD8-9D219006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24A285-AB67-415F-8D8F-F42D372A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B8A6"/>
                </a:solidFill>
              </a:defRPr>
            </a:pPr>
            <a:r>
              <a:rPr sz="1425" b="1">
                <a:solidFill>
                  <a:srgbClr val="14B8A6"/>
                </a:solidFill>
              </a:rPr>
              <a:t>EvidencePassport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F96D6-1F0B-4A25-B064-BE030ED1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624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证明与缺口声明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594872-2FCA-4720-B37C-6260B2AB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2952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A2CBB3-4237-4BB7-8336-B3CBD7AA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576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C3AED"/>
                </a:solidFill>
              </a:defRPr>
            </a:pPr>
            <a:r>
              <a:rPr sz="1425" b="1">
                <a:solidFill>
                  <a:srgbClr val="7C3AED"/>
                </a:solidFill>
              </a:rPr>
              <a:t>Report + SkillForge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68A70-AD09-4A0B-A3FD-EDA6D8A5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报告与复用候选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425F8E-A654-48A9-A0F1-EE40A782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57800"/>
            <a:ext cx="979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生命周期：候选 → 回放评测 → 人工评审 → 版本发布 → 监控 → 回滚；新 Skill 不自动上线。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00853-0293-49DA-829E-64DC2480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121243-7B3A-4565-9368-2B706A27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479431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3A64E-3859-42DA-BD3B-86BB07C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官方云 Skill 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9548-23AA-4708-8679-B1D3AC10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官方 SLS Skill 已进入 Worker 工具契约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6553F-9E6A-448A-A83C-BACDB983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默认 dry-run；真实查询需要参赛者在本地配置只读 RAM Profile。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2DB25-A175-4B54-B33A-C45F3287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1EB2F-1B90-43E3-932A-035BEA1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官方来源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0FB0E-B551-4579-B7F6-6925237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skills.aliyun.com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alibabacloud-sls-query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上游 commit 已锁定。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5190C-27F3-439B-A7EE-B5E48D3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19F9C-61A2-4081-B533-1743F555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鉴权边界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22F0A-8D71-470E-96FF-F4BB730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RAM Profile / 环境凭证
密钥不落盘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9EEB9-3540-4BE7-86AE-C548ABD0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74A66-2262-4C25-86C2-C7D7681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Worker 编排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2342A-44BA-4040-9822-F57B7B4E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只读 GetIndex / GetLogsV2
窗口≤24h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0EB7F-C661-486A-BA85-4217877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E8B7E-82F4-4AFA-86BF-581F797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失败处理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255F1-333B-4E77-BFD9-56855BA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先做 Schema 校验
CLI / 权限错误入审计
返回 evidence missing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C0A35-0238-48DB-825E-24B8586D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FAE8B-6825-4CF1-85B1-01D26F0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最小 RAM 权限：log:GetIndex、log:GetLogStoreLogs；User-Agent 标注 Skill 来源。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398F4-9428-4BF9-A56B-A7DBCA0A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BDAFA-661B-42EB-B4BF-C9965804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已完成 adapter 契约测试与 dry-run 证据；没有声称成功访问真实 SLS。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BAF8D-9BE4-4CC8-9B68-EC9110A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47387-283F-421F-89D1-983E26A6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真实端到端验证需要 Project、Logstore 和只读 RAM Profile，且不会要求在聊天中粘贴密钥。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7E1EA-ABAE-485F-A9D1-B47FCA4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8E55C-C7CD-418A-813C-90AA0B0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123450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498559-CDA6-4343-AF39-3C429121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技术架构与迁移边界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36364-832D-4913-B2A2-49229CBF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不堆产品：先有证据闭环，再平滑迁移云上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5A2CC-01D7-4B89-B41A-28F206E4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每个推荐组件都说明必要性、权限边界、可替换性与迁移成本。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866D5-DC47-4B51-AE2E-DB241FC3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04296-68D0-481B-9985-4B277404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当前已实现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2EB36-59F2-458F-8773-CFB84328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v1beta1 资源、本地内核、SLS 只读适配器、JSON 证据与 GitHub 草案。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3A94C-4FFD-424C-88DE-67849D10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930CE-1745-473B-87D5-B2E30778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已验证契约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D6E01-6FBA-4ACB-A5AC-C88983DF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Schema、鉴权、错误、审批、回滚、审计均有文档和测试。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5A47F-F998-41D0-9F15-91D199DA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EBF84-BCAC-4351-A4BA-E1B1FB5F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生产化目标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00B52-62A8-4205-AEB6-35CCF28E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AgentTeams / Nacos / Higress
PolarDB / RocketMQ / 可观测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880F9-E26E-4BFB-A361-420DB85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3B2DA-809B-40BD-AE18-54C90D37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能力域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9B9CA-11E7-4BEB-96EE-5C21F809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C68D1-8AF8-43DC-8A27-4C3D28D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当前可验证实现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487AD-C7CC-4A09-AAB2-AE12A531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31BA2-750B-43A3-925C-8BF140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目标组件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C7297-320A-47B4-B111-4E685A43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1BDF0-2429-42A2-938D-12925E66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协同 / 治理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952F3-FB75-418F-BC61-44F0DECE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ED93F-87AB-4EA7-A954-F51EF2C5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v1beta1 声明 + 本地编排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ABE24-241B-47C5-98CE-E33D0A20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D4954-4C88-411A-BC2F-E20E03C5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AgentTeams + Nacos + Higress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64A04B-3C2F-4012-82C4-B38010FA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C68AF-A7DC-4FF4-AEAF-D97C2BDE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数据 / 事件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7E4D6-966D-415A-A551-EA74981B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045FE-7DA2-412D-BEF0-9B3DA5DC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JSON / JSONL + Run Manifest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3E951-5C2B-45AB-8D61-60D29335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1D7D40-3FB4-4103-9C91-DF829484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PolarDB + UnifiedModel + RocketMQ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440A6-55FA-45C7-BE3B-12FEDC9D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86A94-0CBC-476A-A293-FA6394C9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可观测 / 评测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EDB9C7-9866-4324-BFB5-9B623B7E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A75813-15A8-4DB7-992B-EB9AB7C5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Trace / Log / Metrics + 12 场景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12686D-89BB-4F73-883A-4B4ACF74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FC5696-096C-4E31-83A3-F70E6CA1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LoongSuite + Studio / AgentLoop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E94CCF-FCBB-4029-BF4D-8408C447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358A3-0D1D-4450-9D9A-BE6D5976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921325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A46C1-937A-4A48-97D6-73B1C855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A162E-D300-4818-B041-EC02C6DE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4B8A6"/>
                </a:solidFill>
              </a:defRPr>
            </a:pPr>
            <a:r>
              <a:rPr sz="2100" b="1">
                <a:solidFill>
                  <a:srgbClr val="14B8A6"/>
                </a:solidFill>
              </a:rPr>
              <a:t>第四章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2F97D-C1F9-4355-85B6-C37D993D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工程验证、安全与可审计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AD024-2F77-41F6-B103-D00EB101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FC7E8"/>
                </a:solidFill>
              </a:defRPr>
            </a:pPr>
            <a:r>
              <a:rPr sz="1500" b="0">
                <a:solidFill>
                  <a:srgbClr val="AFC7E8"/>
                </a:solidFill>
              </a:rPr>
              <a:t>对应官方 PPT 框架与评分维度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6FDD4-00EA-44C0-A283-875D88A8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600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>
              <a:alpha val="6000"/>
            </a:srgbClr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F6341-2712-4C0B-BAF3-5E440BF0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546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工程落地与安全可审计 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4725C-D44C-4BBA-A9C3-6867931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AsoulAI · A-CFX · 官方模板复赛版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05F19-33D9-4131-B6FD-62766501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4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FC7E8"/>
                </a:solidFill>
              </a:defRPr>
            </a:pPr>
            <a:r>
              <a:rPr sz="1050" b="0">
                <a:solidFill>
                  <a:srgbClr val="AFC7E8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887948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3A64E-3859-42DA-BD3B-86BB07C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运行证据链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9548-23AA-4708-8679-B1D3AC10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一次运行不是截图，而是一组互相绑定的证据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6553F-9E6A-448A-A83C-BACDB983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scenario、patch、rollback、approval、coordination 与 16 个输出文件由 run-manifest 哈希绑定。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2DB25-A175-4B54-B33A-C45F3287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1EB2F-1B90-43E3-932A-035BEA1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0FB0E-B551-4579-B7F6-6925237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18 个 Span；起止时间、duration 与 parent span 全部实测。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5190C-27F3-439B-A7EE-B5E48D3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19F9C-61A2-4081-B533-1743F555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22F0A-8D71-470E-96FF-F4BB730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反事实、故障变体、回滚契约 3 项 required checks 全部执行并记录 exit code。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9EEB9-3540-4BE7-86AE-C548ABD0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74A66-2262-4C25-86C2-C7D7681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RiskGate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2342A-44BA-4040-9822-F57B7B4E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quality_gate=passed；release=approved；命名审批人、理由与策略版本可追溯。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0EB7F-C661-486A-BA85-4217877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E8B7E-82F4-4AFA-86BF-581F797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Run Manifest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255F1-333B-4E77-BFD9-56855BA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场景、变更、回滚、审批输入和每个证据文件均记录 SHA-256。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C0A35-0238-48DB-825E-24B8586D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FAE8B-6825-4CF1-85B1-01D26F0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Metrics 区分 measured / derived；协调事件含 revision、attempt、dedup 和 pause/resume。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398F4-9428-4BF9-A56B-A7DBCA0A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BDAFA-661B-42EB-B4BF-C9965804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PR 草案直接读取选中 changes、rollback_changes、checks 与 gate，不再硬编码成功。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BAF8D-9BE4-4CC8-9B68-EC9110A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47387-283F-421F-89D1-983E26A6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当前主证据 run_id：run-a9200f31…；trace_id：df6e0a144…；coordination.json 可复核。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7E1EA-ABAE-485F-A9D1-B47FCA4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8E55C-C7CD-418A-813C-90AA0B0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123450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CE12DC-7CE4-4F16-8279-0C1DF779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Golden / Badcase 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BF0D2-88E8-44C3-AB54-517A7489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评测不藏失败：9/9 正确诊断，1/1 安全拒答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83875-6D10-4507-8828-B6C34C6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12 个合成场景：9 Golden、2 Badcase、1 Insufficient Evidence；不代表生产准确率。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9D5CE-8B2C-4549-BB73-AE75FE69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41C14-3BD6-4C83-8CF8-BAB5CC25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Golden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D97D7-B790-4EF2-99F6-5BDA8F71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当前确定性模拟器支持范围内 9/9 命中 Ground Truth。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1D676-E571-4307-A4CE-0358D8A0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32CB4-415A-4CBC-9BFF-B354DAF1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冲突拒答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08822-CE42-4064-BC1A-C814340E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相同干预对应多个来源假设时 1/1 安全 abstain。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318D2-02A2-4598-BCB1-0113EFE3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3048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8A521-5237-4EA1-B0BE-F8766997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8120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已知漏诊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05B61-48F8-48B2-A937-5861F8E9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代码版本与队列积压尚未建模，2 项 Badcase 不计入成功。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754A6-F0BE-4FB8-8B88-667E1558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80CBB-3DA8-42D7-AF77-18528CAC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DC2626"/>
                </a:solidFill>
              </a:defRPr>
            </a:pPr>
            <a:r>
              <a:rPr sz="2325" b="1">
                <a:solidFill>
                  <a:srgbClr val="DC2626"/>
                </a:solidFill>
              </a:rPr>
              <a:t>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489EE-4CD6-48DA-9F85-780D537E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总样例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E54C7-13C9-4F3F-B500-F006FFD9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7B409-459F-4116-95BB-9A6A79D9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97316"/>
                </a:solidFill>
              </a:defRPr>
            </a:pPr>
            <a:r>
              <a:rPr sz="2325" b="1">
                <a:solidFill>
                  <a:srgbClr val="F97316"/>
                </a:solidFill>
              </a:rPr>
              <a:t>10/12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2DE7F-55B6-47A3-A50C-07A3C740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达成预期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D07BA-2269-4B68-8D58-D1A499D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863C6-A328-4434-BB4A-4194C6F0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7C3AED"/>
                </a:solidFill>
              </a:defRPr>
            </a:pPr>
            <a:r>
              <a:rPr sz="2325" b="1">
                <a:solidFill>
                  <a:srgbClr val="7C3AED"/>
                </a:solidFill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4E27C-037E-4774-9A08-9532771A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受支持诊断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48C6A-2AFF-49F0-8953-08904B6B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9F99CF-16B9-41EC-B801-0C47B40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563EB"/>
                </a:solidFill>
              </a:defRPr>
            </a:pPr>
            <a:r>
              <a:rPr sz="2325" b="1">
                <a:solidFill>
                  <a:srgbClr val="2563EB"/>
                </a:solidFill>
              </a:rPr>
              <a:t>100%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49FD6-0982-490E-96D0-FC90BD6A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冲突拒答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275F8-5336-4677-85C4-DC09B6B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9B0A4-91C7-49DE-9C70-F4A447A7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6A34A"/>
                </a:solidFill>
              </a:defRPr>
            </a:pPr>
            <a:r>
              <a:rPr sz="2325" b="1">
                <a:solidFill>
                  <a:srgbClr val="16A34A"/>
                </a:solidFill>
              </a:rPr>
              <a:t>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510B7-7E41-4D97-B1BA-9A4E2679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意外强行归因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4EB48-5CAB-4AD3-BCB1-7D656D53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91150"/>
            <a:ext cx="979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口径：9/9 与 1/1 是合成确定性回放结果；两项 unsupported 漏诊透明保留。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FD70A8-99D0-4813-A4DB-BFAF6074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387C7-3AA4-42E0-88DF-C63EF902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422163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498559-CDA6-4343-AF39-3C429121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失败案例与能力边界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36364-832D-4913-B2A2-49229CBF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Badcase 公开保留，边界才能变成路线图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5A2CC-01D7-4B89-B41A-28F206E4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不受支持的根因不强行归因；可辨识性不足时明确 abstain。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866D5-DC47-4B51-AE2E-DB241FC3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04296-68D0-481B-9985-4B277404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代码回归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2EB36-59F2-458F-8773-CFB84328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code_version 只作哨兵，尚未进入行为模型；当前漏诊并阻断发布。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3A94C-4FFD-424C-88DE-67849D10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930CE-1745-473B-87D5-B2E30778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队列积压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D6E01-6FBA-4ACB-A5AC-C88983DF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队列深度与消费速率尚未建模；不冒充 RocketMQ 根因回放。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5A47F-F998-41D0-9F15-91D199DA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8575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EBF84-BCAC-4351-A4BA-E1B1FB5F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62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来源冲突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00B52-62A8-4205-AEB6-35CCF28E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43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两个来源假设映射到同一干预时标记 indeterminate，等待来源级证据。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880F9-E26E-4BFB-A361-420DB856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3B2DA-809B-40BD-AE18-54C90D37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样例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9B9CA-11E7-4BEB-96EE-5C21F809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C68D1-8AF8-43DC-8A27-4C3D28D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系统行为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487AD-C7CC-4A09-AAB2-AE12A531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231BA2-750B-43A3-925C-8BF140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338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发布结果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C7297-320A-47B4-B111-4E685A43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1BDF0-2429-42A2-938D-12925E66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code-regression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952F3-FB75-418F-BC61-44F0DECE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ED93F-87AB-4EA7-A954-F51EF2C5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abstain / 已知漏诊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ABE24-241B-47C5-98CE-E33D0A20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D4954-4C88-411A-BC2F-E20E03C5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910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blocked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64A04B-3C2F-4012-82C4-B38010FA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AC68AF-A7DC-4FF4-AEAF-D97C2BDE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queue-backlog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7E4D6-966D-415A-A551-EA74981B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9045FE-7DA2-412D-BEF0-9B3DA5DC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abstain / 已知漏诊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03E951-5C2B-45AB-8D61-60D29335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339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1D7D40-3FB4-4103-9C91-DF829484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482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blocked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3440A6-55FA-45C7-BE3B-12FEDC9D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86A94-0CBC-476A-A293-FA6394C9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conflicting-sources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EDB9C7-9866-4324-BFB5-9B623B7E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A75813-15A8-4DB7-992B-EB9AB7C5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indeterminate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12686D-89BB-4F73-883A-4B4ACF74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911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FC5696-096C-4E31-83A3-F70E6CA1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054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01828"/>
                </a:solidFill>
              </a:defRPr>
            </a:pPr>
            <a:r>
              <a:rPr sz="1050" b="0">
                <a:solidFill>
                  <a:srgbClr val="101828"/>
                </a:solidFill>
              </a:rPr>
              <a:t>待来源级证据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E94CCF-FCBB-4029-BF4D-8408C447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358A3-0D1D-4450-9D9A-BE6D5976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921325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13A64E-3859-42DA-BD3B-86BB07C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部署与复现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AA9548-23AA-4708-8679-B1D3AC10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评委可以按 README 从零复现核心闭环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6553F-9E6A-448A-A83C-BACDB983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依赖、配置、样例输入输出、资源声明和运行证据全部进入仓库。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2DB25-A175-4B54-B33A-C45F3287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1EB2F-1B90-43E3-932A-035BEA1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核心入口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0FB0E-B551-4579-B7F6-6925237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demo.py --approve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--approver &lt;name&gt;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--approval-reason &lt;reason&gt;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5190C-27F3-439B-A7EE-B5E48D31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19F9C-61A2-4081-B533-1743F555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AgentTeams 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22F0A-8D71-470E-96FF-F4BB730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agentteams/run_chronosfix_team.py 输出动态 transcript、任务事件与同源证据。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9EEB9-3540-4BE7-86AE-C548ABD0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74A66-2262-4C25-86C2-C7D7681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C3AED"/>
                </a:solidFill>
              </a:defRPr>
            </a:pPr>
            <a:r>
              <a:rPr sz="1575" b="1">
                <a:solidFill>
                  <a:srgbClr val="7C3AED"/>
                </a:solidFill>
              </a:rPr>
              <a:t>契约与 CI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2342A-44BA-4040-9822-F57B7B4E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scenario.schema.json + v1beta1 校验；Python 3.10–3.12 跑 57 项测试。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0EB7F-C661-486A-BA85-42178773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381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E8B7E-82F4-4AFA-86BF-581F797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Demo 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255F1-333B-4E77-BFD9-56855BA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1962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GitHub Pages 静态站读取生成的 demo-data.json；不保存凭证，不写生产。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C0A35-0238-48DB-825E-24B8586D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57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FAE8B-6825-4CF1-85B1-01D26F04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CI 同时运行 12 场景评测、严格 JSON/JSONL 校验与 AgentTeams 资源校验。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398F4-9428-4BF9-A56B-A7DBCA0A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BDAFA-661B-42EB-B4BF-C9965804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核心运行仅依赖 Python 标准库；可选 PyYAML 用于资源声明验证。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BAF8D-9BE4-4CC8-9B68-EC9110A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47387-283F-421F-89D1-983E26A6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本地执行、dry-run 和真实外部执行在 UI、日志与文档中使用不同状态标签。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7E1EA-ABAE-485F-A9D1-B47FCA43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8E55C-C7CD-418A-813C-90AA0B0E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123450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DD836-A520-45DA-B3BD-B7B4156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落地计划与进展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50880-7681-490F-BDA5-609886AC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商业化卖的不是改代码，而是变更治理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5B148-5D1F-4537-A3F9-FA98D6B1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以 DevOps / AIOps 增值模块切入，逐步形成组织级质量资产网络。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087A0-6162-4BAB-A330-AD81D886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2724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52100-DC21-426D-A8C6-4C4A9488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81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团队试点版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B56DF-06A7-488A-B93B-5AA4D148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2305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Incident→PR 证据闭环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可复现评测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人工审批与回滚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71EC2-5C2C-4783-A0E5-4EEC2089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956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895DD-04D1-4789-A395-90389E13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2724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774B9-E13E-4B0F-B11B-8CC73359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81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企业集成版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5BB15-591E-4257-B951-8EB19153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2305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Git / CI / 日志 / SSO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私有部署与审计导出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策略治理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F4206-D920-4805-B876-4B264E4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593CA-F654-4F44-B67A-09CECA89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724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5C9B9-B87D-4EC1-99DB-760BC6DE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平台生态版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14683-2A26-4FAD-A64E-7C3AA963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2305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跨团队 Skill Registry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故障基因库与 Benchmark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质量资产复用网络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C8DDB-D6C4-4FC2-BC90-2672A75A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C9FCF-D105-4171-95E6-0E8A885D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863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采购角色：平台工程、研发效能、SRE 与云厂商；收费可采用订阅 + 集成 + 私有部署。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92F55-7BCA-46A5-9F16-5A84BD14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6348B-6075-4A58-8CB0-82DEDF7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054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价值指标：评审耗时、误合并率、回滚恢复时长、审计准备成本；真实收益需通过试点测量。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E59EB-0099-4A81-8133-169352BB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D46D0-0FF6-44D1-8C27-008A28AB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857494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DD836-A520-45DA-B3BD-B7B4156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落地计划与进展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50880-7681-490F-BDA5-609886AC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开放核心协议与评测，生产执行保持最小权限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5B148-5D1F-4537-A3F9-FA98D6B1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开源让方法可复核，权限边界让企业敢接入。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087A0-6162-4BAB-A330-AD81D886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2724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52100-DC21-426D-A8C6-4C4A9488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81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已开放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B56DF-06A7-488A-B93B-5AA4D148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2305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代码、Schema、12 场景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Worker Skill、证据格式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评测与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71EC2-5C2C-4783-A0E5-4EEC2089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956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895DD-04D1-4789-A395-90389E13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2724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774B9-E13E-4B0F-B11B-8CC73359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81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合规边界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5BB15-591E-4257-B951-8EB19153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2305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Apache-2.0、SBOM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合成数据；不提交密钥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第三方依赖披露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F4206-D920-4805-B876-4B264E4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593CA-F654-4F44-B67A-09CECA89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2724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5C9B9-B87D-4EC1-99DB-760BC6DE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7316"/>
                </a:solidFill>
              </a:defRPr>
            </a:pPr>
            <a:r>
              <a:rPr sz="1575" b="1">
                <a:solidFill>
                  <a:srgbClr val="F97316"/>
                </a:solidFill>
              </a:rPr>
              <a:t>下一阶段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14683-2A26-4FAD-A64E-7C3AA963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23050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真实 AgentTeams Runtime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只读 SLS / MCP / RAG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AgentLoop / Studio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C8DDB-D6C4-4FC2-BC90-2672A75A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C9FCF-D105-4171-95E6-0E8A885D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863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当前状态：本地动态控制面已实测；Controller / Matrix、真实 SLS 与 canary 仍待外部环境。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92F55-7BCA-46A5-9F16-5A84BD14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0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6348B-6075-4A58-8CB0-82DEDF7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05400"/>
            <a:ext cx="912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</a:defRPr>
            </a:pPr>
            <a:r>
              <a:rPr sz="1575" b="0">
                <a:solidFill>
                  <a:srgbClr val="101828"/>
                </a:solidFill>
              </a:rPr>
              <a:t>原则：组件数量不计分；只在闭环证据需要时引入，并披露替换原因与迁移成本。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E59EB-0099-4A81-8133-169352BB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D46D0-0FF6-44D1-8C27-008A28AB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8574946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B84F2-61C8-4C1A-858D-D03B1760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97316"/>
                </a:solidFill>
              </a:defRPr>
            </a:pPr>
            <a:r>
              <a:rPr sz="1125" b="1">
                <a:solidFill>
                  <a:srgbClr val="F97316"/>
                </a:solidFill>
              </a:rPr>
              <a:t>团队与提交物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30797-E4E0-4BCF-AE8C-2A49EEF5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AsoulAI 交付完整复赛包，不只是一个概念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571A1-8249-4B12-B656-054A23C7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方案、代码、Demo、评测、Trace、审计和开放计划均可独立进入与复核。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00A48-5771-4B87-BAB4-57060752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1907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D5316-3E6D-493A-9BA4-5986FAAF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队伍名称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F4A4D-89EA-4F03-A553-E88ED9C4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AsoulAI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6F9CD-3F75-4A48-98C4-6CFF756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90700"/>
            <a:ext cx="3143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70F44-1FC8-4921-BF41-B36DC507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B8A6"/>
                </a:solidFill>
              </a:defRPr>
            </a:pPr>
            <a:r>
              <a:rPr sz="1575" b="1">
                <a:solidFill>
                  <a:srgbClr val="14B8A6"/>
                </a:solidFill>
              </a:rPr>
              <a:t>作品名称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75DB2-57C8-4BC6-9EA9-89893175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ChronosFix：软件故障时间机器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3E6CE-B52A-4ABB-A162-6C784E14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90700"/>
            <a:ext cx="4000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B6A29-7CA9-4C6A-8590-51098F7A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62150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6A34A"/>
                </a:solidFill>
              </a:defRPr>
            </a:pPr>
            <a:r>
              <a:rPr sz="1575" b="1">
                <a:solidFill>
                  <a:srgbClr val="16A34A"/>
                </a:solidFill>
              </a:rPr>
              <a:t>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E9A99-4019-492B-A6A4-04C4A06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43150"/>
            <a:ext cx="358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828"/>
                </a:solidFill>
              </a:defRPr>
            </a:pPr>
            <a:r>
              <a:rPr sz="1200" b="0">
                <a:solidFill>
                  <a:srgbClr val="101828"/>
                </a:solidFill>
              </a:rPr>
              <a:t>https://asoul-official.github.io/asoulai-chronosfix/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5ABEC-DB60-4EDA-91BB-8711BECF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5FB3B-B73D-4B9E-A934-28107962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代码仓库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FBA4B-BC6D-4381-9391-0D67A3E6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github.com/ASOUL-Official/
asoulai-chronosfix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D0971-E418-4BF6-95EB-535E1BAD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AFBEF8-87D5-47B2-9003-AC3580B2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97316"/>
                </a:solidFill>
              </a:defRPr>
            </a:pPr>
            <a:r>
              <a:rPr sz="1275" b="1">
                <a:solidFill>
                  <a:srgbClr val="F97316"/>
                </a:solidFill>
              </a:rPr>
              <a:t>方案材料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32FC2-ED46-42EF-A00B-23BDCD80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0045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submission/ChronosFix_复赛方案.pptx / .pdf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FA537-CBBC-4CAA-9302-959AC903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081B4-B75C-4191-A244-244FD57A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196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可验证证据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D0C899-9AE8-4840-83B5-33BA6BA6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196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evidence/ + evaluation-corpus/ + run-manifest.json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EFBFA-4777-4E18-A0D8-AB3DB779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48150"/>
            <a:ext cx="4267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1FCA4-8DE3-4AE0-8B45-3669A6A8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196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97316"/>
                </a:solidFill>
              </a:defRPr>
            </a:pPr>
            <a:r>
              <a:rPr sz="1275" b="1">
                <a:solidFill>
                  <a:srgbClr val="F97316"/>
                </a:solidFill>
              </a:rPr>
              <a:t>核心结论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23ACC-B924-4EA5-B0CE-9E5E37D9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19600"/>
            <a:ext cx="272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01828"/>
                </a:solidFill>
              </a:defRPr>
            </a:pPr>
            <a:r>
              <a:rPr sz="1125" b="0">
                <a:solidFill>
                  <a:srgbClr val="101828"/>
                </a:solidFill>
              </a:rPr>
              <a:t>根因可证明｜补丁可验证｜发布可审计｜事故可复用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A51BE4-1766-48C0-AA24-E0D1CFCB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67350"/>
            <a:ext cx="967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</a:defRPr>
            </a:pPr>
            <a:r>
              <a:rPr sz="1725" b="1">
                <a:solidFill>
                  <a:srgbClr val="101828"/>
                </a:solidFill>
              </a:rPr>
              <a:t>A-CFX：让每次软件变更都携带证据，让每次事故都沉淀为质量资产。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7921B-2589-4CE8-80A0-158C15D5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AsoulAI ChronosFix / A-CFX · GOAI Agent Infra 复赛方案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F877A-34C5-41E1-90B9-4E681060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436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665142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2026-08-31T02:16:06.0830000Z</dcterms:created>
  <dcterms:modified xsi:type="dcterms:W3CDTF">2026-08-31T02:16:06.0830000Z</dcterms:modified>
</coreProperties>
</file>