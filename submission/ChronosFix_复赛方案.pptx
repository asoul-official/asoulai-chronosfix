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2df4ee2f7f546ac" /><Relationship Type="http://schemas.openxmlformats.org/officeDocument/2006/relationships/extended-properties" Target="/docProps/app.xml" Id="R9daae7a4dac240fd" /><Relationship Type="http://schemas.openxmlformats.org/officeDocument/2006/relationships/officeDocument" Target="/ppt/presentation.xml" Id="R2b9306c8b2c34ca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5ad53815e4e443b"/>
  </p:sldMasterIdLst>
  <p:notesMasterIdLst>
    <p:notesMasterId xmlns:r="http://schemas.openxmlformats.org/officeDocument/2006/relationships" r:id="R312cb59c3e1a4cdc"/>
  </p:notesMasterIdLst>
  <p:sldIdLst>
    <p:sldId xmlns:r="http://schemas.openxmlformats.org/officeDocument/2006/relationships" id="256" r:id="Rdd7fcd7488f04236"/>
    <p:sldId xmlns:r="http://schemas.openxmlformats.org/officeDocument/2006/relationships" id="257" r:id="Rb3ae95538b38426b"/>
    <p:sldId xmlns:r="http://schemas.openxmlformats.org/officeDocument/2006/relationships" id="258" r:id="Rf2fb7c2a70c54d60"/>
    <p:sldId xmlns:r="http://schemas.openxmlformats.org/officeDocument/2006/relationships" id="259" r:id="R23545eb3032144c1"/>
    <p:sldId xmlns:r="http://schemas.openxmlformats.org/officeDocument/2006/relationships" id="260" r:id="Rd56d3eabcda14f12"/>
    <p:sldId xmlns:r="http://schemas.openxmlformats.org/officeDocument/2006/relationships" id="261" r:id="R525a8527fd924a6f"/>
    <p:sldId xmlns:r="http://schemas.openxmlformats.org/officeDocument/2006/relationships" id="262" r:id="R71605a7ed41b45ad"/>
    <p:sldId xmlns:r="http://schemas.openxmlformats.org/officeDocument/2006/relationships" id="263" r:id="R6e1bd503aa1f43ef"/>
    <p:sldId xmlns:r="http://schemas.openxmlformats.org/officeDocument/2006/relationships" id="264" r:id="R16004f46d3a04ab6"/>
    <p:sldId xmlns:r="http://schemas.openxmlformats.org/officeDocument/2006/relationships" id="265" r:id="R0795dd9213aa486d"/>
    <p:sldId xmlns:r="http://schemas.openxmlformats.org/officeDocument/2006/relationships" id="266" r:id="R01ebb32da2074493"/>
    <p:sldId xmlns:r="http://schemas.openxmlformats.org/officeDocument/2006/relationships" id="267" r:id="R5a7424f82e204992"/>
    <p:sldId xmlns:r="http://schemas.openxmlformats.org/officeDocument/2006/relationships" id="268" r:id="R1bf145b4749b41db"/>
    <p:sldId xmlns:r="http://schemas.openxmlformats.org/officeDocument/2006/relationships" id="269" r:id="Rcb3e10ae90a44f4e"/>
    <p:sldId xmlns:r="http://schemas.openxmlformats.org/officeDocument/2006/relationships" id="270" r:id="Rf56f53652dd24551"/>
    <p:sldId xmlns:r="http://schemas.openxmlformats.org/officeDocument/2006/relationships" id="271" r:id="Rb00e406e75564d5f"/>
    <p:sldId xmlns:r="http://schemas.openxmlformats.org/officeDocument/2006/relationships" id="272" r:id="R2726b0cdbdb74c40"/>
    <p:sldId xmlns:r="http://schemas.openxmlformats.org/officeDocument/2006/relationships" id="273" r:id="R700fcfdf84804b77"/>
    <p:sldId xmlns:r="http://schemas.openxmlformats.org/officeDocument/2006/relationships" id="274" r:id="Rd5d5dc1ee25b4706"/>
    <p:sldId xmlns:r="http://schemas.openxmlformats.org/officeDocument/2006/relationships" id="275" r:id="Re0f7375bd2bf49a8"/>
    <p:sldId xmlns:r="http://schemas.openxmlformats.org/officeDocument/2006/relationships" id="276" r:id="R63f41356b6c24df9"/>
    <p:sldId xmlns:r="http://schemas.openxmlformats.org/officeDocument/2006/relationships" id="277" r:id="R9d42c475625943e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b63f8b7d4814ec8" /><Relationship Type="http://schemas.openxmlformats.org/officeDocument/2006/relationships/slideMaster" Target="/ppt/slideMasters/slideMaster1.xml" Id="R55ad53815e4e443b" /><Relationship Type="http://schemas.openxmlformats.org/officeDocument/2006/relationships/notesMaster" Target="/ppt/notesMasters/notesMaster1.xml" Id="R312cb59c3e1a4cdc" /><Relationship Type="http://schemas.openxmlformats.org/officeDocument/2006/relationships/presProps" Target="/ppt/presProps.xml" Id="R9b038cf0d8694dd5" /><Relationship Type="http://schemas.openxmlformats.org/officeDocument/2006/relationships/tableStyles" Target="/ppt/tableStyles.xml" Id="R58c26080611e43c7" /><Relationship Type="http://schemas.openxmlformats.org/officeDocument/2006/relationships/slide" Target="/ppt/slides/slide1.xml" Id="Rdd7fcd7488f04236" /><Relationship Type="http://schemas.openxmlformats.org/officeDocument/2006/relationships/slide" Target="/ppt/slides/slide2.xml" Id="Rb3ae95538b38426b" /><Relationship Type="http://schemas.openxmlformats.org/officeDocument/2006/relationships/slide" Target="/ppt/slides/slide3.xml" Id="Rf2fb7c2a70c54d60" /><Relationship Type="http://schemas.openxmlformats.org/officeDocument/2006/relationships/slide" Target="/ppt/slides/slide4.xml" Id="R23545eb3032144c1" /><Relationship Type="http://schemas.openxmlformats.org/officeDocument/2006/relationships/slide" Target="/ppt/slides/slide5.xml" Id="Rd56d3eabcda14f12" /><Relationship Type="http://schemas.openxmlformats.org/officeDocument/2006/relationships/slide" Target="/ppt/slides/slide6.xml" Id="R525a8527fd924a6f" /><Relationship Type="http://schemas.openxmlformats.org/officeDocument/2006/relationships/slide" Target="/ppt/slides/slide7.xml" Id="R71605a7ed41b45ad" /><Relationship Type="http://schemas.openxmlformats.org/officeDocument/2006/relationships/slide" Target="/ppt/slides/slide8.xml" Id="R6e1bd503aa1f43ef" /><Relationship Type="http://schemas.openxmlformats.org/officeDocument/2006/relationships/slide" Target="/ppt/slides/slide9.xml" Id="R16004f46d3a04ab6" /><Relationship Type="http://schemas.openxmlformats.org/officeDocument/2006/relationships/slide" Target="/ppt/slides/slide10.xml" Id="R0795dd9213aa486d" /><Relationship Type="http://schemas.openxmlformats.org/officeDocument/2006/relationships/slide" Target="/ppt/slides/slide11.xml" Id="R01ebb32da2074493" /><Relationship Type="http://schemas.openxmlformats.org/officeDocument/2006/relationships/slide" Target="/ppt/slides/slide12.xml" Id="R5a7424f82e204992" /><Relationship Type="http://schemas.openxmlformats.org/officeDocument/2006/relationships/slide" Target="/ppt/slides/slide13.xml" Id="R1bf145b4749b41db" /><Relationship Type="http://schemas.openxmlformats.org/officeDocument/2006/relationships/slide" Target="/ppt/slides/slide14.xml" Id="Rcb3e10ae90a44f4e" /><Relationship Type="http://schemas.openxmlformats.org/officeDocument/2006/relationships/slide" Target="/ppt/slides/slide15.xml" Id="Rf56f53652dd24551" /><Relationship Type="http://schemas.openxmlformats.org/officeDocument/2006/relationships/slide" Target="/ppt/slides/slide16.xml" Id="Rb00e406e75564d5f" /><Relationship Type="http://schemas.openxmlformats.org/officeDocument/2006/relationships/slide" Target="/ppt/slides/slide17.xml" Id="R2726b0cdbdb74c40" /><Relationship Type="http://schemas.openxmlformats.org/officeDocument/2006/relationships/slide" Target="/ppt/slides/slide18.xml" Id="R700fcfdf84804b77" /><Relationship Type="http://schemas.openxmlformats.org/officeDocument/2006/relationships/slide" Target="/ppt/slides/slide19.xml" Id="Rd5d5dc1ee25b4706" /><Relationship Type="http://schemas.openxmlformats.org/officeDocument/2006/relationships/slide" Target="/ppt/slides/slide20.xml" Id="Re0f7375bd2bf49a8" /><Relationship Type="http://schemas.openxmlformats.org/officeDocument/2006/relationships/slide" Target="/ppt/slides/slide21.xml" Id="R63f41356b6c24df9" /><Relationship Type="http://schemas.openxmlformats.org/officeDocument/2006/relationships/slide" Target="/ppt/slides/slide22.xml" Id="R9d42c475625943e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9e0865186449d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21f9aa5cbb54a4d" /><Relationship Type="http://schemas.openxmlformats.org/officeDocument/2006/relationships/notesMaster" Target="/ppt/notesMasters/notesMaster1.xml" Id="Ra86c7d4fd7284da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0d451b7dcda456d" /><Relationship Type="http://schemas.openxmlformats.org/officeDocument/2006/relationships/notesMaster" Target="/ppt/notesMasters/notesMaster1.xml" Id="Rdb20721baa8b46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9676cd274cf4752" /><Relationship Type="http://schemas.openxmlformats.org/officeDocument/2006/relationships/notesMaster" Target="/ppt/notesMasters/notesMaster1.xml" Id="Ra69725007a514e2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aa43f44b56e4321" /><Relationship Type="http://schemas.openxmlformats.org/officeDocument/2006/relationships/notesMaster" Target="/ppt/notesMasters/notesMaster1.xml" Id="R68d0010b7824400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ba9858d38734c82" /><Relationship Type="http://schemas.openxmlformats.org/officeDocument/2006/relationships/notesMaster" Target="/ppt/notesMasters/notesMaster1.xml" Id="R1dc75bcd79eb4dc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022eea50fb647f1" /><Relationship Type="http://schemas.openxmlformats.org/officeDocument/2006/relationships/notesMaster" Target="/ppt/notesMasters/notesMaster1.xml" Id="R51f483cf18f345c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3f569e9a81042ad" /><Relationship Type="http://schemas.openxmlformats.org/officeDocument/2006/relationships/notesMaster" Target="/ppt/notesMasters/notesMaster1.xml" Id="Rda16219f5dba4d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def6ce6b76643fb" /><Relationship Type="http://schemas.openxmlformats.org/officeDocument/2006/relationships/notesMaster" Target="/ppt/notesMasters/notesMaster1.xml" Id="R924d91f4d05b47a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eebc653c37c4b2d" /><Relationship Type="http://schemas.openxmlformats.org/officeDocument/2006/relationships/notesMaster" Target="/ppt/notesMasters/notesMaster1.xml" Id="R6e42aeb083a9434f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a112928e45e41db" /><Relationship Type="http://schemas.openxmlformats.org/officeDocument/2006/relationships/notesMaster" Target="/ppt/notesMasters/notesMaster1.xml" Id="R04e70919987a409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b11fbbbb33054860" /><Relationship Type="http://schemas.openxmlformats.org/officeDocument/2006/relationships/notesMaster" Target="/ppt/notesMasters/notesMaster1.xml" Id="Rf476f80e01f242e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a17afe4477b49b5" /><Relationship Type="http://schemas.openxmlformats.org/officeDocument/2006/relationships/notesMaster" Target="/ppt/notesMasters/notesMaster1.xml" Id="R1e856e6a95d04af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94600e2f032e4eee" /><Relationship Type="http://schemas.openxmlformats.org/officeDocument/2006/relationships/notesMaster" Target="/ppt/notesMasters/notesMaster1.xml" Id="Rd621999ce3e24f0a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d957b44e9534196" /><Relationship Type="http://schemas.openxmlformats.org/officeDocument/2006/relationships/notesMaster" Target="/ppt/notesMasters/notesMaster1.xml" Id="Ra14ea45194734883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f849cfe49114f63" /><Relationship Type="http://schemas.openxmlformats.org/officeDocument/2006/relationships/notesMaster" Target="/ppt/notesMasters/notesMaster1.xml" Id="R80a47d5666ef4d9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e7c0cc66b1ad4efc" /><Relationship Type="http://schemas.openxmlformats.org/officeDocument/2006/relationships/notesMaster" Target="/ppt/notesMasters/notesMaster1.xml" Id="R1e6f451ad656451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8efbf76477f4a04" /><Relationship Type="http://schemas.openxmlformats.org/officeDocument/2006/relationships/notesMaster" Target="/ppt/notesMasters/notesMaster1.xml" Id="R013b5a5540c646b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f214288950f4410d" /><Relationship Type="http://schemas.openxmlformats.org/officeDocument/2006/relationships/notesMaster" Target="/ppt/notesMasters/notesMaster1.xml" Id="R350f47118c734e3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7f892e97f8d8424a" /><Relationship Type="http://schemas.openxmlformats.org/officeDocument/2006/relationships/notesMaster" Target="/ppt/notesMasters/notesMaster1.xml" Id="R3039a8fe01164bc7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c462f32059e4bb6" /><Relationship Type="http://schemas.openxmlformats.org/officeDocument/2006/relationships/notesMaster" Target="/ppt/notesMasters/notesMaster1.xml" Id="Ra09f39df220544cc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61dd1f271cb4c82" /><Relationship Type="http://schemas.openxmlformats.org/officeDocument/2006/relationships/notesMaster" Target="/ppt/notesMasters/notesMaster1.xml" Id="Rf5e039fd809e441f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8ee9131c0b634a5d" /><Relationship Type="http://schemas.openxmlformats.org/officeDocument/2006/relationships/notesMaster" Target="/ppt/notesMasters/notesMaster1.xml" Id="Rece5b1205edf441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D:/1/全球AI大赛/2e567d1a-99c1-45ce-8a0f-3d36d11f3314.pdf：官方 PPT 内容框架模板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https://github.com/ASOUL-Official/asoulai-chronosfix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evidence/evaluation-corpus/evaluation-summary.json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docs/semifinal-guide-matrix.md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docs/business-value.md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src/chronosfix/orchestrator.py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evidence/github-pr.json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scenarios/checkout-timeout/scenario.json</a:t>
            </a:r>
          </a:p>
          <a:p xmlns:a="http://schemas.openxmlformats.org/drawingml/2006/main">
            <a:r>
              <a:t>evidence/proof-bundle.json</a:t>
            </a:r>
          </a:p>
          <a:p xmlns:a="http://schemas.openxmlformats.org/drawingml/2006/main">
            <a:r>
              <a:t>evidence/run-manifest.json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https://github.com/agentscope-ai/AgentTeams/releases/tag/v1.2.3</a:t>
            </a:r>
          </a:p>
          <a:p xmlns:a="http://schemas.openxmlformats.org/drawingml/2006/main">
            <a:r>
              <a:t>https://github.com/agentscope-ai/AgentTeams/blob/main/docs/zh-cn/declarative-resource-management.md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evidence/agentteams-manifest-validation.json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agentteams/runtime/chronosfix-resources.yaml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evidence/trace.jsonl</a:t>
            </a:r>
          </a:p>
          <a:p xmlns:a="http://schemas.openxmlformats.org/drawingml/2006/main">
            <a:r>
              <a:t>docs/agent-identity.md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src/chronosfix/skills/counterfactual_replay.py</a:t>
            </a:r>
          </a:p>
          <a:p xmlns:a="http://schemas.openxmlformats.org/drawingml/2006/main">
            <a:r>
              <a:t>src/chronosfix/skills/risk_gate.py</a:t>
            </a:r>
          </a:p>
          <a:p xmlns:a="http://schemas.openxmlformats.org/drawingml/2006/main">
            <a:r>
              <a:t>tests/test_evaluation.py</a:t>
            </a:r>
          </a:p>
          <a:p xmlns:a="http://schemas.openxmlformats.org/drawingml/2006/main">
            <a:r>
              <a:t>tests/test_risk_gate.py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https://skills.aliyun.com/skills/alibabacloud-sls-query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docs/skill-specs.md</a:t>
            </a:r>
          </a:p>
          <a:p xmlns:a="http://schemas.openxmlformats.org/drawingml/2006/main">
            <a:r>
              <a:t>src/chronosfix/skills/</a:t>
            </a:r>
          </a:p>
          <a:p xmlns:a="http://schemas.openxmlformats.org/drawingml/2006/main">
            <a:r>
              <a:t>src/chronosfix/orchestrator.py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https://skills.aliyun.com/skills/alibabacloud-sls-query</a:t>
            </a:r>
          </a:p>
          <a:p xmlns:a="http://schemas.openxmlformats.org/drawingml/2006/main">
            <a:r>
              <a:t>https://github.com/aliyun/alibabacloud-aiops-skills</a:t>
            </a:r>
          </a:p>
          <a:p xmlns:a="http://schemas.openxmlformats.org/drawingml/2006/main">
            <a:r>
              <a:t>src/chronosfix/cloud_skills.py</a:t>
            </a:r>
          </a:p>
          <a:p xmlns:a="http://schemas.openxmlformats.org/drawingml/2006/main">
            <a:r>
              <a:t>evidence/cloud-skill-sls-dry-run.json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docs/official-infra-mapping.md</a:t>
            </a:r>
          </a:p>
          <a:p xmlns:a="http://schemas.openxmlformats.org/drawingml/2006/main">
            <a:r>
              <a:t>docs/architecture.md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D:/1/全球AI大赛/6e21b053-f18b-4857-83e2-835bd96d5434.pdf：最新版参赛指南</a:t>
            </a:r>
          </a:p>
          <a:p xmlns:a="http://schemas.openxmlformats.org/drawingml/2006/main">
            <a:r>
              <a:t>.github/workflows/verify.yml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evidence/run-manifest.json</a:t>
            </a:r>
          </a:p>
          <a:p xmlns:a="http://schemas.openxmlformats.org/drawingml/2006/main">
            <a:r>
              <a:t>evidence/engineering-metrics.json</a:t>
            </a:r>
          </a:p>
          <a:p xmlns:a="http://schemas.openxmlformats.org/drawingml/2006/main">
            <a:r>
              <a:t>evidence/github-pr.json</a:t>
            </a:r>
          </a:p>
          <a:p xmlns:a="http://schemas.openxmlformats.org/drawingml/2006/main">
            <a:r>
              <a:t>evidence/trace.jsonl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evidence/evaluation-corpus/evaluation-summary.json</a:t>
            </a:r>
          </a:p>
          <a:p xmlns:a="http://schemas.openxmlformats.org/drawingml/2006/main">
            <a:r>
              <a:t>evidence/evaluation-corpus/evaluation-report.md</a:t>
            </a:r>
          </a:p>
          <a:p xmlns:a="http://schemas.openxmlformats.org/drawingml/2006/main">
            <a:r>
              <a:t>scenarios/evaluation-fixtures/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scenarios/evaluation-fixtures/</a:t>
            </a:r>
          </a:p>
          <a:p xmlns:a="http://schemas.openxmlformats.org/drawingml/2006/main">
            <a:r>
              <a:t>src/chronosfix/evaluation.py</a:t>
            </a:r>
          </a:p>
          <a:p xmlns:a="http://schemas.openxmlformats.org/drawingml/2006/main">
            <a:r>
              <a:t>src/chronosfix/skills/counterfactual_replay.py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.github/workflows/verify.yml</a:t>
            </a:r>
          </a:p>
          <a:p xmlns:a="http://schemas.openxmlformats.org/drawingml/2006/main">
            <a:r>
              <a:t>schemas/scenario.schema.json</a:t>
            </a:r>
          </a:p>
          <a:p xmlns:a="http://schemas.openxmlformats.org/drawingml/2006/main">
            <a:r>
              <a:t>docs/deployment-and-verification.md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docs/business-value.md</a:t>
            </a:r>
          </a:p>
          <a:p xmlns:a="http://schemas.openxmlformats.org/drawingml/2006/main">
            <a:r>
              <a:t>docs/measurement-plan.md</a:t>
            </a:r>
          </a:p>
          <a:p xmlns:a="http://schemas.openxmlformats.org/drawingml/2006/main">
            <a:r>
              <a:t>docs/proof-carrying-change.md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LICENSE</a:t>
            </a:r>
          </a:p>
          <a:p xmlns:a="http://schemas.openxmlformats.org/drawingml/2006/main">
            <a:r>
              <a:t>THIRD_PARTY_NOTICES.md</a:t>
            </a:r>
          </a:p>
          <a:p xmlns:a="http://schemas.openxmlformats.org/drawingml/2006/main">
            <a:r>
              <a:t>SBOM.json</a:t>
            </a:r>
          </a:p>
          <a:p xmlns:a="http://schemas.openxmlformats.org/drawingml/2006/main">
            <a:r>
              <a:t>docs/open-source-compliance.md</a:t>
            </a:r>
          </a:p>
          <a:p xmlns:a="http://schemas.openxmlformats.org/drawingml/2006/main">
            <a:r>
              <a:t>agentteams/runtime/runtime-status.md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https://github.com/ASOUL-Official/asoulai-chronosfix</a:t>
            </a:r>
          </a:p>
          <a:p xmlns:a="http://schemas.openxmlformats.org/drawingml/2006/main">
            <a:r>
              <a:t>https://asoul-official.github.io/asoulai-chronosfix/</a:t>
            </a:r>
          </a:p>
          <a:p xmlns:a="http://schemas.openxmlformats.org/drawingml/2006/main">
            <a:r>
              <a:t>README.md</a:t>
            </a:r>
          </a:p>
          <a:p xmlns:a="http://schemas.openxmlformats.org/drawingml/2006/main">
            <a:r>
              <a:t>submission/submission-checklist.md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2f73ab01f46499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25cd576ae4c4ad7" /><Relationship Type="http://schemas.openxmlformats.org/officeDocument/2006/relationships/slideLayout" Target="/ppt/slideLayouts/slideLayout1.xml" Id="R62a156f7bfda4d9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2a156f7bfda4d9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59f669b1eb401f" /><Relationship Type="http://schemas.openxmlformats.org/officeDocument/2006/relationships/notesSlide" Target="/ppt/notesSlides/notesSlide1.xml" Id="R778b4e4300784e8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09ab6202ce745b5" /><Relationship Type="http://schemas.openxmlformats.org/officeDocument/2006/relationships/notesSlide" Target="/ppt/notesSlides/notesSlide2.xml" Id="Rf652c8c2ccb34c6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cce3e52ee64bce" /><Relationship Type="http://schemas.openxmlformats.org/officeDocument/2006/relationships/notesSlide" Target="/ppt/notesSlides/notesSlide3.xml" Id="R6f109d2747d44ef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2e7be912b794ad3" /><Relationship Type="http://schemas.openxmlformats.org/officeDocument/2006/relationships/notesSlide" Target="/ppt/notesSlides/notesSlide4.xml" Id="R02685ee05ed847d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06851e1b8e43f6" /><Relationship Type="http://schemas.openxmlformats.org/officeDocument/2006/relationships/notesSlide" Target="/ppt/notesSlides/notesSlide5.xml" Id="Rb38d9a46eb1941b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dcefd603954e36" /><Relationship Type="http://schemas.openxmlformats.org/officeDocument/2006/relationships/notesSlide" Target="/ppt/notesSlides/notesSlide6.xml" Id="Ra6f152bde3d243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84aca1a2ba46bc" /><Relationship Type="http://schemas.openxmlformats.org/officeDocument/2006/relationships/notesSlide" Target="/ppt/notesSlides/notesSlide7.xml" Id="R9ad346bb669e4e3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9c87a7aa424f44" /><Relationship Type="http://schemas.openxmlformats.org/officeDocument/2006/relationships/notesSlide" Target="/ppt/notesSlides/notesSlide8.xml" Id="R681d907830df429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25b53ec2264760" /><Relationship Type="http://schemas.openxmlformats.org/officeDocument/2006/relationships/notesSlide" Target="/ppt/notesSlides/notesSlide9.xml" Id="Rd82b254791a74e9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a5ae1b1d49411e" /><Relationship Type="http://schemas.openxmlformats.org/officeDocument/2006/relationships/notesSlide" Target="/ppt/notesSlides/notesSlide10.xml" Id="R4e60898bfa2d4a78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67c102950047c2" /><Relationship Type="http://schemas.openxmlformats.org/officeDocument/2006/relationships/notesSlide" Target="/ppt/notesSlides/notesSlide11.xml" Id="R0d06a66300b8442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e6d3e63ef94dec" /><Relationship Type="http://schemas.openxmlformats.org/officeDocument/2006/relationships/notesSlide" Target="/ppt/notesSlides/notesSlide12.xml" Id="R9d5e0b6225a84e1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0c5c5728ef4c34" /><Relationship Type="http://schemas.openxmlformats.org/officeDocument/2006/relationships/notesSlide" Target="/ppt/notesSlides/notesSlide13.xml" Id="Rc66753b733764d4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f7c9c2a6214a3d" /><Relationship Type="http://schemas.openxmlformats.org/officeDocument/2006/relationships/notesSlide" Target="/ppt/notesSlides/notesSlide14.xml" Id="Rfdeb879455f2493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a1063d871947c7" /><Relationship Type="http://schemas.openxmlformats.org/officeDocument/2006/relationships/notesSlide" Target="/ppt/notesSlides/notesSlide15.xml" Id="R02b7d879ab7e4f3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91ac3fbf914448" /><Relationship Type="http://schemas.openxmlformats.org/officeDocument/2006/relationships/notesSlide" Target="/ppt/notesSlides/notesSlide16.xml" Id="R73b0b2942778424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a2f9d7ca7247b7" /><Relationship Type="http://schemas.openxmlformats.org/officeDocument/2006/relationships/notesSlide" Target="/ppt/notesSlides/notesSlide17.xml" Id="R87d3190df4e7424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63385bd8de4db4" /><Relationship Type="http://schemas.openxmlformats.org/officeDocument/2006/relationships/notesSlide" Target="/ppt/notesSlides/notesSlide18.xml" Id="Rca2a67c45d6a467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254aaa15714a85" /><Relationship Type="http://schemas.openxmlformats.org/officeDocument/2006/relationships/notesSlide" Target="/ppt/notesSlides/notesSlide19.xml" Id="R7602fc256d3d4ef4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cfedfcd97c94bb1" /><Relationship Type="http://schemas.openxmlformats.org/officeDocument/2006/relationships/notesSlide" Target="/ppt/notesSlides/notesSlide20.xml" Id="Ra26434f9cb4a4a8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bfd672fa5f486a" /><Relationship Type="http://schemas.openxmlformats.org/officeDocument/2006/relationships/notesSlide" Target="/ppt/notesSlides/notesSlide21.xml" Id="Rabeea4e9d7534ee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fdb9d9adeb44ee7" /><Relationship Type="http://schemas.openxmlformats.org/officeDocument/2006/relationships/notesSlide" Target="/ppt/notesSlides/notesSlide22.xml" Id="Ra65d5e6c98114b49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8D9A3AF-6EC5-4674-AE37-01DB54999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210971-89C4-4CAD-9655-CEF39906C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0960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4B8A6"/>
                </a:solidFill>
              </a:defRPr>
            </a:pPr>
            <a:r>
              <a:rPr sz="1350" b="1">
                <a:solidFill>
                  <a:srgbClr val="14B8A6"/>
                </a:solidFill>
              </a:rPr>
              <a:t>GOAI 世界人工智能开源大赛 · Agent Infra 新智基座 · 方向三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13E29F-39F1-4781-82DF-FCAC90CED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562100"/>
            <a:ext cx="8191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FFFFFF"/>
                </a:solidFill>
              </a:defRPr>
            </a:pPr>
            <a:r>
              <a:rPr sz="4350" b="1">
                <a:solidFill>
                  <a:srgbClr val="FFFFFF"/>
                </a:solidFill>
              </a:rPr>
              <a:t>AsoulAI ChronosFix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5AAC4-058E-4599-A0FC-19EE4CBE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193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3150" b="1">
                <a:solidFill>
                  <a:srgbClr val="FFFFFF"/>
                </a:solidFill>
              </a:defRPr>
            </a:pPr>
            <a:r>
              <a:rPr sz="3150" b="1">
                <a:solidFill>
                  <a:srgbClr val="FFFFFF"/>
                </a:solidFill>
              </a:rPr>
              <a:t>A-CFX：带证明的软件变更基础设施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A6A244-B313-4168-926C-FB3445841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D7E3F5"/>
                </a:solidFill>
              </a:defRPr>
            </a:pPr>
            <a:r>
              <a:rPr sz="1800" b="0">
                <a:solidFill>
                  <a:srgbClr val="D7E3F5"/>
                </a:solidFill>
              </a:rPr>
              <a:t>用多 Agent 把事故变成可验证补丁与可复用质量资产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92DC734-3227-4291-A774-E39FE73D9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38600"/>
            <a:ext cx="17907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A286AD8-EBB4-4708-8FC6-38F02262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105275"/>
            <a:ext cx="1600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4B8A6"/>
                </a:solidFill>
              </a:defRPr>
            </a:pPr>
            <a:r>
              <a:rPr sz="1050" b="1">
                <a:solidFill>
                  <a:srgbClr val="14B8A6"/>
                </a:solidFill>
              </a:rPr>
              <a:t>官方模板 · 复赛验证版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9DB30C-A725-42F3-835A-570A074C4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4038600"/>
            <a:ext cx="123825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C32C2D-7D74-4642-A8E2-392431B9F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4105275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F97316"/>
                </a:solidFill>
              </a:defRPr>
            </a:pPr>
            <a:r>
              <a:rPr sz="1050" b="1">
                <a:solidFill>
                  <a:srgbClr val="F97316"/>
                </a:solidFill>
              </a:rPr>
              <a:t>队伍：AsoulAI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034A2C-B6F4-4C7C-8C16-A5686C70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038600"/>
            <a:ext cx="1104900" cy="323850"/>
          </a:xfrm>
          <a:prstGeom xmlns:a="http://schemas.openxmlformats.org/drawingml/2006/main" prst="roundRect">
            <a:avLst>
              <a:gd name="adj" fmla="val 23529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B40808-5CEC-4F43-9A49-9C3115235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4105275"/>
            <a:ext cx="914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16A34A"/>
                </a:solidFill>
              </a:defRPr>
            </a:pPr>
            <a:r>
              <a:rPr sz="1050" b="1">
                <a:solidFill>
                  <a:srgbClr val="16A34A"/>
                </a:solidFill>
              </a:rPr>
              <a:t>复赛 V1.0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93D05A-1126-4ABC-B157-6CC6C991E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1550" y="167640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86F38F-9008-4433-815E-8D1E2D1B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193357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事故证据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390A782-1D61-4790-8258-4FE4538AA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E6DEC2-F70B-43E1-92B2-641E9505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反事实实验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54E9AAA-6266-46B9-B2A4-ACBAC1659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FDED6FB-D2F8-4F06-AEDF-DD6AAE126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风险门禁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BC367A-0DCA-4ED9-858C-2F7213352A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6385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08797B-3A26-4229-8EEF-5C3E0B1D4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8957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故障基因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4D0F2A1-6BBB-4F4A-ADB9-FE7A5AF7B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2419350"/>
            <a:ext cx="1276350" cy="742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>
              <a:alpha val="8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39978E-8EFB-41D2-A10B-D18BB0D91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2676525"/>
            <a:ext cx="104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资产复用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10F93B0-2E6C-4067-9FBB-0AAF53BF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857500"/>
            <a:ext cx="13716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4B8A6"/>
                </a:solidFill>
              </a:defRPr>
            </a:pPr>
            <a:r>
              <a:rPr sz="2550" b="1">
                <a:solidFill>
                  <a:srgbClr val="14B8A6"/>
                </a:solidFill>
              </a:rPr>
              <a:t>A-CFX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94F545-1B87-422F-876C-1E59A4531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AFC7E8"/>
                </a:solidFill>
              </a:defRPr>
            </a:pPr>
            <a:r>
              <a:rPr sz="1125" b="0">
                <a:solidFill>
                  <a:srgbClr val="AFC7E8"/>
                </a:solidFill>
              </a:rPr>
              <a:t>代码包 · 在线 Demo · 评测 · Trace · 审计证据</a:t>
            </a:r>
          </a:p>
        </p:txBody>
      </p:sp>
    </p:spTree>
    <p:extLst>
      <p:ext uri="{BB962C8B-B14F-4D97-AF65-F5344CB8AC3E}">
        <p14:creationId xmlns:p14="http://schemas.microsoft.com/office/powerpoint/2010/main" val="6683989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777E7E-94EA-444B-BC99-2FABD2E28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P0 · 一页纸速览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1564B8-BCDA-4810-8FC1-0187A827F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把“会修复”升级为“带证据、可发布、可复用”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CE2301-2DBF-4E7B-B3F5-D7A124D97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复赛版补齐 AgentTeams、云 Skill、评测、失败处理、权限与开源规范。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73D2485-F15C-4E3F-9B32-B9230C46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95585C-260B-47CC-BC46-F19F2CD16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项目名称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85A123-CCF8-45C2-B3E2-EB4B09C7D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ChronosFix（A-CFX）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带证明的软件变更基础设施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ABE5CF-D950-4C95-BF5E-C83A1996D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7526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A9F03-A503-4D9C-879C-266D62B0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19240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问题与场景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EB3FBF-FF07-479F-8238-1B8682A89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050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多源变更下，AI 能给建议，却难证明因果、验证补丁并让组织放心合并。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4EAEDC1-A891-4B1C-9FEB-8312888E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D22618-6887-41B1-A2DA-C6721D93C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核心方案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BE792C-BD8F-45AA-9965-E2F988D6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8 个职能 Worker 协同重放事故；10 个 Skill 能力完成因果、验证、门禁与资产沉淀。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F270A9-0FD8-465A-BCB8-C8494E7E0E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30480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A8D0CC-1B68-4FE7-B2D7-1E2E51621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2194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创新差异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6F8A6A-9490-4C00-B2E2-97B1D8184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6004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Proof-Carrying Change + 可辨识性仲裁：无法区分就拒答，证据不全就阻断发布。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B6D5B26-CB63-41CD-B7F6-131AEAF6B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5AAF8CC-79CE-4C70-877C-B6C39DE52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开放复用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174E279-63DC-4E10-9EEA-55C9D3B2B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开放代码、Schema、12 场景、证据护照、AgentTeams v1beta1 资源与评测脚本。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D604840-107E-4012-91E8-1252D469F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4343400"/>
            <a:ext cx="4762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DC262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22FB08-2360-40DE-9E67-DCE5F9D6B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514850"/>
            <a:ext cx="4419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DC2626"/>
                </a:solidFill>
              </a:defRPr>
            </a:pPr>
            <a:r>
              <a:rPr sz="1575" b="1">
                <a:solidFill>
                  <a:srgbClr val="DC2626"/>
                </a:solidFill>
              </a:rPr>
              <a:t>当前进展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EE8B810-C07D-43A2-8EA9-07F88447D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4895850"/>
            <a:ext cx="4343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36 项测试；9/9 支持范围诊断正确；1/1 冲突安全拒答；2 项边界透明保留。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BE3F14-1A67-4506-9410-6A92598F4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E673238-70F4-41BD-A952-5A45322F2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97072456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复赛不是加功能列表，而是让每个结论都可核验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围绕完整链路、运行证据、失败处理、权限审批与开放规范升级底层工程。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初赛已交付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场景闭环、7 职能 Agent、9 Skill、确定性 Demo 与公开仓库。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底层逻辑升级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Fail-closed RiskGate、真实 checks、回滚验证、可辨识性仲裁与哈希绑定。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复赛新增证据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资源、官方 SLS Skill 契约、12 场景评测、CI、SBOM 与 Demo 评委模式。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因果仲裁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补丁竞赛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证据护照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一条 run_id 串联 scenario → experiments → checks → PR → run-manifest。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场景与价值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真正昂贵的不是找答案，而是无法放心合并答案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目标用户：中大型研发组织、平台工程团队、云厂商 DevOps / AIOps 产品线。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事故成本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代码、配置、依赖与流量同窗变化，人工排查慢且知识难沉淀。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组织风险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AI 建议若缺因果、验证、回滚和审批证据，就无法进入发布流程。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购买理由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让每个 PR 自动携带可审查证据，并把事故沉淀为跨团队质量资产。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48.72%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Demo 基线失败率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6.25%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补丁最坏失败率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8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强制故障变体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证据护照声明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36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自动化测试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商业命题：不是替代研发判断，而是降低评审证据准备、误合并风险与合规审计成本。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9099107-C7F1-4C0F-8B94-8000D42FA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方案总览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B704EC8-06BD-403A-88C1-9F3ACA8E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从事故信号到可合并 PR，一条 run_id 贯穿闭环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9534AD-D9E2-4A29-AD57-958CAC883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AgentTeams 负责编排，Skill 负责动作，RiskGate 决定是否允许发布。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924297A-BE28-44C9-B947-7DB1BC4AB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330ACBE-3413-4FBF-9069-BE9B44081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任务触发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DC9E15-6926-4C7A-895D-B3140FDFEF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Issue、日志、Trace、Git、配置与流量进入统一场景契约。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EFB94F-FB5A-4AE1-A753-F61955E54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25BA140-CF96-4042-903A-916973B1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协同执行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B062F03-B6BA-4FEB-928C-EDC43A133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8 Worker 围绕 IncidentState 分工；冲突由反事实与可辨识性仲裁裁决。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041902A-47ED-45C5-B1D5-B8D0D80F1A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695450"/>
            <a:ext cx="2952750" cy="12573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951C49-20C5-47AB-9167-1B17B34E7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866900"/>
            <a:ext cx="2609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发布输出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57D2ACE-B017-43C0-A94B-784C72220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247900"/>
            <a:ext cx="25336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生成补丁变更、回滚契约、checks、PR 草案、证据护照与可复用 Skill 候选。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1D2F401-87A5-4A9B-8667-9B2C1F967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732AC-7D69-4C20-A842-BF8640A059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证据融合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EB06265-FFD5-416C-B517-12D12832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D67C600-5CBF-4FE1-A420-0C8EEEF01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91C410-B244-44F6-8816-9C7A0555D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Counterfactual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FB8854-FAC7-48CB-BE32-A4403D26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EF9B1CE-85EB-4E6F-A959-57249714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9AD794-1CCE-4A21-8CBD-2C7F8F3A5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Fault Genome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E830D8-CFD9-4421-881A-715D7167A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0E1A90-0C19-4141-AF37-37C0EB19A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187C2E0-05E1-453D-9361-DB0581084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F97316"/>
                </a:solidFill>
              </a:defRPr>
            </a:pPr>
            <a:r>
              <a:rPr sz="1425" b="1">
                <a:solidFill>
                  <a:srgbClr val="F97316"/>
                </a:solidFill>
              </a:rPr>
              <a:t>补丁竞赛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6A7C41C-2164-480A-BE23-26A5CD708D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72550" y="4305300"/>
            <a:ext cx="4572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210F31D-859C-4145-95A7-EB0EC3C4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24300"/>
            <a:ext cx="15811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732FA7F-20E2-4311-81B7-2D84CDEE7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171950"/>
            <a:ext cx="1314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6A34A"/>
                </a:solidFill>
              </a:defRPr>
            </a:pPr>
            <a:r>
              <a:rPr sz="1425" b="1">
                <a:solidFill>
                  <a:srgbClr val="16A34A"/>
                </a:solidFill>
              </a:rPr>
              <a:t>门禁护照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C206234-42EA-41F8-AE8A-22975C5ADF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276850"/>
            <a:ext cx="923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安全分支：证据不足、check 失败、回滚缺失或无命名审批人 → draft / blocked。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22A6C5B-A3F8-4D4B-B2CA-BB90D7BDE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2E1CC8-9E1B-40B1-8D9F-D23F37EC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64468602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完整场景链路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同一个事故，输入是场景契约，输出是变更契约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样例：订单创建接口在 120 RPS 下出现 48.72% 失败率与 606.96 ms P99。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输入 Schema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scenario.json：事件、基线、假设、补丁候选、变体与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因果结论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连接池缩容是主因；依赖延迟是放大器；日志代码变更非因果。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变更契约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selected: pool_size 8→24；rollback: 24→8；8 个强制变体验证。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发布状态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quality_gate=passed；release=approved；审批人和理由进入摘要哈希。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18 个实测 Span、3 个必须 checks、15 个主输出文件；全部关联同一 run_id。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Run Manifest 绑定场景、补丁、回滚、审批和产物 SHA-256。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本页数据来自合成确定性回放，不代表真实生产准确率或 MTTR。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B174FC-3631-4BD2-9FA3-952FE9D0D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F51681-6389-477F-A7CC-134448271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第二章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D9D4896-7538-42CB-82F4-CAE395C1F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AgentTeams 多 Agent 协同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E0CF87-C3CE-446E-BED0-ACA7A55E1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必选基座：编排、拆解、上下文、执行、追踪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5469E5-980F-4C11-9386-F414E6AF0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BFB15D2-9C53-405D-BF97-D700FE656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多 Agent 协同与自主闭环能力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4C708E-9D45-4B00-8E82-98637F103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80BF3FF-86FB-417D-840D-9E30ADD5A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67250270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AgentTeams v1beta1：正式资源已离线校验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 Manager、8 Worker、1 Team、1 Human；Controller / Matrix 尚未执行。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入口路由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状态协调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Commander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Team Leader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任务拆解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证据融合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时间线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假设契约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可证伪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Universe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故障基因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 / 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补丁竞赛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回滚验证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门禁审计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Skill 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角色编排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Team leader / Worker 分工
Human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资源证据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11 份声明校验通过
依赖版本已锁定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执行边界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compatible mapping
非真实 Worker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B18F6B6-2F9D-4609-ADF1-A99D96870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多 Agent 协同设计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3B323F-A44C-49CE-A45E-BFFB7580E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角色靠状态契约协同，而不是在聊天室投票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4FFD52-C0D9-4015-A97C-28A4D1999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每个 Worker 只写负责的状态分区；Commander 只做路由、裁决与升级。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D1218B-FCCB-4026-B652-FFE5B6584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7111F"/>
          </a:solidFill>
          <a:ln xmlns:a="http://schemas.openxmlformats.org/drawingml/2006/main" w="9525">
            <a:solidFill>
              <a:srgbClr val="07111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A28E87-3E04-4155-82B4-0AAA67A95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Intake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5AD5F6-CE3E-4B69-AC3B-64974F54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接收事件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D7E3F5"/>
                </a:solidFill>
              </a:defRPr>
            </a:pPr>
            <a:r>
              <a:rPr sz="1125" b="0">
                <a:solidFill>
                  <a:srgbClr val="D7E3F5"/>
                </a:solidFill>
              </a:rPr>
              <a:t>校验 Schema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CE7C6C-C8E2-46F8-9F16-637A42930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1EBA33-74E1-41BB-B1D8-BBEED03F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71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972A2D0-9DB0-40FC-86A5-9776A8578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Timeline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07B1AA-F928-4B2C-ADD3-F0A1B9037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05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合并证据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重建时间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87D95EE-153A-4F77-90A4-E47B706B5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B38E11-53BB-4215-B166-8FF4EEF90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76035E-0AE3-45A7-A4A9-81FAD79FC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Hypothesis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0A45FD-43BB-4C1F-83DF-B0C0D483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登记假设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干预契约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68E5BA6-2405-4599-B17E-DEE22CB52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9C9C8D-4674-4C6D-A1A2-71692CD38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02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922DB74-9FC2-4D02-8D5D-FEFC7CDAD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Replay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5EEE38D-E19D-4261-A573-3451B0D75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反事实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可辨识性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83293C8-F604-4EDF-A5FB-43AFC4650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8A2544-DD6B-4BA3-91C7-3DFEBBA75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7E9EAF-7F83-4B39-B956-76B26D2606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Patch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A386FD-F5B0-40E2-8684-BB1D9EEA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补丁候选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回滚契约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FCE27A-98CD-4FA3-AC6C-344EA67901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7E02B9B-48F9-466C-AA17-392685F30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E8FA35A-4A1D-4536-BA16-48AF5BD8E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Verify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5C2ADA9-659C-4617-BC54-2D171F764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变体验证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真实 checks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4D44C31-A383-4F4A-A262-732307B44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571750"/>
            <a:ext cx="285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BE1FA04-33A1-4A42-A04B-A31662750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1943100"/>
            <a:ext cx="127635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DB84AD-94DC-41B5-B046-A9883CFCC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2152650"/>
            <a:ext cx="1123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2563EB"/>
                </a:solidFill>
              </a:defRPr>
            </a:pPr>
            <a:r>
              <a:rPr sz="1200" b="1">
                <a:solidFill>
                  <a:srgbClr val="2563EB"/>
                </a:solidFill>
              </a:rPr>
              <a:t>Audit / Curate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44E7578-C80C-45C5-8CB1-FE5D98187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01300" y="2628900"/>
            <a:ext cx="10096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审批审计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资产沉淀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532F961-543D-4D4B-BC57-C01847966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E1F882D-BBC9-4EAF-990D-BF3884131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上下文传递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B51D9C6-75DF-49AD-94D3-11797C03B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IncidentState + Schema
实验 / 补丁 / 审批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DE11126B-F434-48C3-9724-993EE9EC1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4D1816-45B3-4801-ACE5-D05571361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状态追踪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8A0507FF-81AC-4D54-8659-9B6F9405A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run / trace / parent
Agent / check / PR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C66DADB-94B3-41DD-A9DC-1CE0FC208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057650"/>
            <a:ext cx="2781300" cy="990600"/>
          </a:xfrm>
          <a:prstGeom xmlns:a="http://schemas.openxmlformats.org/drawingml/2006/main" prst="roundRect">
            <a:avLst>
              <a:gd name="adj" fmla="val 11538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AC6799C-ADC1-4DD6-B729-EDC79C048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229100"/>
            <a:ext cx="2438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异常分支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2F52E1E4-9685-4219-BE37-C242D0B92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610100"/>
            <a:ext cx="23622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missing / indeterminate
高风险→Human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26CE66DE-2185-4AA6-8F7F-92AF3F243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478100A-72B4-4AB1-B888-93E3C2D10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1848335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因果治理与发布安全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先证明“能区分”，再决定“能发布”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可辨识性仲裁与 RiskGate 分别解决“结论可靠”和“动作可放行”。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同干预冲突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多个来源假设若映射到相同干预，统一降级为 indeterminate。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无主因证据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没有可辨识 primary cause 时，counterfactual check 失败并阻断 PR 放行。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验证不完整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强制变体、Evidence Passport、回滚或 required checks 任一缺失即 fail closed。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中高风险审批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必须提供命名审批人和理由；布尔 approve 不能替代人工身份。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quality_gate 与 release_decision 分离：技术通过不等于已获发布授权。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approval digest 绑定 scenario hash、patch hash、patch id 与 policy version。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证据不足时给出 blocker，而不是为了 Demo 生成绿色成功状态。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0A6C68-A8E7-4B83-A962-7BE1882A3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F56205-4B6A-4D4A-B00C-A3080223B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第三章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5D042B-FFA3-4127-A5F7-17AF375C8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Skill 工程与云操作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D75583-44CC-498F-AE05-8ABE0EA99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核心 Skill、官方云 Skill、鉴权、失败处理与生命周期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E6AB388-EAC4-4ED1-8DA8-3097788C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820AE0-4968-4A51-89A3-960A937C0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Skill 工程体系与生态复用 25%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EFEF93-2460-4CB1-9632-C34D8E39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2E01D7-7639-4C3A-A368-8FE8EAF0A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32572295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33A41772-A10F-45D8-A53B-155C5FD971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Skill 工程体系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2888AD7-A3DA-4B6F-A9F2-F224AACB6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10 个 Skill 能力覆盖证据、因果、验证与资产复用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6E98A44-E822-4990-8D67-2B98A0C4A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每项能力都有稳定契约、权限边界、验证方式和版本演进路径。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5633599-8209-4F20-988E-066B83A32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9CE5F1-B31A-4D33-93CC-8376BF270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EvidenceFusion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326759-81C2-4F4B-89E4-AF84C07B9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多源证据与缺口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DED3E7A-4D92-434E-B9A1-59E257A8D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9155680-843F-48DB-A7DA-FBE225EB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ChangeTimeline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4FE4B4-31EE-4C18-8C33-51B11BA38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时序对齐与去重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6A0406-01C0-40D9-A809-5D2C5B4B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87177B3-B41C-4D27-BD9E-BCA287D2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8478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CounterfactualReplay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53EA37-BD3E-4C80-9D68-9F694CC22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1526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干预效果回放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E9BD8C-F6C5-4DCA-A047-B20D08FD4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60F967-0D72-4BFF-8848-C918858B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Identifiability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D066D0B-2112-4FFB-B03E-8C85F3AB9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同干预冲突仲裁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5F85A7-7494-46BD-B803-593CC9F6F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E2D7645-498F-4FDF-ABC0-8DDC646D9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FaultGenome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C578A8-6A73-42A8-9E15-8549A5F6AD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故障变体生成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DCBC87B-7177-4D8F-BAF3-5D717ABE3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003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C4F3C5-02A9-4EB0-BC90-2F4BF368B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9527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PatchTournament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FB933A0-4008-4C24-8D6A-EE702E3F7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2575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补丁竞赛评分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A64011-8D78-4D61-A553-9E2F2F803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A6C7D0-762B-4788-8E4D-AD8F169B1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2563EB"/>
                </a:solidFill>
              </a:defRPr>
            </a:pPr>
            <a:r>
              <a:rPr sz="1425" b="1">
                <a:solidFill>
                  <a:srgbClr val="2563EB"/>
                </a:solidFill>
              </a:rPr>
              <a:t>RiskGate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406634D-2057-4F50-AAC2-5C337AFBE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三态门禁审批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606B367-9967-4E63-AFD8-9D2190060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24A285-AB67-415F-8D8F-F42D372A8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4B8A6"/>
                </a:solidFill>
              </a:defRPr>
            </a:pPr>
            <a:r>
              <a:rPr sz="1425" b="1">
                <a:solidFill>
                  <a:srgbClr val="14B8A6"/>
                </a:solidFill>
              </a:rPr>
              <a:t>EvidencePassport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CF96D6-1F0B-4A25-B064-BE030ED11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证明与缺口声明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594872-2FCA-4720-B37C-6260B2AB4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05250"/>
            <a:ext cx="2952750" cy="781050"/>
          </a:xfrm>
          <a:prstGeom xmlns:a="http://schemas.openxmlformats.org/drawingml/2006/main" prst="roundRect">
            <a:avLst>
              <a:gd name="adj" fmla="val 97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A2CBB3-4237-4BB7-8336-B3CBD7AA1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57650"/>
            <a:ext cx="26098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7C3AED"/>
                </a:solidFill>
              </a:defRPr>
            </a:pPr>
            <a:r>
              <a:rPr sz="1425" b="1">
                <a:solidFill>
                  <a:srgbClr val="7C3AED"/>
                </a:solidFill>
              </a:rPr>
              <a:t>Report + SkillForge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4D68A70-AD09-4A0B-A3FD-EDA6D8A56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362450"/>
            <a:ext cx="2609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报告与复用候选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A425F8E-A654-48A9-A0F1-EE40A7822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257800"/>
            <a:ext cx="97917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生命周期：候选 → 回放评测 → 人工评审 → 版本发布 → 监控 → 回滚；新 Skill 不自动上线。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A00853-0293-49DA-829E-64DC24804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E121243-7B3A-4565-9368-2B706A27E4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547943133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官方云 Skill 接入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官方 SLS Skill 已进入 Worker 工具契约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默认 dry-run；真实查询需要参赛者在本地配置只读 RAM Profile。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官方来源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skills.aliyun.com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alibabacloud-sls-query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上游 commit 已锁定。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鉴权边界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RAM Profile / 环境凭证
密钥不落盘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Worker 编排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GetIndex / GetLogsV2
窗口≤24h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失败处理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先做 Schema 校验
CLI / 权限错误入审计
返回 evidence missing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最小 RAM 权限：log:GetIndex、log:GetLogStoreLogs；User-Agent 标注 Skill 来源。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已完成 adapter 契约测试与 dry-run 证据；没有声称成功访问真实 SLS。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真实端到端验证需要 Project、Logstore 和只读 RAM Profile，且不会要求在聊天中粘贴密钥。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技术架构与迁移边界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不堆产品：先有证据闭环，再平滑迁移云上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每个推荐组件都说明必要性、权限边界、可替换性与迁移成本。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当前已实现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v1beta1 资源、本地内核、SLS 只读适配器、JSON 证据与 GitHub 草案。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已验证契约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Schema、鉴权、错误、审批、回滚、审计均有文档和测试。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生产化目标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 / Nacos / Higress
PolarDB / RocketMQ / 可观测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能力域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当前可验证实现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目标组件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协同 / 治理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v1beta1 声明 + 本地编排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AgentTeams + Nacos + Higress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数据 / 事件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JSON / JSONL + Run Manifest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PolarDB + UnifiedModel + RocketMQ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可观测 / 评测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Trace / Log / Metrics + 12 场景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LoongSuite + Studio / AgentLoop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7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96A46C1-937A-4A48-97D6-73B1C855F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75A162E-D300-4818-B041-EC02C6DE9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4000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4B8A6"/>
                </a:solidFill>
              </a:defRPr>
            </a:pPr>
            <a:r>
              <a:rPr sz="2100" b="1">
                <a:solidFill>
                  <a:srgbClr val="14B8A6"/>
                </a:solidFill>
              </a:rPr>
              <a:t>第四章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B2F97D-C1F9-4355-85B6-C37D993DA7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66900"/>
            <a:ext cx="93345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FFFFFF"/>
                </a:solidFill>
              </a:defRPr>
            </a:pPr>
            <a:r>
              <a:rPr sz="4050" b="1">
                <a:solidFill>
                  <a:srgbClr val="FFFFFF"/>
                </a:solidFill>
              </a:rPr>
              <a:t>工程验证、安全与可审计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1AD024-2F77-41F6-B103-D00EB101C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76600"/>
            <a:ext cx="4953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AFC7E8"/>
                </a:solidFill>
              </a:defRPr>
            </a:pPr>
            <a:r>
              <a:rPr sz="1500" b="0">
                <a:solidFill>
                  <a:srgbClr val="AFC7E8"/>
                </a:solidFill>
              </a:rPr>
              <a:t>对应官方 PPT 框架与评分维度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56FDD4-00EA-44C0-A283-875D88A85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6000750" cy="819150"/>
          </a:xfrm>
          <a:prstGeom xmlns:a="http://schemas.openxmlformats.org/drawingml/2006/main" prst="roundRect">
            <a:avLst>
              <a:gd name="adj" fmla="val 9302"/>
            </a:avLst>
          </a:prstGeom>
          <a:solidFill xmlns:a="http://schemas.openxmlformats.org/drawingml/2006/main">
            <a:srgbClr val="FFFFFF">
              <a:alpha val="6000"/>
            </a:srgbClr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F6341-2712-4C0B-BAF3-5E440BF04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981450"/>
            <a:ext cx="5467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FFFFFF"/>
                </a:solidFill>
              </a:defRPr>
            </a:pPr>
            <a:r>
              <a:rPr sz="1800" b="1">
                <a:solidFill>
                  <a:srgbClr val="FFFFFF"/>
                </a:solidFill>
              </a:rPr>
              <a:t>工程落地与安全可审计 20%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74725C-D44C-4BBA-A9C3-6867931B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495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AsoulAI · A-CFX · 官方模板复赛版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005F19-33D9-4131-B6FD-62766501C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82300" y="5943600"/>
            <a:ext cx="666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050" b="0">
                <a:solidFill>
                  <a:srgbClr val="AFC7E8"/>
                </a:solidFill>
              </a:defRPr>
            </a:pPr>
            <a:r>
              <a:rPr sz="1050" b="0">
                <a:solidFill>
                  <a:srgbClr val="AFC7E8"/>
                </a:solidFill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888794806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运行证据链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一次运行不是截图，而是一组互相绑定的证据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scenario、patch、rollback、approval 与 15 个输出文件由 run-manifest 哈希绑定。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Trace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18 个 Span；起止时间、duration 与 parent span 全部实测。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Checks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反事实、故障变体、回滚契约 3 项 required checks 全部执行并记录 exit code。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RiskGate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quality_gate=passed；release=approved；命名审批人、理由与策略版本可追溯。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Run Manifest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场景、变更、回滚、审批输入和每个证据文件均记录 SHA-256。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Metrics 明确区分 measured / derived；外部工具未调用时 success_rate=null。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PR 草案直接读取选中 changes、rollback_changes、checks 与 gate，不再硬编码成功。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当前主证据 run_id：run-1dc8539c…；trace_id：2c597183…；可在 evidence/ 复核。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DCE12DC-7CE4-4F16-8279-0C1DF7791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Golden / Badcase 评测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0BF0D2-88E8-44C3-AB54-517A7489F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评测不藏失败：9/9 正确诊断，1/1 安全拒答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083875-6D10-4507-8828-B6C34C6A6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12 个合成场景：9 Golden、2 Badcase、1 Insufficient Evidence；不代表生产准确率。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59D5CE-8B2C-4549-BB73-AE75FE69F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541C14-3BD6-4C83-8CF8-BAB5CC253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Golden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7D97D7-B790-4EF2-99F6-5BDA8F71B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当前确定性模拟器支持范围内 9/9 命中 Ground Truth。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31D676-E571-4307-A4CE-0358D8A06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A32CB4-415A-4CBC-9BFF-B354DAF18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冲突拒答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B08822-CE42-4064-BC1A-C814340E1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相同干预对应多个来源假设时 1/1 安全 abstain。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41318D2-02A2-4598-BCB1-0113EFE3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1809750"/>
            <a:ext cx="3048000" cy="1181100"/>
          </a:xfrm>
          <a:prstGeom xmlns:a="http://schemas.openxmlformats.org/drawingml/2006/main" prst="roundRect">
            <a:avLst>
              <a:gd name="adj" fmla="val 967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88A521-5237-4EA1-B0BE-F87669973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981200"/>
            <a:ext cx="2705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已知漏诊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005B61-48F8-48B2-A937-5861F8E9F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362200"/>
            <a:ext cx="26289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代码版本与队列积压尚未建模，2 项 Badcase 不计入成功。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3754A6-F0BE-4FB8-8B88-667E15585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780CBB-3DA8-42D7-AF77-18528CACB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DC2626"/>
                </a:solidFill>
              </a:defRPr>
            </a:pPr>
            <a:r>
              <a:rPr sz="2325" b="1">
                <a:solidFill>
                  <a:srgbClr val="DC2626"/>
                </a:solidFill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B489EE-4CD6-48DA-9F85-780D537EB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总样例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B5E54C7-13C9-4F3F-B500-F006FFD9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07B409-459F-4116-95BB-9A6A79D93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F97316"/>
                </a:solidFill>
              </a:defRPr>
            </a:pPr>
            <a:r>
              <a:rPr sz="2325" b="1">
                <a:solidFill>
                  <a:srgbClr val="F97316"/>
                </a:solidFill>
              </a:rPr>
              <a:t>10/12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3B2DE7F-55B6-47A3-A50C-07A3C7409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达成预期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D07BA-2269-4B68-8D58-D1A499D2E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C863C6-A328-4434-BB4A-4194C6F0B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7C3AED"/>
                </a:solidFill>
              </a:defRPr>
            </a:pPr>
            <a:r>
              <a:rPr sz="2325" b="1">
                <a:solidFill>
                  <a:srgbClr val="7C3AED"/>
                </a:solidFill>
              </a:rPr>
              <a:t>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34E27C-037E-4774-9A08-9532771A1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受支持诊断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FE48C6A-2AFF-49F0-8953-08904B6B4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9F99CF-16B9-41EC-B801-0C47B4031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2563EB"/>
                </a:solidFill>
              </a:defRPr>
            </a:pPr>
            <a:r>
              <a:rPr sz="2325" b="1">
                <a:solidFill>
                  <a:srgbClr val="2563EB"/>
                </a:solidFill>
              </a:rPr>
              <a:t>100%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9149FD6-0982-490E-96D0-FC90BD6A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冲突拒答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4275F8-5336-4677-85C4-DC09B6BF8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3886200"/>
            <a:ext cx="1676400" cy="102870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C9B0A4-91C7-49DE-9C70-F4A447A7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095750"/>
            <a:ext cx="1485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6A34A"/>
                </a:solidFill>
              </a:defRPr>
            </a:pPr>
            <a:r>
              <a:rPr sz="2325" b="1">
                <a:solidFill>
                  <a:srgbClr val="16A34A"/>
                </a:solidFill>
              </a:rPr>
              <a:t>0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64510B7-7E41-4D97-B1BA-9A4E26791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514850"/>
            <a:ext cx="1485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1">
                <a:solidFill>
                  <a:srgbClr val="64748B"/>
                </a:solidFill>
              </a:defRPr>
            </a:pPr>
            <a:r>
              <a:rPr sz="1050" b="1">
                <a:solidFill>
                  <a:srgbClr val="64748B"/>
                </a:solidFill>
              </a:rPr>
              <a:t>意外强行归因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EE4EB48-5CAB-4AD3-BCB1-7D656D53F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91150"/>
            <a:ext cx="97917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01828"/>
                </a:solidFill>
              </a:defRPr>
            </a:pPr>
            <a:r>
              <a:rPr sz="1650" b="1">
                <a:solidFill>
                  <a:srgbClr val="101828"/>
                </a:solidFill>
              </a:rPr>
              <a:t>口径：9/9 与 1/1 是合成确定性回放结果；两项 unsupported 漏诊透明保留。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7FD70A8-99D0-4813-A4DB-BFAF60745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1387C7-3AA4-42E0-88DF-C63EF902B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342216302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3498559-CDA6-4343-AF39-3C4291219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失败案例与能力边界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B36364-832D-4913-B2A2-49229CBF2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Badcase 公开保留，边界才能变成路线图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5A2CC-01D7-4B89-B41A-28F206E4D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不受支持的根因不强行归因；可辨识性不足时明确 abstain。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8866D5-DC47-4B51-AE2E-DB241FC3D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B904296-68D0-481B-9985-4B277404B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代码回归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F2EB36-59F2-458F-8773-CFB843282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code_version 只作哨兵，尚未进入行为模型；当前漏诊并阻断发布。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503A94C-4FFD-424C-88DE-67849D10C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930CE-1745-473B-87D5-B2E307786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队列积压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08D6E01-6FBA-4ACB-A5AC-C88983DFE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队列深度与消费速率尚未建模；不冒充 RocketMQ 根因回放。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DB5A47F-F998-41D0-9F15-91D199DAA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1790700"/>
            <a:ext cx="2857500" cy="1219200"/>
          </a:xfrm>
          <a:prstGeom xmlns:a="http://schemas.openxmlformats.org/drawingml/2006/main" prst="roundRect">
            <a:avLst>
              <a:gd name="adj" fmla="val 9375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1EBF84-BCAC-4351-A4BA-E1B1FB5F4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962150"/>
            <a:ext cx="2514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来源冲突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D00B52-62A8-4205-AEB6-35CCF28EE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343150"/>
            <a:ext cx="24384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两个来源假设映射到同一干预时标记 indeterminate，等待来源级证据。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47880F9-E26E-4BFB-A361-420DB8564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823B2DA-809B-40BD-AE18-54C90D371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样例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C9B9CA-11E7-4BEB-96EE-5C21F809F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9DC68D1-8AF8-43DC-8A27-4C3D28DE6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系统行为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9487AD-C7CC-4A09-AAB2-AE12A53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195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B33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231BA2-750B-43A3-925C-8BF140E8A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7338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发布结果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C5C7297-320A-47B4-B111-4E685A438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531BDF0-2429-42A2-938D-12925E66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code-regression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85952F3-FB75-418F-BC61-44F0DECE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EED93F-87AB-4EA7-A954-F51EF2C51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3ABE24-241B-47C5-98CE-E33D0A208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0767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5D4954-4C88-411A-BC2F-E20E03C58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1910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64A04B-3C2F-4012-82C4-B38010FA4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4AC68AF-A7DC-4FF4-AEAF-D97C2BDEA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queue-backlog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5D7E4D6-966D-415A-A551-EA74981B3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19045FE-7DA2-412D-BEF0-9B3DA5DCF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abstain / 已知漏诊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03E951-5C2B-45AB-8D61-60D293350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5339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91D7D40-3FB4-4103-9C91-DF8294847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6482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blocked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B3440A6-55FA-45C7-BE3B-12FEDC9D5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4C86A94-0CBC-476A-A293-FA6394C96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conflicting-sources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31EDB9C7-9866-4324-BFB5-9B623B7E7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A75813-15A8-4DB7-992B-EB9AB7C51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indeterminate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12686D-89BB-4F73-883A-4B4ACF74E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4991100"/>
            <a:ext cx="3048000" cy="419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8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BCFC5696-096C-4E31-83A3-F70E6CA10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5105400"/>
            <a:ext cx="2819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101828"/>
                </a:solidFill>
              </a:defRPr>
            </a:pPr>
            <a:r>
              <a:rPr sz="1050" b="0">
                <a:solidFill>
                  <a:srgbClr val="101828"/>
                </a:solidFill>
              </a:rPr>
              <a:t>待来源级证据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DE94CCF-FCBB-4029-BF4D-8408C4471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8E358A3-0D1D-4450-9D9A-BE6D59767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209213256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913A64E-3859-42DA-BD3B-86BB07CE8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部署与复现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AA9548-23AA-4708-8679-B1D3AC10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评委可以按 README 从零复现核心闭环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456553F-9E6A-448A-A83C-BACDB9834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依赖、配置、样例输入输出、资源声明和运行证据全部进入仓库。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2DB25-A175-4B54-B33A-C45F3287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1EB2F-1B90-43E3-932A-035BEA11D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核心入口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C0FB0E-B551-4579-B7F6-692523753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demo.py --approve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--approver &lt;name&gt;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--approval-reason &lt;reason&gt;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805190C-27F3-439B-A7EE-B5E48D317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C19F9C-61A2-4081-B533-1743F5555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AgentTeams 入口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E922F0A-8D71-470E-96FF-F4BB7305A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agentteams/run_chronosfix_team.py 输出 compatible transcript 与同源证据。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6E9EEB9-3540-4BE7-86AE-C548ABD04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5F3FF"/>
          </a:solidFill>
          <a:ln xmlns:a="http://schemas.openxmlformats.org/drawingml/2006/main" w="9525">
            <a:solidFill>
              <a:srgbClr val="7C3AE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74A66-2262-4C25-86C2-C7D76817AB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7C3AED"/>
                </a:solidFill>
              </a:defRPr>
            </a:pPr>
            <a:r>
              <a:rPr sz="1575" b="1">
                <a:solidFill>
                  <a:srgbClr val="7C3AED"/>
                </a:solidFill>
              </a:rPr>
              <a:t>契约与 CI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212342A-44BA-4040-9822-F57B7B4EA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scenario.schema.json + v1beta1 校验；Python 3.10–3.12 跑 36 项测试。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0EB7F-C661-486A-BA85-421787734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790700"/>
            <a:ext cx="2381250" cy="1333500"/>
          </a:xfrm>
          <a:prstGeom xmlns:a="http://schemas.openxmlformats.org/drawingml/2006/main" prst="roundRect">
            <a:avLst>
              <a:gd name="adj" fmla="val 8571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46E8B7E-82F4-4AFA-86BF-581F79748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96215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Demo 交付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9255F1-333B-4E77-BFD9-56855BA4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2343150"/>
            <a:ext cx="1962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GitHub Pages 静态站读取生成的 demo-data.json；不保存凭证，不写生产。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4C0A35-0238-48DB-825E-24B8586D3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057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98FAE8B-6825-4CF1-85B1-01D26F04FD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962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CI 同时运行 12 场景评测、严格 JSON/JSONL 校验与 AgentTeams 资源校验。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6398F4-9428-4BF9-A56B-A7DBCA0A15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4767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5BDAFA-661B-42EB-B4BF-C99658046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3815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核心运行仅依赖 Python 标准库；可选 PyYAML 用于资源声明验证。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E0BAF8D-9BE4-4CC8-9B68-EC9110AA2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8958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B47387-283F-421F-89D1-983E26A69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8006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本地执行、dry-run 和真实外部执行在 UI、日志与文档中使用不同状态标签。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2B7E1EA-ABAE-485F-A9D1-B47FCA43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218E55C-C7CD-418A-813C-90AA0B0E2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161234506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商业化卖的不是改代码，而是变更治理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以 DevOps / AIOps 增值模块切入，逐步形成组织级质量资产网络。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团队试点版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Incident→PR 证据闭环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可复现评测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人工审批与回滚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企业集成版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Git / CI / 日志 / SSO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私有部署与审计导出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策略治理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平台生态版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跨团队 Skill Registry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故障基因库与 Benchmark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质量资产复用网络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采购角色：平台工程、研发效能、SRE 与云厂商；收费可采用订阅 + 集成 + 私有部署。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价值指标：评审耗时、误合并率、回滚恢复时长、审计准备成本；真实收益需通过试点测量。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20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EDD836-A520-45DA-B3BD-B7B415631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落地计划与进展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050880-7681-490F-BDA5-609886AC08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开放核心协议与评测，生产执行保持最小权限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495B148-5D1F-4537-A3F9-FA98D6B1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开源让方法可复核，权限边界让企业敢接入。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5087A0-6162-4BAB-A330-AD81D8867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B52100-DC21-426D-A8C6-4C4A94880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已开放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7B56DF-06A7-488A-B93B-5AA4D1487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代码、Schema、12 场景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Worker Skill、证据格式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评测与 Demo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9471EC2-5C2C-4783-A0E5-4EEC2089D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B4895DD-04D1-4789-A395-90389E132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4774B9-E13E-4B0F-B11B-8CC73359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5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合规边界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A65BB15-591E-4257-B951-8EB191534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Apache-2.0、SBOM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合成数据；不提交密钥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第三方依赖披露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A0F4206-D920-4805-B876-4B264E48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895600"/>
            <a:ext cx="49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14B8A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3C593CA-F654-4F44-B67A-09CECA89F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09750"/>
            <a:ext cx="2724150" cy="2190750"/>
          </a:xfrm>
          <a:prstGeom xmlns:a="http://schemas.openxmlformats.org/drawingml/2006/main" prst="roundRect">
            <a:avLst>
              <a:gd name="adj" fmla="val 5217"/>
            </a:avLst>
          </a:prstGeom>
          <a:solidFill xmlns:a="http://schemas.openxmlformats.org/drawingml/2006/main">
            <a:srgbClr val="FFF7ED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885C9B9-B87D-4EC1-99DB-760BC6DE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4350" y="198120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F97316"/>
                </a:solidFill>
              </a:defRPr>
            </a:pPr>
            <a:r>
              <a:rPr sz="1575" b="1">
                <a:solidFill>
                  <a:srgbClr val="F97316"/>
                </a:solidFill>
              </a:rPr>
              <a:t>下一阶段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BD14683-2A26-4FAD-A64E-7C3AA9635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362200"/>
            <a:ext cx="2305050" cy="1543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真实 AgentTeams Runtime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只读 SLS / MCP / RAG</a:t>
            </a:r>
          </a:p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AgentLoop / Studio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DDC8DDB-D6C4-4FC2-BC90-2672A75AF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7815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7FC9FCF-D105-4171-95E6-0E8A885DD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6863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当前状态：Controller / Matrix 尚未执行；真实 SLS 需要本地只读凭证；其余推荐组件为迁移目标。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292F55-7BCA-46A5-9F16-5A84BD14B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200650"/>
            <a:ext cx="76200" cy="76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486348B-6075-4A58-8CB0-82DEDF7ED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5105400"/>
            <a:ext cx="912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101828"/>
                </a:solidFill>
              </a:defRPr>
            </a:pPr>
            <a:r>
              <a:rPr sz="1575" b="0">
                <a:solidFill>
                  <a:srgbClr val="101828"/>
                </a:solidFill>
              </a:rPr>
              <a:t>原则：组件数量不计分；只在闭环证据需要时引入，并披露替换原因与迁移成本。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4AE59EB-0099-4A81-8133-169352BBF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CD46D0-0FF6-44D1-8C27-008A28AB6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21</a:t>
            </a:r>
          </a:p>
        </p:txBody>
      </p:sp>
    </p:spTree>
    <p:extLst>
      <p:ext uri="{BB962C8B-B14F-4D97-AF65-F5344CB8AC3E}">
        <p14:creationId xmlns:p14="http://schemas.microsoft.com/office/powerpoint/2010/main" val="685749468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D1B84F2-61C8-4C1A-858D-D03B17608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97316"/>
                </a:solidFill>
              </a:defRPr>
            </a:pPr>
            <a:r>
              <a:rPr sz="1125" b="1">
                <a:solidFill>
                  <a:srgbClr val="F97316"/>
                </a:solidFill>
              </a:rPr>
              <a:t>团队与提交物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730797-E4E0-4BCF-AE8C-2A49EEF54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23900"/>
            <a:ext cx="10287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01828"/>
                </a:solidFill>
              </a:defRPr>
            </a:pPr>
            <a:r>
              <a:rPr sz="2850" b="1">
                <a:solidFill>
                  <a:srgbClr val="101828"/>
                </a:solidFill>
              </a:rPr>
              <a:t>AsoulAI 交付完整复赛包，不只是一个概念 PPT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71A1-8249-4B12-B656-054A23C7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33500"/>
            <a:ext cx="9906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4748B"/>
                </a:solidFill>
              </a:defRPr>
            </a:pPr>
            <a:r>
              <a:rPr sz="1350" b="0">
                <a:solidFill>
                  <a:srgbClr val="64748B"/>
                </a:solidFill>
              </a:rPr>
              <a:t>方案、代码、Demo、评测、Trace、审计和开放计划均可独立进入与复核。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E00A48-5771-4B87-BAB4-57060752A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790700"/>
            <a:ext cx="21907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FF6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9D5316-3E6D-493A-9BA4-5986FAAFF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1962150"/>
            <a:ext cx="1847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2563EB"/>
                </a:solidFill>
              </a:defRPr>
            </a:pPr>
            <a:r>
              <a:rPr sz="1575" b="1">
                <a:solidFill>
                  <a:srgbClr val="2563EB"/>
                </a:solidFill>
              </a:rPr>
              <a:t>队伍名称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C7F4A4D-89EA-4F03-A553-E88ED9C48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17716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AsoulAI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DC6F9CD-3F75-4A48-98C4-6CFF756A2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790700"/>
            <a:ext cx="31432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ECFEFF"/>
          </a:solidFill>
          <a:ln xmlns:a="http://schemas.openxmlformats.org/drawingml/2006/main" w="9525">
            <a:solidFill>
              <a:srgbClr val="14B8A6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970F44-1FC8-4921-BF41-B36DC507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33800" y="1962150"/>
            <a:ext cx="2800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4B8A6"/>
                </a:solidFill>
              </a:defRPr>
            </a:pPr>
            <a:r>
              <a:rPr sz="1575" b="1">
                <a:solidFill>
                  <a:srgbClr val="14B8A6"/>
                </a:solidFill>
              </a:rPr>
              <a:t>作品名称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D75DB2-57C8-4BC6-9EA9-898931754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1900" y="2343150"/>
            <a:ext cx="27241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ChronosFix：带证明的软件变更基础设施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13E6CE-B52A-4ABB-A162-6C784E14F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790700"/>
            <a:ext cx="400050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F0FDF4"/>
          </a:solidFill>
          <a:ln xmlns:a="http://schemas.openxmlformats.org/drawingml/2006/main" w="9525">
            <a:solidFill>
              <a:srgbClr val="16A34A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59B6A29-7CA9-4C6A-8590-51098F7A9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657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6A34A"/>
                </a:solidFill>
              </a:defRPr>
            </a:pPr>
            <a:r>
              <a:rPr sz="1575" b="1">
                <a:solidFill>
                  <a:srgbClr val="16A34A"/>
                </a:solidFill>
              </a:rPr>
              <a:t>Demo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7E9A99-4019-492B-A6A4-04C4A06ED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343150"/>
            <a:ext cx="3581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101828"/>
                </a:solidFill>
              </a:defRPr>
            </a:pPr>
            <a:r>
              <a:rPr sz="1200" b="0">
                <a:solidFill>
                  <a:srgbClr val="101828"/>
                </a:solidFill>
              </a:rPr>
              <a:t>https://asoul-official.github.io/asoulai-chronosfix/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F55ABEC-DB60-4EDA-91BB-8711BECFA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C5FB3B-B73D-4B9E-A934-28107962B6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代码仓库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87FBA4B-BC6D-4381-9391-0D67A3E6B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github.com/ASOUL-Official/
asoulai-chronosfix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2D0971-E418-4BF6-95EB-535E1BAD5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2900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AFBEF8-87D5-47B2-9003-AC3580B2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60045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方案材料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9732FC2-ED46-42EF-A00B-23BDCD801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60045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submission/ChronosFix_复赛方案.pptx / .pdf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9FA537-CBBC-4CAA-9302-959AC903EA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2563E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8081B4-B75C-4191-A244-244FD57A7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563EB"/>
                </a:solidFill>
              </a:defRPr>
            </a:pPr>
            <a:r>
              <a:rPr sz="1275" b="1">
                <a:solidFill>
                  <a:srgbClr val="2563EB"/>
                </a:solidFill>
              </a:rPr>
              <a:t>可验证证据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D0C899-9AE8-4840-83B5-33BA6BA61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evidence/ + evaluation-corpus/ + run-manifest.json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BFEFBFA-4777-4E18-A0D8-AB3DB779B9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48150"/>
            <a:ext cx="4267200" cy="590550"/>
          </a:xfrm>
          <a:prstGeom xmlns:a="http://schemas.openxmlformats.org/drawingml/2006/main" prst="roundRect">
            <a:avLst>
              <a:gd name="adj" fmla="val 1290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F9731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891FCA4-8DE3-4AE0-8B45-3669A6A82D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419600"/>
            <a:ext cx="1047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F97316"/>
                </a:solidFill>
              </a:defRPr>
            </a:pPr>
            <a:r>
              <a:rPr sz="1275" b="1">
                <a:solidFill>
                  <a:srgbClr val="F97316"/>
                </a:solidFill>
              </a:rPr>
              <a:t>核心结论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C723ACC-B924-4EA5-B0CE-9E5E37D9B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419600"/>
            <a:ext cx="2724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101828"/>
                </a:solidFill>
              </a:defRPr>
            </a:pPr>
            <a:r>
              <a:rPr sz="1125" b="0">
                <a:solidFill>
                  <a:srgbClr val="101828"/>
                </a:solidFill>
              </a:rPr>
              <a:t>根因可证明｜补丁可验证｜发布可审计｜经验可复用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AA51BE4-1766-48C0-AA24-E0D1CFCBD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467350"/>
            <a:ext cx="9677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01828"/>
                </a:solidFill>
              </a:defRPr>
            </a:pPr>
            <a:r>
              <a:rPr sz="1725" b="1">
                <a:solidFill>
                  <a:srgbClr val="101828"/>
                </a:solidFill>
              </a:rPr>
              <a:t>A-CFX：让每次软件修复都携带证据，让每次事故都沉淀为质量资产。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7B7921B-2589-4CE8-80A0-158C15D55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43650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AsoulAI ChronosFix / A-CFX · GOAI Agent Infra 复赛方案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E8F877A-34C5-41E1-90B9-4E6810605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6343650"/>
            <a:ext cx="571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0">
                <a:solidFill>
                  <a:srgbClr val="64748B"/>
                </a:solidFill>
              </a:defRPr>
            </a:pPr>
            <a:r>
              <a:rPr sz="900" b="0">
                <a:solidFill>
                  <a:srgbClr val="64748B"/>
                </a:solidFill>
              </a:rPr>
              <a:t>22</a:t>
            </a:r>
          </a:p>
        </p:txBody>
      </p:sp>
    </p:spTree>
    <p:extLst>
      <p:ext uri="{BB962C8B-B14F-4D97-AF65-F5344CB8AC3E}">
        <p14:creationId xmlns:p14="http://schemas.microsoft.com/office/powerpoint/2010/main" val="136651424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2026-08-26T09:02:37.9490000Z</dcterms:created>
  <dcterms:modified xsi:type="dcterms:W3CDTF">2026-08-26T09:02:37.9490000Z</dcterms:modified>
</coreProperties>
</file>