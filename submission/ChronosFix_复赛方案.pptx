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1f72a13250654559" /><Relationship Type="http://schemas.openxmlformats.org/officeDocument/2006/relationships/extended-properties" Target="/docProps/app.xml" Id="R0463f3f05bf4445b" /><Relationship Type="http://schemas.openxmlformats.org/officeDocument/2006/relationships/officeDocument" Target="/ppt/presentation.xml" Id="Rc560177d798f4dc8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07ecdc7f5d6948ca"/>
  </p:sldMasterIdLst>
  <p:notesMasterIdLst>
    <p:notesMasterId xmlns:r="http://schemas.openxmlformats.org/officeDocument/2006/relationships" r:id="R1301e7282bc64122"/>
  </p:notesMasterIdLst>
  <p:sldIdLst>
    <p:sldId xmlns:r="http://schemas.openxmlformats.org/officeDocument/2006/relationships" id="256" r:id="R8dc6d0b6aa3a404f"/>
    <p:sldId xmlns:r="http://schemas.openxmlformats.org/officeDocument/2006/relationships" id="257" r:id="R01dbf4bc931c4fb1"/>
    <p:sldId xmlns:r="http://schemas.openxmlformats.org/officeDocument/2006/relationships" id="258" r:id="Rf20ad245d9514dfc"/>
    <p:sldId xmlns:r="http://schemas.openxmlformats.org/officeDocument/2006/relationships" id="259" r:id="R09085f90563547fd"/>
    <p:sldId xmlns:r="http://schemas.openxmlformats.org/officeDocument/2006/relationships" id="260" r:id="R88af00e0c03140b7"/>
    <p:sldId xmlns:r="http://schemas.openxmlformats.org/officeDocument/2006/relationships" id="261" r:id="R4f63ab2c8f94458d"/>
    <p:sldId xmlns:r="http://schemas.openxmlformats.org/officeDocument/2006/relationships" id="262" r:id="R0c16223d39114f7b"/>
    <p:sldId xmlns:r="http://schemas.openxmlformats.org/officeDocument/2006/relationships" id="263" r:id="R7cf74e30176c43c3"/>
    <p:sldId xmlns:r="http://schemas.openxmlformats.org/officeDocument/2006/relationships" id="264" r:id="R9204c654174c4e29"/>
    <p:sldId xmlns:r="http://schemas.openxmlformats.org/officeDocument/2006/relationships" id="265" r:id="R839390e6349b4b9d"/>
    <p:sldId xmlns:r="http://schemas.openxmlformats.org/officeDocument/2006/relationships" id="266" r:id="Redfd631a7ca8418e"/>
    <p:sldId xmlns:r="http://schemas.openxmlformats.org/officeDocument/2006/relationships" id="267" r:id="R99c074d72b84412a"/>
    <p:sldId xmlns:r="http://schemas.openxmlformats.org/officeDocument/2006/relationships" id="268" r:id="R8f3e523575e7440a"/>
    <p:sldId xmlns:r="http://schemas.openxmlformats.org/officeDocument/2006/relationships" id="269" r:id="R53fa5c3bad534cca"/>
    <p:sldId xmlns:r="http://schemas.openxmlformats.org/officeDocument/2006/relationships" id="270" r:id="Raa90ce716b1f4ef5"/>
    <p:sldId xmlns:r="http://schemas.openxmlformats.org/officeDocument/2006/relationships" id="271" r:id="R866def4966e442e6"/>
    <p:sldId xmlns:r="http://schemas.openxmlformats.org/officeDocument/2006/relationships" id="272" r:id="Ra03035e3b11740e7"/>
    <p:sldId xmlns:r="http://schemas.openxmlformats.org/officeDocument/2006/relationships" id="273" r:id="R062f277f50014cee"/>
    <p:sldId xmlns:r="http://schemas.openxmlformats.org/officeDocument/2006/relationships" id="274" r:id="R3024174802cd4344"/>
    <p:sldId xmlns:r="http://schemas.openxmlformats.org/officeDocument/2006/relationships" id="275" r:id="R5ef177b21cdc44dc"/>
    <p:sldId xmlns:r="http://schemas.openxmlformats.org/officeDocument/2006/relationships" id="276" r:id="R583d4d1937c44360"/>
    <p:sldId xmlns:r="http://schemas.openxmlformats.org/officeDocument/2006/relationships" id="277" r:id="R5f01bbf70b0f4e77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edabb04a24a84986" /><Relationship Type="http://schemas.openxmlformats.org/officeDocument/2006/relationships/slideMaster" Target="/ppt/slideMasters/slideMaster1.xml" Id="R07ecdc7f5d6948ca" /><Relationship Type="http://schemas.openxmlformats.org/officeDocument/2006/relationships/notesMaster" Target="/ppt/notesMasters/notesMaster1.xml" Id="R1301e7282bc64122" /><Relationship Type="http://schemas.openxmlformats.org/officeDocument/2006/relationships/presProps" Target="/ppt/presProps.xml" Id="Rf917751425c3482f" /><Relationship Type="http://schemas.openxmlformats.org/officeDocument/2006/relationships/tableStyles" Target="/ppt/tableStyles.xml" Id="R415fd302dd4d4772" /><Relationship Type="http://schemas.openxmlformats.org/officeDocument/2006/relationships/slide" Target="/ppt/slides/slide1.xml" Id="R8dc6d0b6aa3a404f" /><Relationship Type="http://schemas.openxmlformats.org/officeDocument/2006/relationships/slide" Target="/ppt/slides/slide2.xml" Id="R01dbf4bc931c4fb1" /><Relationship Type="http://schemas.openxmlformats.org/officeDocument/2006/relationships/slide" Target="/ppt/slides/slide3.xml" Id="Rf20ad245d9514dfc" /><Relationship Type="http://schemas.openxmlformats.org/officeDocument/2006/relationships/slide" Target="/ppt/slides/slide4.xml" Id="R09085f90563547fd" /><Relationship Type="http://schemas.openxmlformats.org/officeDocument/2006/relationships/slide" Target="/ppt/slides/slide5.xml" Id="R88af00e0c03140b7" /><Relationship Type="http://schemas.openxmlformats.org/officeDocument/2006/relationships/slide" Target="/ppt/slides/slide6.xml" Id="R4f63ab2c8f94458d" /><Relationship Type="http://schemas.openxmlformats.org/officeDocument/2006/relationships/slide" Target="/ppt/slides/slide7.xml" Id="R0c16223d39114f7b" /><Relationship Type="http://schemas.openxmlformats.org/officeDocument/2006/relationships/slide" Target="/ppt/slides/slide8.xml" Id="R7cf74e30176c43c3" /><Relationship Type="http://schemas.openxmlformats.org/officeDocument/2006/relationships/slide" Target="/ppt/slides/slide9.xml" Id="R9204c654174c4e29" /><Relationship Type="http://schemas.openxmlformats.org/officeDocument/2006/relationships/slide" Target="/ppt/slides/slide10.xml" Id="R839390e6349b4b9d" /><Relationship Type="http://schemas.openxmlformats.org/officeDocument/2006/relationships/slide" Target="/ppt/slides/slide11.xml" Id="Redfd631a7ca8418e" /><Relationship Type="http://schemas.openxmlformats.org/officeDocument/2006/relationships/slide" Target="/ppt/slides/slide12.xml" Id="R99c074d72b84412a" /><Relationship Type="http://schemas.openxmlformats.org/officeDocument/2006/relationships/slide" Target="/ppt/slides/slide13.xml" Id="R8f3e523575e7440a" /><Relationship Type="http://schemas.openxmlformats.org/officeDocument/2006/relationships/slide" Target="/ppt/slides/slide14.xml" Id="R53fa5c3bad534cca" /><Relationship Type="http://schemas.openxmlformats.org/officeDocument/2006/relationships/slide" Target="/ppt/slides/slide15.xml" Id="Raa90ce716b1f4ef5" /><Relationship Type="http://schemas.openxmlformats.org/officeDocument/2006/relationships/slide" Target="/ppt/slides/slide16.xml" Id="R866def4966e442e6" /><Relationship Type="http://schemas.openxmlformats.org/officeDocument/2006/relationships/slide" Target="/ppt/slides/slide17.xml" Id="Ra03035e3b11740e7" /><Relationship Type="http://schemas.openxmlformats.org/officeDocument/2006/relationships/slide" Target="/ppt/slides/slide18.xml" Id="R062f277f50014cee" /><Relationship Type="http://schemas.openxmlformats.org/officeDocument/2006/relationships/slide" Target="/ppt/slides/slide19.xml" Id="R3024174802cd4344" /><Relationship Type="http://schemas.openxmlformats.org/officeDocument/2006/relationships/slide" Target="/ppt/slides/slide20.xml" Id="R5ef177b21cdc44dc" /><Relationship Type="http://schemas.openxmlformats.org/officeDocument/2006/relationships/slide" Target="/ppt/slides/slide21.xml" Id="R583d4d1937c44360" /><Relationship Type="http://schemas.openxmlformats.org/officeDocument/2006/relationships/slide" Target="/ppt/slides/slide22.xml" Id="R5f01bbf70b0f4e77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8f053d13e2554484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ebf6060c4fc74c4e" /><Relationship Type="http://schemas.openxmlformats.org/officeDocument/2006/relationships/notesMaster" Target="/ppt/notesMasters/notesMaster1.xml" Id="Rb05610087a7f4b93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e48a775de8ea4ced" /><Relationship Type="http://schemas.openxmlformats.org/officeDocument/2006/relationships/notesMaster" Target="/ppt/notesMasters/notesMaster1.xml" Id="Re7061674f5dc49be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2703beccb42f4f70" /><Relationship Type="http://schemas.openxmlformats.org/officeDocument/2006/relationships/notesMaster" Target="/ppt/notesMasters/notesMaster1.xml" Id="R0c1b08c994f84a1e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8324d7782d0d45bd" /><Relationship Type="http://schemas.openxmlformats.org/officeDocument/2006/relationships/notesMaster" Target="/ppt/notesMasters/notesMaster1.xml" Id="R509170070d214e68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f78e056b20234b11" /><Relationship Type="http://schemas.openxmlformats.org/officeDocument/2006/relationships/notesMaster" Target="/ppt/notesMasters/notesMaster1.xml" Id="Rdc9988959c8b4d72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5f889e3a2e964d4e" /><Relationship Type="http://schemas.openxmlformats.org/officeDocument/2006/relationships/notesMaster" Target="/ppt/notesMasters/notesMaster1.xml" Id="R79e58bf333644aac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117af4857b974e9e" /><Relationship Type="http://schemas.openxmlformats.org/officeDocument/2006/relationships/notesMaster" Target="/ppt/notesMasters/notesMaster1.xml" Id="Rd1222edb051641be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f7aa9b118cb74c84" /><Relationship Type="http://schemas.openxmlformats.org/officeDocument/2006/relationships/notesMaster" Target="/ppt/notesMasters/notesMaster1.xml" Id="R9b9e0ec6515f453b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1a168812e6264af3" /><Relationship Type="http://schemas.openxmlformats.org/officeDocument/2006/relationships/notesMaster" Target="/ppt/notesMasters/notesMaster1.xml" Id="Rc48fb6d0c1c54346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3f08df08a24f4c0e" /><Relationship Type="http://schemas.openxmlformats.org/officeDocument/2006/relationships/notesMaster" Target="/ppt/notesMasters/notesMaster1.xml" Id="R0d68f3d9a1904a47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ec1fbb4152c14e2e" /><Relationship Type="http://schemas.openxmlformats.org/officeDocument/2006/relationships/notesMaster" Target="/ppt/notesMasters/notesMaster1.xml" Id="R2f0baf79fdc240c7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ad015eb484234ab0" /><Relationship Type="http://schemas.openxmlformats.org/officeDocument/2006/relationships/notesMaster" Target="/ppt/notesMasters/notesMaster1.xml" Id="R8d48181c24794443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f95ed5cbb0bc4125" /><Relationship Type="http://schemas.openxmlformats.org/officeDocument/2006/relationships/notesMaster" Target="/ppt/notesMasters/notesMaster1.xml" Id="R43079c8ea373439b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d0cdf1ecaf3b4099" /><Relationship Type="http://schemas.openxmlformats.org/officeDocument/2006/relationships/notesMaster" Target="/ppt/notesMasters/notesMaster1.xml" Id="Rfb6688a515c44d78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2d02d4635cc441e6" /><Relationship Type="http://schemas.openxmlformats.org/officeDocument/2006/relationships/notesMaster" Target="/ppt/notesMasters/notesMaster1.xml" Id="Rdf597751fc2a48b8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94afde1dce654703" /><Relationship Type="http://schemas.openxmlformats.org/officeDocument/2006/relationships/notesMaster" Target="/ppt/notesMasters/notesMaster1.xml" Id="R1fcc661f343841e5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5a78fcf3b44048a8" /><Relationship Type="http://schemas.openxmlformats.org/officeDocument/2006/relationships/notesMaster" Target="/ppt/notesMasters/notesMaster1.xml" Id="R9d68b6c5b8c54610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645a08d37b7942e3" /><Relationship Type="http://schemas.openxmlformats.org/officeDocument/2006/relationships/notesMaster" Target="/ppt/notesMasters/notesMaster1.xml" Id="R5e0f9c3f5ef14c85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60787bdad3034ab9" /><Relationship Type="http://schemas.openxmlformats.org/officeDocument/2006/relationships/notesMaster" Target="/ppt/notesMasters/notesMaster1.xml" Id="R4a4d2767572e48ec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7d75b12d53d84ced" /><Relationship Type="http://schemas.openxmlformats.org/officeDocument/2006/relationships/notesMaster" Target="/ppt/notesMasters/notesMaster1.xml" Id="Re56b26f0ccd7449a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6761b0708b934e19" /><Relationship Type="http://schemas.openxmlformats.org/officeDocument/2006/relationships/notesMaster" Target="/ppt/notesMasters/notesMaster1.xml" Id="Ra2d1c53d0ab74e14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e8b6883f7f434581" /><Relationship Type="http://schemas.openxmlformats.org/officeDocument/2006/relationships/notesMaster" Target="/ppt/notesMasters/notesMaster1.xml" Id="R14742007c42a4baa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D:/1/全球AI大赛/2e567d1a-99c1-45ce-8a0f-3d36d11f3314.pdf：官方 PPT 内容框架模板</a:t>
            </a:r>
          </a:p>
          <a:p xmlns:a="http://schemas.openxmlformats.org/drawingml/2006/main">
            <a:r>
              <a:t>D:/1/全球AI大赛/6e21b053-f18b-4857-83e2-835bd96d5434.pdf：最新版参赛指南</a:t>
            </a:r>
          </a:p>
          <a:p xmlns:a="http://schemas.openxmlformats.org/drawingml/2006/main">
            <a:r>
              <a:t>https://github.com/ASOUL-Official/asoulai-chronosfix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D:/1/全球AI大赛/6e21b053-f18b-4857-83e2-835bd96d5434.pdf：最新版参赛指南</a:t>
            </a:r>
          </a:p>
          <a:p xmlns:a="http://schemas.openxmlformats.org/drawingml/2006/main">
            <a:r>
              <a:t>README.md</a:t>
            </a:r>
          </a:p>
          <a:p xmlns:a="http://schemas.openxmlformats.org/drawingml/2006/main">
            <a:r>
              <a:t>evidence/evaluation-corpus/evaluation-summary.json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D:/1/全球AI大赛/6e21b053-f18b-4857-83e2-835bd96d5434.pdf：最新版参赛指南</a:t>
            </a:r>
          </a:p>
          <a:p xmlns:a="http://schemas.openxmlformats.org/drawingml/2006/main">
            <a:r>
              <a:t>README.md</a:t>
            </a:r>
          </a:p>
          <a:p xmlns:a="http://schemas.openxmlformats.org/drawingml/2006/main">
            <a:r>
              <a:t>docs/semifinal-guide-matrix.md</a:t>
            </a:r>
          </a:p>
          <a:p xmlns:a="http://schemas.openxmlformats.org/drawingml/2006/main">
            <a:r>
              <a:t>.github/workflows/verify.yml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scenarios/checkout-timeout/scenario.json</a:t>
            </a:r>
          </a:p>
          <a:p xmlns:a="http://schemas.openxmlformats.org/drawingml/2006/main">
            <a:r>
              <a:t>evidence/engineering-metrics.json</a:t>
            </a:r>
          </a:p>
          <a:p xmlns:a="http://schemas.openxmlformats.org/drawingml/2006/main">
            <a:r>
              <a:t>docs/business-value.md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D:/1/全球AI大赛/6e21b053-f18b-4857-83e2-835bd96d5434.pdf：最新版参赛指南</a:t>
            </a:r>
          </a:p>
          <a:p xmlns:a="http://schemas.openxmlformats.org/drawingml/2006/main">
            <a:r>
              <a:t>src/chronosfix/orchestrator.py</a:t>
            </a:r>
          </a:p>
          <a:p xmlns:a="http://schemas.openxmlformats.org/drawingml/2006/main">
            <a:r>
              <a:t>src/chronosfix/skills/risk_gate.py</a:t>
            </a:r>
          </a:p>
          <a:p xmlns:a="http://schemas.openxmlformats.org/drawingml/2006/main">
            <a:r>
              <a:t>evidence/github-pr.json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scenarios/checkout-timeout/scenario.json</a:t>
            </a:r>
          </a:p>
          <a:p xmlns:a="http://schemas.openxmlformats.org/drawingml/2006/main">
            <a:r>
              <a:t>evidence/proof-bundle.json</a:t>
            </a:r>
          </a:p>
          <a:p xmlns:a="http://schemas.openxmlformats.org/drawingml/2006/main">
            <a:r>
              <a:t>evidence/run-manifest.json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D:/1/全球AI大赛/6e21b053-f18b-4857-83e2-835bd96d5434.pdf：最新版参赛指南</a:t>
            </a:r>
          </a:p>
          <a:p xmlns:a="http://schemas.openxmlformats.org/drawingml/2006/main">
            <a:r>
              <a:t>https://github.com/agentscope-ai/AgentTeams/releases/tag/v1.2.3</a:t>
            </a:r>
          </a:p>
          <a:p xmlns:a="http://schemas.openxmlformats.org/drawingml/2006/main">
            <a:r>
              <a:t>https://github.com/agentscope-ai/AgentTeams/blob/main/docs/zh-cn/declarative-resource-management.md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https://github.com/agentscope-ai/AgentTeams/releases/tag/v1.2.3</a:t>
            </a:r>
          </a:p>
          <a:p xmlns:a="http://schemas.openxmlformats.org/drawingml/2006/main">
            <a:r>
              <a:t>https://github.com/agentscope-ai/AgentTeams/blob/main/docs/zh-cn/declarative-resource-management.md</a:t>
            </a:r>
          </a:p>
          <a:p xmlns:a="http://schemas.openxmlformats.org/drawingml/2006/main">
            <a:r>
              <a:t>agentteams/runtime/chronosfix-resources.yaml</a:t>
            </a:r>
          </a:p>
          <a:p xmlns:a="http://schemas.openxmlformats.org/drawingml/2006/main">
            <a:r>
              <a:t>evidence/agentteams-manifest-validation.json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agentteams/runtime/chronosfix-resources.yaml</a:t>
            </a:r>
          </a:p>
          <a:p xmlns:a="http://schemas.openxmlformats.org/drawingml/2006/main">
            <a:r>
              <a:t>schemas/scenario.schema.json</a:t>
            </a:r>
          </a:p>
          <a:p xmlns:a="http://schemas.openxmlformats.org/drawingml/2006/main">
            <a:r>
              <a:t>evidence/trace.jsonl</a:t>
            </a:r>
          </a:p>
          <a:p xmlns:a="http://schemas.openxmlformats.org/drawingml/2006/main">
            <a:r>
              <a:t>docs/agent-identity.md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src/chronosfix/skills/counterfactual_replay.py</a:t>
            </a:r>
          </a:p>
          <a:p xmlns:a="http://schemas.openxmlformats.org/drawingml/2006/main">
            <a:r>
              <a:t>src/chronosfix/skills/risk_gate.py</a:t>
            </a:r>
          </a:p>
          <a:p xmlns:a="http://schemas.openxmlformats.org/drawingml/2006/main">
            <a:r>
              <a:t>tests/test_evaluation.py</a:t>
            </a:r>
          </a:p>
          <a:p xmlns:a="http://schemas.openxmlformats.org/drawingml/2006/main">
            <a:r>
              <a:t>tests/test_risk_gate.py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D:/1/全球AI大赛/6e21b053-f18b-4857-83e2-835bd96d5434.pdf：最新版参赛指南</a:t>
            </a:r>
          </a:p>
          <a:p xmlns:a="http://schemas.openxmlformats.org/drawingml/2006/main">
            <a:r>
              <a:t>https://skills.aliyun.com/skills/alibabacloud-sls-query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docs/skill-specs.md</a:t>
            </a:r>
          </a:p>
          <a:p xmlns:a="http://schemas.openxmlformats.org/drawingml/2006/main">
            <a:r>
              <a:t>src/chronosfix/skills/</a:t>
            </a:r>
          </a:p>
          <a:p xmlns:a="http://schemas.openxmlformats.org/drawingml/2006/main">
            <a:r>
              <a:t>src/chronosfix/orchestrator.py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https://skills.aliyun.com/skills/alibabacloud-sls-query</a:t>
            </a:r>
          </a:p>
          <a:p xmlns:a="http://schemas.openxmlformats.org/drawingml/2006/main">
            <a:r>
              <a:t>https://github.com/aliyun/alibabacloud-aiops-skills</a:t>
            </a:r>
          </a:p>
          <a:p xmlns:a="http://schemas.openxmlformats.org/drawingml/2006/main">
            <a:r>
              <a:t>src/chronosfix/cloud_skills.py</a:t>
            </a:r>
          </a:p>
          <a:p xmlns:a="http://schemas.openxmlformats.org/drawingml/2006/main">
            <a:r>
              <a:t>evidence/cloud-skill-sls-dry-run.json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D:/1/全球AI大赛/6e21b053-f18b-4857-83e2-835bd96d5434.pdf：最新版参赛指南</a:t>
            </a:r>
          </a:p>
          <a:p xmlns:a="http://schemas.openxmlformats.org/drawingml/2006/main">
            <a:r>
              <a:t>docs/official-infra-mapping.md</a:t>
            </a:r>
          </a:p>
          <a:p xmlns:a="http://schemas.openxmlformats.org/drawingml/2006/main">
            <a:r>
              <a:t>docs/architecture.md</a:t>
            </a:r>
          </a:p>
          <a:p xmlns:a="http://schemas.openxmlformats.org/drawingml/2006/main">
            <a:r>
              <a:t>agentteams/runtime/runtime-status.md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D:/1/全球AI大赛/6e21b053-f18b-4857-83e2-835bd96d5434.pdf：最新版参赛指南</a:t>
            </a:r>
          </a:p>
          <a:p xmlns:a="http://schemas.openxmlformats.org/drawingml/2006/main">
            <a:r>
              <a:t>.github/workflows/verify.yml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evidence/run-manifest.json</a:t>
            </a:r>
          </a:p>
          <a:p xmlns:a="http://schemas.openxmlformats.org/drawingml/2006/main">
            <a:r>
              <a:t>evidence/engineering-metrics.json</a:t>
            </a:r>
          </a:p>
          <a:p xmlns:a="http://schemas.openxmlformats.org/drawingml/2006/main">
            <a:r>
              <a:t>evidence/github-pr.json</a:t>
            </a:r>
          </a:p>
          <a:p xmlns:a="http://schemas.openxmlformats.org/drawingml/2006/main">
            <a:r>
              <a:t>evidence/trace.jsonl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evidence/evaluation-corpus/evaluation-summary.json</a:t>
            </a:r>
          </a:p>
          <a:p xmlns:a="http://schemas.openxmlformats.org/drawingml/2006/main">
            <a:r>
              <a:t>evidence/evaluation-corpus/evaluation-report.md</a:t>
            </a:r>
          </a:p>
          <a:p xmlns:a="http://schemas.openxmlformats.org/drawingml/2006/main">
            <a:r>
              <a:t>scenarios/evaluation-fixtures/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scenarios/evaluation-fixtures/</a:t>
            </a:r>
          </a:p>
          <a:p xmlns:a="http://schemas.openxmlformats.org/drawingml/2006/main">
            <a:r>
              <a:t>src/chronosfix/evaluation.py</a:t>
            </a:r>
          </a:p>
          <a:p xmlns:a="http://schemas.openxmlformats.org/drawingml/2006/main">
            <a:r>
              <a:t>src/chronosfix/skills/counterfactual_replay.py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README.md</a:t>
            </a:r>
          </a:p>
          <a:p xmlns:a="http://schemas.openxmlformats.org/drawingml/2006/main">
            <a:r>
              <a:t>.github/workflows/verify.yml</a:t>
            </a:r>
          </a:p>
          <a:p xmlns:a="http://schemas.openxmlformats.org/drawingml/2006/main">
            <a:r>
              <a:t>schemas/scenario.schema.json</a:t>
            </a:r>
          </a:p>
          <a:p xmlns:a="http://schemas.openxmlformats.org/drawingml/2006/main">
            <a:r>
              <a:t>docs/deployment-and-verification.md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docs/business-value.md</a:t>
            </a:r>
          </a:p>
          <a:p xmlns:a="http://schemas.openxmlformats.org/drawingml/2006/main">
            <a:r>
              <a:t>docs/measurement-plan.md</a:t>
            </a:r>
          </a:p>
          <a:p xmlns:a="http://schemas.openxmlformats.org/drawingml/2006/main">
            <a:r>
              <a:t>docs/proof-carrying-change.md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LICENSE</a:t>
            </a:r>
          </a:p>
          <a:p xmlns:a="http://schemas.openxmlformats.org/drawingml/2006/main">
            <a:r>
              <a:t>THIRD_PARTY_NOTICES.md</a:t>
            </a:r>
          </a:p>
          <a:p xmlns:a="http://schemas.openxmlformats.org/drawingml/2006/main">
            <a:r>
              <a:t>SBOM.json</a:t>
            </a:r>
          </a:p>
          <a:p xmlns:a="http://schemas.openxmlformats.org/drawingml/2006/main">
            <a:r>
              <a:t>docs/open-source-compliance.md</a:t>
            </a:r>
          </a:p>
          <a:p xmlns:a="http://schemas.openxmlformats.org/drawingml/2006/main">
            <a:r>
              <a:t>agentteams/runtime/runtime-status.md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https://github.com/ASOUL-Official/asoulai-chronosfix</a:t>
            </a:r>
          </a:p>
          <a:p xmlns:a="http://schemas.openxmlformats.org/drawingml/2006/main">
            <a:r>
              <a:t>https://asoul-official.github.io/asoulai-chronosfix/</a:t>
            </a:r>
          </a:p>
          <a:p xmlns:a="http://schemas.openxmlformats.org/drawingml/2006/main">
            <a:r>
              <a:t>README.md</a:t>
            </a:r>
          </a:p>
          <a:p xmlns:a="http://schemas.openxmlformats.org/drawingml/2006/main">
            <a:r>
              <a:t>submission/submission-checklist.md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dcccc2df6bb48ca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835b17bfb975424e" /><Relationship Type="http://schemas.openxmlformats.org/officeDocument/2006/relationships/slideLayout" Target="/ppt/slideLayouts/slideLayout1.xml" Id="R214feafd5ca84d50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14feafd5ca84d50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3669898c05c44e1" /><Relationship Type="http://schemas.openxmlformats.org/officeDocument/2006/relationships/notesSlide" Target="/ppt/notesSlides/notesSlide1.xml" Id="Rf5c64440ff9343c3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79c7358fb93429b" /><Relationship Type="http://schemas.openxmlformats.org/officeDocument/2006/relationships/notesSlide" Target="/ppt/notesSlides/notesSlide2.xml" Id="R6eca0118da1f41b3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e1cbff8fbf54c35" /><Relationship Type="http://schemas.openxmlformats.org/officeDocument/2006/relationships/notesSlide" Target="/ppt/notesSlides/notesSlide3.xml" Id="R0649b14391264450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4e9f99a4f614d89" /><Relationship Type="http://schemas.openxmlformats.org/officeDocument/2006/relationships/notesSlide" Target="/ppt/notesSlides/notesSlide4.xml" Id="R1a22746a78f54d85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be4017bce1b48a9" /><Relationship Type="http://schemas.openxmlformats.org/officeDocument/2006/relationships/notesSlide" Target="/ppt/notesSlides/notesSlide5.xml" Id="Re495e36520464302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d834b699b2f442a" /><Relationship Type="http://schemas.openxmlformats.org/officeDocument/2006/relationships/notesSlide" Target="/ppt/notesSlides/notesSlide6.xml" Id="Rbf8cffe11c664ad2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6f2283f9d9d405c" /><Relationship Type="http://schemas.openxmlformats.org/officeDocument/2006/relationships/notesSlide" Target="/ppt/notesSlides/notesSlide7.xml" Id="R71eecabf5e6946da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aed6159e41744b7" /><Relationship Type="http://schemas.openxmlformats.org/officeDocument/2006/relationships/notesSlide" Target="/ppt/notesSlides/notesSlide8.xml" Id="Rfbe5910f98374f33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0fc387dc9bb416c" /><Relationship Type="http://schemas.openxmlformats.org/officeDocument/2006/relationships/notesSlide" Target="/ppt/notesSlides/notesSlide9.xml" Id="R6c61fa1087b6480e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1ab1bd645ba4485" /><Relationship Type="http://schemas.openxmlformats.org/officeDocument/2006/relationships/notesSlide" Target="/ppt/notesSlides/notesSlide10.xml" Id="R3893dd6c33c6427f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2ddbff39e9c42e4" /><Relationship Type="http://schemas.openxmlformats.org/officeDocument/2006/relationships/notesSlide" Target="/ppt/notesSlides/notesSlide11.xml" Id="Rd6bdf038c3e24268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218cfd9ffa04783" /><Relationship Type="http://schemas.openxmlformats.org/officeDocument/2006/relationships/notesSlide" Target="/ppt/notesSlides/notesSlide12.xml" Id="Rc366022bae8d4802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4cbfa86831248c2" /><Relationship Type="http://schemas.openxmlformats.org/officeDocument/2006/relationships/notesSlide" Target="/ppt/notesSlides/notesSlide13.xml" Id="Rcc1282fefb1242b2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acde1f2d5e74ed8" /><Relationship Type="http://schemas.openxmlformats.org/officeDocument/2006/relationships/notesSlide" Target="/ppt/notesSlides/notesSlide14.xml" Id="R43adb67ffbfd4789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df7296c48574b27" /><Relationship Type="http://schemas.openxmlformats.org/officeDocument/2006/relationships/notesSlide" Target="/ppt/notesSlides/notesSlide15.xml" Id="R907009bf32354118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362ab0e3bf542ef" /><Relationship Type="http://schemas.openxmlformats.org/officeDocument/2006/relationships/notesSlide" Target="/ppt/notesSlides/notesSlide16.xml" Id="R682b37e33d7144b6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b12fdbe237f4be7" /><Relationship Type="http://schemas.openxmlformats.org/officeDocument/2006/relationships/notesSlide" Target="/ppt/notesSlides/notesSlide17.xml" Id="R6699d118edc34600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c81cfe3555f46ea" /><Relationship Type="http://schemas.openxmlformats.org/officeDocument/2006/relationships/notesSlide" Target="/ppt/notesSlides/notesSlide18.xml" Id="Rfc60567854474f36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e035159bceb48f3" /><Relationship Type="http://schemas.openxmlformats.org/officeDocument/2006/relationships/notesSlide" Target="/ppt/notesSlides/notesSlide19.xml" Id="Rc56abd594c4e4a53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a93c5573a804bf9" /><Relationship Type="http://schemas.openxmlformats.org/officeDocument/2006/relationships/notesSlide" Target="/ppt/notesSlides/notesSlide20.xml" Id="R6306e50bfe7d4834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5c2219f8e9b4288" /><Relationship Type="http://schemas.openxmlformats.org/officeDocument/2006/relationships/notesSlide" Target="/ppt/notesSlides/notesSlide21.xml" Id="Ra252d1777beb41ad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5a35137e4f640f9" /><Relationship Type="http://schemas.openxmlformats.org/officeDocument/2006/relationships/notesSlide" Target="/ppt/notesSlides/notesSlide22.xml" Id="R814d53fc24184f2b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7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8D9A3AF-6EC5-4674-AE37-01DB549997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B8A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E210971-89C4-4CAD-9655-CEF39906C4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09600"/>
            <a:ext cx="857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4B8A6"/>
                </a:solidFill>
              </a:defRPr>
            </a:pPr>
            <a:r>
              <a:rPr sz="1350" b="1">
                <a:solidFill>
                  <a:srgbClr val="14B8A6"/>
                </a:solidFill>
              </a:rPr>
              <a:t>GOAI 世界人工智能开源大赛 · Agent Infra 新智基座 · 方向三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913E29F-39F1-4781-82DF-FCAC90CED3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562100"/>
            <a:ext cx="8191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4350" b="1">
                <a:solidFill>
                  <a:srgbClr val="FFFFFF"/>
                </a:solidFill>
              </a:defRPr>
            </a:pPr>
            <a:r>
              <a:rPr sz="4350" b="1">
                <a:solidFill>
                  <a:srgbClr val="FFFFFF"/>
                </a:solidFill>
              </a:rPr>
              <a:t>AsoulAI ChronosFix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BB5AAC4-058E-4599-A0FC-19EE4CBE6A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419350"/>
            <a:ext cx="8572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FFFFFF"/>
                </a:solidFill>
              </a:defRPr>
            </a:pPr>
            <a:r>
              <a:rPr sz="3150" b="1">
                <a:solidFill>
                  <a:srgbClr val="FFFFFF"/>
                </a:solidFill>
              </a:rPr>
              <a:t>A-CFX：带证据的软件修复引擎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DA6A244-B313-4168-926C-FB3445841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0"/>
            <a:ext cx="7810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D7E3F5"/>
                </a:solidFill>
              </a:defRPr>
            </a:pPr>
            <a:r>
              <a:rPr sz="1800" b="0">
                <a:solidFill>
                  <a:srgbClr val="D7E3F5"/>
                </a:solidFill>
              </a:rPr>
              <a:t>用多 Agent 把事故变成可验证补丁与可复用质量资产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92DC734-3227-4291-A774-E39FE73D9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38600"/>
            <a:ext cx="179070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FFFFFF">
              <a:alpha val="6000"/>
            </a:srgbClr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A286AD8-EBB4-4708-8FC6-38F022622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105275"/>
            <a:ext cx="1600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14B8A6"/>
                </a:solidFill>
              </a:defRPr>
            </a:pPr>
            <a:r>
              <a:rPr sz="1050" b="1">
                <a:solidFill>
                  <a:srgbClr val="14B8A6"/>
                </a:solidFill>
              </a:rPr>
              <a:t>官方模板 · 复赛验证版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79DB30C-A725-42F3-835A-570A074C4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4038600"/>
            <a:ext cx="123825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FFFFFF">
              <a:alpha val="6000"/>
            </a:srgbClr>
          </a:solidFill>
          <a:ln xmlns:a="http://schemas.openxmlformats.org/drawingml/2006/main" w="9525">
            <a:solidFill>
              <a:srgbClr val="F97316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AC32C2D-7D74-4642-A8E2-392431B9F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4105275"/>
            <a:ext cx="1047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F97316"/>
                </a:solidFill>
              </a:defRPr>
            </a:pPr>
            <a:r>
              <a:rPr sz="1050" b="1">
                <a:solidFill>
                  <a:srgbClr val="F97316"/>
                </a:solidFill>
              </a:rPr>
              <a:t>队伍：AsoulAI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0034A2C-B6F4-4C7C-8C16-A5686C70C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4038600"/>
            <a:ext cx="110490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FFFFFF">
              <a:alpha val="6000"/>
            </a:srgbClr>
          </a:solidFill>
          <a:ln xmlns:a="http://schemas.openxmlformats.org/drawingml/2006/main" w="9525">
            <a:solidFill>
              <a:srgbClr val="16A34A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EB40808-5CEC-4F43-9A49-9C3115235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4105275"/>
            <a:ext cx="914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16A34A"/>
                </a:solidFill>
              </a:defRPr>
            </a:pPr>
            <a:r>
              <a:rPr sz="1050" b="1">
                <a:solidFill>
                  <a:srgbClr val="16A34A"/>
                </a:solidFill>
              </a:rPr>
              <a:t>复赛 V1.0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D93D05A-1126-4ABC-B157-6CC6C991E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1676400"/>
            <a:ext cx="1276350" cy="742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8000"/>
            </a:srgbClr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186F38F-9008-4433-815E-8D1E2D1B2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1933575"/>
            <a:ext cx="1047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事故证据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390A782-1D61-4790-8258-4FE4538AA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2419350"/>
            <a:ext cx="1276350" cy="742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8000"/>
            </a:srgbClr>
          </a:solidFill>
          <a:ln xmlns:a="http://schemas.openxmlformats.org/drawingml/2006/main" w="9525">
            <a:solidFill>
              <a:srgbClr val="7C3AED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3E6DEC2-F70B-43E1-92B2-641E9505BF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2676525"/>
            <a:ext cx="1047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反事实实验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54E9AAA-6266-46B9-B2A4-ACBAC1659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3638550"/>
            <a:ext cx="1276350" cy="742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8000"/>
            </a:srgbClr>
          </a:solidFill>
          <a:ln xmlns:a="http://schemas.openxmlformats.org/drawingml/2006/main" w="9525">
            <a:solidFill>
              <a:srgbClr val="16A34A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FDED6FB-D2F8-4F06-AEDF-DD6AAE126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3895725"/>
            <a:ext cx="1047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风险门禁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9BC367A-0DCA-4ED9-858C-2F7213352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3638550"/>
            <a:ext cx="1276350" cy="742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8000"/>
            </a:srgbClr>
          </a:solidFill>
          <a:ln xmlns:a="http://schemas.openxmlformats.org/drawingml/2006/main" w="9525">
            <a:solidFill>
              <a:srgbClr val="F97316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008797B-3A26-4229-8EEF-5C3E0B1D4D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3895725"/>
            <a:ext cx="1047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故障基因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4D0F2A1-6BBB-4F4A-ADB9-FE7A5AF7B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2419350"/>
            <a:ext cx="1276350" cy="742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8000"/>
            </a:srgbClr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739978E-8EFB-41D2-A10B-D18BB0D91A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2676525"/>
            <a:ext cx="1047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资产复用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10F93B0-2E6C-4067-9FBB-0AAF53BFC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2857500"/>
            <a:ext cx="13716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550" b="1">
                <a:solidFill>
                  <a:srgbClr val="14B8A6"/>
                </a:solidFill>
              </a:defRPr>
            </a:pPr>
            <a:r>
              <a:rPr sz="2550" b="1">
                <a:solidFill>
                  <a:srgbClr val="14B8A6"/>
                </a:solidFill>
              </a:rPr>
              <a:t>A-CFX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494F545-1B87-422F-876C-1E59A4531F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62650"/>
            <a:ext cx="533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AFC7E8"/>
                </a:solidFill>
              </a:defRPr>
            </a:pPr>
            <a:r>
              <a:rPr sz="1125" b="0">
                <a:solidFill>
                  <a:srgbClr val="AFC7E8"/>
                </a:solidFill>
              </a:rPr>
              <a:t>代码包 · 在线 Demo · 评测 · Trace · 审计证据</a:t>
            </a:r>
          </a:p>
        </p:txBody>
      </p:sp>
    </p:spTree>
    <p:extLst>
      <p:ext uri="{BB962C8B-B14F-4D97-AF65-F5344CB8AC3E}">
        <p14:creationId xmlns:p14="http://schemas.microsoft.com/office/powerpoint/2010/main" val="66839892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5777E7E-94EA-444B-BC99-2FABD2E28D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97316"/>
                </a:solidFill>
              </a:defRPr>
            </a:pPr>
            <a:r>
              <a:rPr sz="1125" b="1">
                <a:solidFill>
                  <a:srgbClr val="F97316"/>
                </a:solidFill>
              </a:rPr>
              <a:t>P0 · 一页纸速览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61564B8-BCDA-4810-8FC1-0187A827F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28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01828"/>
                </a:solidFill>
              </a:defRPr>
            </a:pPr>
            <a:r>
              <a:rPr sz="2850" b="1">
                <a:solidFill>
                  <a:srgbClr val="101828"/>
                </a:solidFill>
              </a:rPr>
              <a:t>把“会修复”升级为“带证据、可发布、可复用”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ECE2301-2DBF-4E7B-B3F5-D7A124D97D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33500"/>
            <a:ext cx="990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64748B"/>
                </a:solidFill>
              </a:defRPr>
            </a:pPr>
            <a:r>
              <a:rPr sz="1350" b="0">
                <a:solidFill>
                  <a:srgbClr val="64748B"/>
                </a:solidFill>
              </a:rPr>
              <a:t>复赛版补齐 AgentTeams、云 Skill、评测、失败处理、权限与开源规范。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73D2485-F15C-4E3F-9B32-B9230C465A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752600"/>
            <a:ext cx="4762500" cy="1009650"/>
          </a:xfrm>
          <a:prstGeom xmlns:a="http://schemas.openxmlformats.org/drawingml/2006/main" prst="roundRect">
            <a:avLst>
              <a:gd name="adj" fmla="val 1132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D95585C-260B-47CC-BC46-F19F2CD16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924050"/>
            <a:ext cx="4419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2563EB"/>
                </a:solidFill>
              </a:defRPr>
            </a:pPr>
            <a:r>
              <a:rPr sz="1575" b="1">
                <a:solidFill>
                  <a:srgbClr val="2563EB"/>
                </a:solidFill>
              </a:rPr>
              <a:t>项目名称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985A123-CCF8-45C2-B3E2-EB4B09C7DF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305050"/>
            <a:ext cx="4343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AsoulAI ChronosFix（A-CFX）</a:t>
            </a:r>
          </a:p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带证据的软件修复引擎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6ABE5CF-D950-4C95-BF5E-C83A1996D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1752600"/>
            <a:ext cx="4762500" cy="1009650"/>
          </a:xfrm>
          <a:prstGeom xmlns:a="http://schemas.openxmlformats.org/drawingml/2006/main" prst="roundRect">
            <a:avLst>
              <a:gd name="adj" fmla="val 11321"/>
            </a:avLst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F97316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08A9F03-A503-4D9C-879C-266D62B0A8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1924050"/>
            <a:ext cx="4419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F97316"/>
                </a:solidFill>
              </a:defRPr>
            </a:pPr>
            <a:r>
              <a:rPr sz="1575" b="1">
                <a:solidFill>
                  <a:srgbClr val="F97316"/>
                </a:solidFill>
              </a:rPr>
              <a:t>问题与场景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2EB3FBF-FF07-479F-8238-1B8682A89D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305050"/>
            <a:ext cx="4343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多源变更下，AI 能给建议，却难证明因果、验证补丁并让组织放心合并。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4EAEDC1-A891-4B1C-9FEB-8312888E7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048000"/>
            <a:ext cx="4762500" cy="1009650"/>
          </a:xfrm>
          <a:prstGeom xmlns:a="http://schemas.openxmlformats.org/drawingml/2006/main" prst="roundRect">
            <a:avLst>
              <a:gd name="adj" fmla="val 1132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3D22618-6887-41B1-A2DA-C6721D93CD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219450"/>
            <a:ext cx="4419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14B8A6"/>
                </a:solidFill>
              </a:defRPr>
            </a:pPr>
            <a:r>
              <a:rPr sz="1575" b="1">
                <a:solidFill>
                  <a:srgbClr val="14B8A6"/>
                </a:solidFill>
              </a:rPr>
              <a:t>核心方案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7BE792C-BD8F-45AA-9965-E2F988D68F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600450"/>
            <a:ext cx="4343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8 个职能 Worker 协同重放事故；10 个 Skill 能力完成因果、验证、门禁与资产沉淀。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5F270A9-0FD8-465A-BCB8-C8494E7E0E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3048000"/>
            <a:ext cx="4762500" cy="1009650"/>
          </a:xfrm>
          <a:prstGeom xmlns:a="http://schemas.openxmlformats.org/drawingml/2006/main" prst="roundRect">
            <a:avLst>
              <a:gd name="adj" fmla="val 11321"/>
            </a:avLst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7C3AED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FA8D0CC-1B68-4FE7-B2D7-1E2E51621B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3219450"/>
            <a:ext cx="4419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7C3AED"/>
                </a:solidFill>
              </a:defRPr>
            </a:pPr>
            <a:r>
              <a:rPr sz="1575" b="1">
                <a:solidFill>
                  <a:srgbClr val="7C3AED"/>
                </a:solidFill>
              </a:rPr>
              <a:t>创新差异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56F8A6A-9490-4C00-B2E2-97B1D8184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3600450"/>
            <a:ext cx="4343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Proof-Carrying Change + 可辨识性仲裁：无法区分就拒答，证据不全就阻断发布。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B6D5B26-CB63-41CD-B7F6-131AEAF6BD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343400"/>
            <a:ext cx="4762500" cy="1009650"/>
          </a:xfrm>
          <a:prstGeom xmlns:a="http://schemas.openxmlformats.org/drawingml/2006/main" prst="roundRect">
            <a:avLst>
              <a:gd name="adj" fmla="val 1132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6A34A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5AAF8CC-79CE-4C70-877C-B6C39DE52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514850"/>
            <a:ext cx="4419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16A34A"/>
                </a:solidFill>
              </a:defRPr>
            </a:pPr>
            <a:r>
              <a:rPr sz="1575" b="1">
                <a:solidFill>
                  <a:srgbClr val="16A34A"/>
                </a:solidFill>
              </a:rPr>
              <a:t>开放复用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174E279-63DC-4E10-9EEA-55C9D3B2B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895850"/>
            <a:ext cx="4343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开放代码、Schema、12 场景、证据护照、AgentTeams v1beta1 资源与评测脚本。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D604840-107E-4012-91E8-1252D469F5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4343400"/>
            <a:ext cx="4762500" cy="1009650"/>
          </a:xfrm>
          <a:prstGeom xmlns:a="http://schemas.openxmlformats.org/drawingml/2006/main" prst="roundRect">
            <a:avLst>
              <a:gd name="adj" fmla="val 11321"/>
            </a:avLst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DC2626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B22FB08-2360-40DE-9E67-DCE5F9D6B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4514850"/>
            <a:ext cx="4419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DC2626"/>
                </a:solidFill>
              </a:defRPr>
            </a:pPr>
            <a:r>
              <a:rPr sz="1575" b="1">
                <a:solidFill>
                  <a:srgbClr val="DC2626"/>
                </a:solidFill>
              </a:rPr>
              <a:t>当前进展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EE8B810-C07D-43A2-8EA9-07F88447DA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4895850"/>
            <a:ext cx="4343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40 项测试；9/9 支持范围诊断正确；1/1 冲突安全拒答；2 项边界透明保留。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FBE3F14-1A67-4506-9410-6A92598F4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685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AsoulAI ChronosFix / A-CFX · GOAI Agent Infra 复赛方案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E673238-70F4-41BD-A952-5A45322F24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436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1970724568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9099107-C7F1-4C0F-8B94-8000D42FA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97316"/>
                </a:solidFill>
              </a:defRPr>
            </a:pPr>
            <a:r>
              <a:rPr sz="1125" b="1">
                <a:solidFill>
                  <a:srgbClr val="F97316"/>
                </a:solidFill>
              </a:rPr>
              <a:t>方案总览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B704EC8-06BD-403A-88C1-9F3ACA8E8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28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01828"/>
                </a:solidFill>
              </a:defRPr>
            </a:pPr>
            <a:r>
              <a:rPr sz="2850" b="1">
                <a:solidFill>
                  <a:srgbClr val="101828"/>
                </a:solidFill>
              </a:rPr>
              <a:t>复赛不是加功能列表，而是让每个结论都可核验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79534AD-D9E2-4A29-AD57-958CAC883B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33500"/>
            <a:ext cx="990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64748B"/>
                </a:solidFill>
              </a:defRPr>
            </a:pPr>
            <a:r>
              <a:rPr sz="1350" b="0">
                <a:solidFill>
                  <a:srgbClr val="64748B"/>
                </a:solidFill>
              </a:rPr>
              <a:t>围绕完整链路、运行证据、失败处理、权限审批与开放规范升级底层工程。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924297A-BE28-44C9-B947-7DB1BC4AB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695450"/>
            <a:ext cx="2952750" cy="12573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F5F3FF"/>
          </a:solidFill>
          <a:ln xmlns:a="http://schemas.openxmlformats.org/drawingml/2006/main" w="9525">
            <a:solidFill>
              <a:srgbClr val="7C3AED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330ACBE-3413-4FBF-9069-BE9B44081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866900"/>
            <a:ext cx="2609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7C3AED"/>
                </a:solidFill>
              </a:defRPr>
            </a:pPr>
            <a:r>
              <a:rPr sz="1575" b="1">
                <a:solidFill>
                  <a:srgbClr val="7C3AED"/>
                </a:solidFill>
              </a:rPr>
              <a:t>初赛已交付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8DC9E15-6926-4C7A-895D-B3140FDFEF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247900"/>
            <a:ext cx="25336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场景闭环、7 职能 Agent、9 Skill、确定性 Demo 与公开仓库。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8EFB94F-FB5A-4AE1-A753-F61955E54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1695450"/>
            <a:ext cx="2952750" cy="12573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EFF6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25BA140-CF96-4042-903A-916973B199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1866900"/>
            <a:ext cx="2609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2563EB"/>
                </a:solidFill>
              </a:defRPr>
            </a:pPr>
            <a:r>
              <a:rPr sz="1575" b="1">
                <a:solidFill>
                  <a:srgbClr val="2563EB"/>
                </a:solidFill>
              </a:rPr>
              <a:t>底层逻辑升级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B062F03-B6BA-4FEB-928C-EDC43A133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2247900"/>
            <a:ext cx="25336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Fail-closed RiskGate、真实 checks、回滚验证、可辨识性仲裁与哈希绑定。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041902A-47ED-45C5-B1D5-B8D0D80F1A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1695450"/>
            <a:ext cx="2952750" cy="12573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F97316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B951C49-20C5-47AB-9167-1B17B34E7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1866900"/>
            <a:ext cx="2609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F97316"/>
                </a:solidFill>
              </a:defRPr>
            </a:pPr>
            <a:r>
              <a:rPr sz="1575" b="1">
                <a:solidFill>
                  <a:srgbClr val="F97316"/>
                </a:solidFill>
              </a:rPr>
              <a:t>复赛新增证据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57D2ACE-B017-43C0-A94B-784C72220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247900"/>
            <a:ext cx="25336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v1beta1 资源、官方 SLS Skill 契约、12 场景评测、CI、SBOM 与 Demo 评委模式。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1D2F401-87A5-4A9B-8667-9B2C1F967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924300"/>
            <a:ext cx="158115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50732AC-7D69-4C20-A842-BF8640A05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171950"/>
            <a:ext cx="1314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2563EB"/>
                </a:solidFill>
              </a:defRPr>
            </a:pPr>
            <a:r>
              <a:rPr sz="1425" b="1">
                <a:solidFill>
                  <a:srgbClr val="2563EB"/>
                </a:solidFill>
              </a:rPr>
              <a:t>输入 Schema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EB06265-FFD5-416C-B517-12D128324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430530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B8A6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D67C600-5CBF-4FE1-A420-0C8EEEF017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3924300"/>
            <a:ext cx="158115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991C410-B244-44F6-8816-9C7A0555D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4171950"/>
            <a:ext cx="1314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14B8A6"/>
                </a:solidFill>
              </a:defRPr>
            </a:pPr>
            <a:r>
              <a:rPr sz="1425" b="1">
                <a:solidFill>
                  <a:srgbClr val="14B8A6"/>
                </a:solidFill>
              </a:rPr>
              <a:t>因果仲裁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FFB8854-FAC7-48CB-BE32-A4403D260A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430530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B8A6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EF9B1CE-85EB-4E6F-A959-5724971484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3924300"/>
            <a:ext cx="158115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7C3AED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09AD794-1CCE-4A21-8CBD-2C7F8F3A50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4171950"/>
            <a:ext cx="1314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7C3AED"/>
                </a:solidFill>
              </a:defRPr>
            </a:pPr>
            <a:r>
              <a:rPr sz="1425" b="1">
                <a:solidFill>
                  <a:srgbClr val="7C3AED"/>
                </a:solidFill>
              </a:rPr>
              <a:t>补丁竞赛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8E830D8-CFD9-4421-881A-715D7167AE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430530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B8A6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10E1A90-0C19-4141-AF37-37C0EB19A5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3924300"/>
            <a:ext cx="158115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97316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187C2E0-05E1-453D-9361-DB0581084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4171950"/>
            <a:ext cx="1314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F97316"/>
                </a:solidFill>
              </a:defRPr>
            </a:pPr>
            <a:r>
              <a:rPr sz="1425" b="1">
                <a:solidFill>
                  <a:srgbClr val="F97316"/>
                </a:solidFill>
              </a:rPr>
              <a:t>RiskGate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6A7C41C-2164-480A-BE23-26A5CD708D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430530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B8A6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210F31D-859C-4145-95A7-EB0EC3C45A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3924300"/>
            <a:ext cx="158115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6A34A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732FA7F-20E2-4311-81B7-2D84CDEE7B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4171950"/>
            <a:ext cx="1314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16A34A"/>
                </a:solidFill>
              </a:defRPr>
            </a:pPr>
            <a:r>
              <a:rPr sz="1425" b="1">
                <a:solidFill>
                  <a:srgbClr val="16A34A"/>
                </a:solidFill>
              </a:rPr>
              <a:t>证据护照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C206234-42EA-41F8-AE8A-22975C5AD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5276850"/>
            <a:ext cx="923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101828"/>
                </a:solidFill>
              </a:defRPr>
            </a:pPr>
            <a:r>
              <a:rPr sz="1650" b="1">
                <a:solidFill>
                  <a:srgbClr val="101828"/>
                </a:solidFill>
              </a:rPr>
              <a:t>一条 run_id 串联 scenario → experiments → checks → PR → run-manifest。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22A6C5B-A3F8-4D4B-B2CA-BB90D7BDE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685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AsoulAI ChronosFix / A-CFX · GOAI Agent Infra 复赛方案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B2E1CC8-9E1B-40B1-8D9F-D23F37EC5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436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644686029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DCE12DC-7CE4-4F16-8279-0C1DF7791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97316"/>
                </a:solidFill>
              </a:defRPr>
            </a:pPr>
            <a:r>
              <a:rPr sz="1125" b="1">
                <a:solidFill>
                  <a:srgbClr val="F97316"/>
                </a:solidFill>
              </a:rPr>
              <a:t>场景与价值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40BF0D2-88E8-44C3-AB54-517A7489F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28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01828"/>
                </a:solidFill>
              </a:defRPr>
            </a:pPr>
            <a:r>
              <a:rPr sz="2850" b="1">
                <a:solidFill>
                  <a:srgbClr val="101828"/>
                </a:solidFill>
              </a:rPr>
              <a:t>真正昂贵的不是找答案，而是无法放心合并答案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6083875-6D10-4507-8828-B6C34C6A6F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33500"/>
            <a:ext cx="990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64748B"/>
                </a:solidFill>
              </a:defRPr>
            </a:pPr>
            <a:r>
              <a:rPr sz="1350" b="0">
                <a:solidFill>
                  <a:srgbClr val="64748B"/>
                </a:solidFill>
              </a:rPr>
              <a:t>目标用户：中大型研发组织、平台工程团队、云厂商 DevOps / AIOps 产品线。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A59D5CE-8B2C-4549-BB73-AE75FE69F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809750"/>
            <a:ext cx="3048000" cy="1181100"/>
          </a:xfrm>
          <a:prstGeom xmlns:a="http://schemas.openxmlformats.org/drawingml/2006/main" prst="roundRect">
            <a:avLst>
              <a:gd name="adj" fmla="val 9677"/>
            </a:avLst>
          </a:prstGeom>
          <a:solidFill xmlns:a="http://schemas.openxmlformats.org/drawingml/2006/main">
            <a:srgbClr val="EFF6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0541C14-3BD6-4C83-8CF8-BAB5CC253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981200"/>
            <a:ext cx="2705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2563EB"/>
                </a:solidFill>
              </a:defRPr>
            </a:pPr>
            <a:r>
              <a:rPr sz="1575" b="1">
                <a:solidFill>
                  <a:srgbClr val="2563EB"/>
                </a:solidFill>
              </a:rPr>
              <a:t>事故成本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A7D97D7-B790-4EF2-99F6-5BDA8F71B2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362200"/>
            <a:ext cx="26289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代码、配置、依赖与流量同窗变化，人工排查慢且知识难沉淀。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231D676-E571-4307-A4CE-0358D8A06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1809750"/>
            <a:ext cx="3048000" cy="1181100"/>
          </a:xfrm>
          <a:prstGeom xmlns:a="http://schemas.openxmlformats.org/drawingml/2006/main" prst="roundRect">
            <a:avLst>
              <a:gd name="adj" fmla="val 9677"/>
            </a:avLst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F97316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AA32CB4-415A-4CBC-9BFF-B354DAF18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1981200"/>
            <a:ext cx="2705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F97316"/>
                </a:solidFill>
              </a:defRPr>
            </a:pPr>
            <a:r>
              <a:rPr sz="1575" b="1">
                <a:solidFill>
                  <a:srgbClr val="F97316"/>
                </a:solidFill>
              </a:rPr>
              <a:t>组织风险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BB08822-CE42-4064-BC1A-C814340E1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2362200"/>
            <a:ext cx="26289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AI 建议若缺因果、验证、回滚和审批证据，就无法进入发布流程。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41318D2-02A2-4598-BCB1-0113EFE3F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1809750"/>
            <a:ext cx="3048000" cy="1181100"/>
          </a:xfrm>
          <a:prstGeom xmlns:a="http://schemas.openxmlformats.org/drawingml/2006/main" prst="roundRect">
            <a:avLst>
              <a:gd name="adj" fmla="val 9677"/>
            </a:avLst>
          </a:prstGeom>
          <a:solidFill xmlns:a="http://schemas.openxmlformats.org/drawingml/2006/main">
            <a:srgbClr val="F0FDF4"/>
          </a:solidFill>
          <a:ln xmlns:a="http://schemas.openxmlformats.org/drawingml/2006/main" w="9525">
            <a:solidFill>
              <a:srgbClr val="16A34A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088A521-5237-4EA1-B0BE-F876699734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1981200"/>
            <a:ext cx="2705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16A34A"/>
                </a:solidFill>
              </a:defRPr>
            </a:pPr>
            <a:r>
              <a:rPr sz="1575" b="1">
                <a:solidFill>
                  <a:srgbClr val="16A34A"/>
                </a:solidFill>
              </a:rPr>
              <a:t>购买理由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7005B61-48F8-48B2-A937-5861F8E9F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2362200"/>
            <a:ext cx="26289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让每个 PR 自动携带可审查证据，并把事故沉淀为跨团队质量资产。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73754A6-F0BE-4FB8-8B88-667E15585C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886200"/>
            <a:ext cx="1676400" cy="1028700"/>
          </a:xfrm>
          <a:prstGeom xmlns:a="http://schemas.openxmlformats.org/drawingml/2006/main" prst="roundRect">
            <a:avLst>
              <a:gd name="adj" fmla="val 740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F780CBB-3DA8-42D7-AF77-18528CACB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095750"/>
            <a:ext cx="1485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325" b="1">
                <a:solidFill>
                  <a:srgbClr val="DC2626"/>
                </a:solidFill>
              </a:defRPr>
            </a:pPr>
            <a:r>
              <a:rPr sz="2325" b="1">
                <a:solidFill>
                  <a:srgbClr val="DC2626"/>
                </a:solidFill>
              </a:rPr>
              <a:t>48.72%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5B489EE-4CD6-48DA-9F85-780D537EB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514850"/>
            <a:ext cx="1485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64748B"/>
                </a:solidFill>
              </a:defRPr>
            </a:pPr>
            <a:r>
              <a:rPr sz="1050" b="1">
                <a:solidFill>
                  <a:srgbClr val="64748B"/>
                </a:solidFill>
              </a:rPr>
              <a:t>Demo 基线失败率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B5E54C7-13C9-4F3F-B500-F006FFD9E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3886200"/>
            <a:ext cx="1676400" cy="1028700"/>
          </a:xfrm>
          <a:prstGeom xmlns:a="http://schemas.openxmlformats.org/drawingml/2006/main" prst="roundRect">
            <a:avLst>
              <a:gd name="adj" fmla="val 740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407B409-459F-4116-95BB-9A6A79D93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4095750"/>
            <a:ext cx="1485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325" b="1">
                <a:solidFill>
                  <a:srgbClr val="F97316"/>
                </a:solidFill>
              </a:defRPr>
            </a:pPr>
            <a:r>
              <a:rPr sz="2325" b="1">
                <a:solidFill>
                  <a:srgbClr val="F97316"/>
                </a:solidFill>
              </a:rPr>
              <a:t>6.25%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3B2DE7F-55B6-47A3-A50C-07A3C7409A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4514850"/>
            <a:ext cx="1485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64748B"/>
                </a:solidFill>
              </a:defRPr>
            </a:pPr>
            <a:r>
              <a:rPr sz="1050" b="1">
                <a:solidFill>
                  <a:srgbClr val="64748B"/>
                </a:solidFill>
              </a:rPr>
              <a:t>补丁最坏失败率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16D07BA-2269-4B68-8D58-D1A499D2E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3886200"/>
            <a:ext cx="1676400" cy="1028700"/>
          </a:xfrm>
          <a:prstGeom xmlns:a="http://schemas.openxmlformats.org/drawingml/2006/main" prst="roundRect">
            <a:avLst>
              <a:gd name="adj" fmla="val 740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9C863C6-A328-4434-BB4A-4194C6F0B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4095750"/>
            <a:ext cx="1485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325" b="1">
                <a:solidFill>
                  <a:srgbClr val="7C3AED"/>
                </a:solidFill>
              </a:defRPr>
            </a:pPr>
            <a:r>
              <a:rPr sz="2325" b="1">
                <a:solidFill>
                  <a:srgbClr val="7C3AED"/>
                </a:solidFill>
              </a:rPr>
              <a:t>8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D34E27C-037E-4774-9A08-9532771A1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4514850"/>
            <a:ext cx="1485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64748B"/>
                </a:solidFill>
              </a:defRPr>
            </a:pPr>
            <a:r>
              <a:rPr sz="1050" b="1">
                <a:solidFill>
                  <a:srgbClr val="64748B"/>
                </a:solidFill>
              </a:rPr>
              <a:t>强制故障变体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FE48C6A-2AFF-49F0-8953-08904B6B44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3886200"/>
            <a:ext cx="1676400" cy="1028700"/>
          </a:xfrm>
          <a:prstGeom xmlns:a="http://schemas.openxmlformats.org/drawingml/2006/main" prst="roundRect">
            <a:avLst>
              <a:gd name="adj" fmla="val 740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E9F99CF-16B9-41EC-B801-0C47B4031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4095750"/>
            <a:ext cx="1485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325" b="1">
                <a:solidFill>
                  <a:srgbClr val="2563EB"/>
                </a:solidFill>
              </a:defRPr>
            </a:pPr>
            <a:r>
              <a:rPr sz="2325" b="1">
                <a:solidFill>
                  <a:srgbClr val="2563EB"/>
                </a:solidFill>
              </a:rPr>
              <a:t>14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9149FD6-0982-490E-96D0-FC90BD6A5D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4514850"/>
            <a:ext cx="1485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64748B"/>
                </a:solidFill>
              </a:defRPr>
            </a:pPr>
            <a:r>
              <a:rPr sz="1050" b="1">
                <a:solidFill>
                  <a:srgbClr val="64748B"/>
                </a:solidFill>
              </a:rPr>
              <a:t>证据护照声明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04275F8-5336-4677-85C4-DC09B6BF8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3886200"/>
            <a:ext cx="1676400" cy="1028700"/>
          </a:xfrm>
          <a:prstGeom xmlns:a="http://schemas.openxmlformats.org/drawingml/2006/main" prst="roundRect">
            <a:avLst>
              <a:gd name="adj" fmla="val 740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1C9B0A4-91C7-49DE-9C70-F4A447A75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4095750"/>
            <a:ext cx="1485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325" b="1">
                <a:solidFill>
                  <a:srgbClr val="16A34A"/>
                </a:solidFill>
              </a:defRPr>
            </a:pPr>
            <a:r>
              <a:rPr sz="2325" b="1">
                <a:solidFill>
                  <a:srgbClr val="16A34A"/>
                </a:solidFill>
              </a:rPr>
              <a:t>40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64510B7-7E41-4D97-B1BA-9A4E26791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4514850"/>
            <a:ext cx="1485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64748B"/>
                </a:solidFill>
              </a:defRPr>
            </a:pPr>
            <a:r>
              <a:rPr sz="1050" b="1">
                <a:solidFill>
                  <a:srgbClr val="64748B"/>
                </a:solidFill>
              </a:rPr>
              <a:t>自动化测试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EE4EB48-5CAB-4AD3-BCB1-7D656D53F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5391150"/>
            <a:ext cx="97917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101828"/>
                </a:solidFill>
              </a:defRPr>
            </a:pPr>
            <a:r>
              <a:rPr sz="1650" b="1">
                <a:solidFill>
                  <a:srgbClr val="101828"/>
                </a:solidFill>
              </a:rPr>
              <a:t>商业命题：不是替代研发判断，而是降低评审证据准备、误合并风险与合规审计成本。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7FD70A8-99D0-4813-A4DB-BFAF60745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685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AsoulAI ChronosFix / A-CFX · GOAI Agent Infra 复赛方案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F1387C7-3AA4-42E0-88DF-C63EF902B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436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342216302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9099107-C7F1-4C0F-8B94-8000D42FA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97316"/>
                </a:solidFill>
              </a:defRPr>
            </a:pPr>
            <a:r>
              <a:rPr sz="1125" b="1">
                <a:solidFill>
                  <a:srgbClr val="F97316"/>
                </a:solidFill>
              </a:rPr>
              <a:t>方案总览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B704EC8-06BD-403A-88C1-9F3ACA8E8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28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01828"/>
                </a:solidFill>
              </a:defRPr>
            </a:pPr>
            <a:r>
              <a:rPr sz="2850" b="1">
                <a:solidFill>
                  <a:srgbClr val="101828"/>
                </a:solidFill>
              </a:rPr>
              <a:t>从事故信号到可合并 PR，一条 run_id 贯穿闭环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79534AD-D9E2-4A29-AD57-958CAC883B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33500"/>
            <a:ext cx="990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64748B"/>
                </a:solidFill>
              </a:defRPr>
            </a:pPr>
            <a:r>
              <a:rPr sz="1350" b="0">
                <a:solidFill>
                  <a:srgbClr val="64748B"/>
                </a:solidFill>
              </a:rPr>
              <a:t>AgentTeams 负责编排，Skill 负责动作，RiskGate 决定是否允许发布。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924297A-BE28-44C9-B947-7DB1BC4AB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695450"/>
            <a:ext cx="2952750" cy="12573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F5F3FF"/>
          </a:solidFill>
          <a:ln xmlns:a="http://schemas.openxmlformats.org/drawingml/2006/main" w="9525">
            <a:solidFill>
              <a:srgbClr val="7C3AED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330ACBE-3413-4FBF-9069-BE9B44081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866900"/>
            <a:ext cx="2609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7C3AED"/>
                </a:solidFill>
              </a:defRPr>
            </a:pPr>
            <a:r>
              <a:rPr sz="1575" b="1">
                <a:solidFill>
                  <a:srgbClr val="7C3AED"/>
                </a:solidFill>
              </a:rPr>
              <a:t>任务触发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8DC9E15-6926-4C7A-895D-B3140FDFEF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247900"/>
            <a:ext cx="25336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Issue、日志、Trace、Git、配置与流量进入统一场景契约。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8EFB94F-FB5A-4AE1-A753-F61955E54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1695450"/>
            <a:ext cx="2952750" cy="12573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EFF6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25BA140-CF96-4042-903A-916973B199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1866900"/>
            <a:ext cx="2609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2563EB"/>
                </a:solidFill>
              </a:defRPr>
            </a:pPr>
            <a:r>
              <a:rPr sz="1575" b="1">
                <a:solidFill>
                  <a:srgbClr val="2563EB"/>
                </a:solidFill>
              </a:rPr>
              <a:t>协同执行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B062F03-B6BA-4FEB-928C-EDC43A133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2247900"/>
            <a:ext cx="25336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8 Worker 围绕 IncidentState 分工；冲突由反事实与可辨识性仲裁裁决。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041902A-47ED-45C5-B1D5-B8D0D80F1A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1695450"/>
            <a:ext cx="2952750" cy="12573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F97316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B951C49-20C5-47AB-9167-1B17B34E7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1866900"/>
            <a:ext cx="2609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F97316"/>
                </a:solidFill>
              </a:defRPr>
            </a:pPr>
            <a:r>
              <a:rPr sz="1575" b="1">
                <a:solidFill>
                  <a:srgbClr val="F97316"/>
                </a:solidFill>
              </a:rPr>
              <a:t>发布输出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57D2ACE-B017-43C0-A94B-784C72220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247900"/>
            <a:ext cx="25336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生成补丁变更、回滚契约、checks、PR 草案、证据护照与可复用 Skill 候选。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1D2F401-87A5-4A9B-8667-9B2C1F967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924300"/>
            <a:ext cx="158115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50732AC-7D69-4C20-A842-BF8640A05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171950"/>
            <a:ext cx="1314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2563EB"/>
                </a:solidFill>
              </a:defRPr>
            </a:pPr>
            <a:r>
              <a:rPr sz="1425" b="1">
                <a:solidFill>
                  <a:srgbClr val="2563EB"/>
                </a:solidFill>
              </a:rPr>
              <a:t>证据融合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EB06265-FFD5-416C-B517-12D128324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430530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B8A6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D67C600-5CBF-4FE1-A420-0C8EEEF017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3924300"/>
            <a:ext cx="158115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991C410-B244-44F6-8816-9C7A0555D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4171950"/>
            <a:ext cx="1314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14B8A6"/>
                </a:solidFill>
              </a:defRPr>
            </a:pPr>
            <a:r>
              <a:rPr sz="1425" b="1">
                <a:solidFill>
                  <a:srgbClr val="14B8A6"/>
                </a:solidFill>
              </a:rPr>
              <a:t>Counterfactual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FFB8854-FAC7-48CB-BE32-A4403D260A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430530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B8A6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EF9B1CE-85EB-4E6F-A959-5724971484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3924300"/>
            <a:ext cx="158115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7C3AED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09AD794-1CCE-4A21-8CBD-2C7F8F3A50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4171950"/>
            <a:ext cx="1314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7C3AED"/>
                </a:solidFill>
              </a:defRPr>
            </a:pPr>
            <a:r>
              <a:rPr sz="1425" b="1">
                <a:solidFill>
                  <a:srgbClr val="7C3AED"/>
                </a:solidFill>
              </a:rPr>
              <a:t>Fault Genome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8E830D8-CFD9-4421-881A-715D7167AE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430530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B8A6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10E1A90-0C19-4141-AF37-37C0EB19A5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3924300"/>
            <a:ext cx="158115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97316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187C2E0-05E1-453D-9361-DB0581084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4171950"/>
            <a:ext cx="1314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F97316"/>
                </a:solidFill>
              </a:defRPr>
            </a:pPr>
            <a:r>
              <a:rPr sz="1425" b="1">
                <a:solidFill>
                  <a:srgbClr val="F97316"/>
                </a:solidFill>
              </a:rPr>
              <a:t>补丁竞赛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6A7C41C-2164-480A-BE23-26A5CD708D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430530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B8A6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210F31D-859C-4145-95A7-EB0EC3C45A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3924300"/>
            <a:ext cx="158115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6A34A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732FA7F-20E2-4311-81B7-2D84CDEE7B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4171950"/>
            <a:ext cx="1314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16A34A"/>
                </a:solidFill>
              </a:defRPr>
            </a:pPr>
            <a:r>
              <a:rPr sz="1425" b="1">
                <a:solidFill>
                  <a:srgbClr val="16A34A"/>
                </a:solidFill>
              </a:rPr>
              <a:t>门禁护照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C206234-42EA-41F8-AE8A-22975C5AD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5276850"/>
            <a:ext cx="923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101828"/>
                </a:solidFill>
              </a:defRPr>
            </a:pPr>
            <a:r>
              <a:rPr sz="1650" b="1">
                <a:solidFill>
                  <a:srgbClr val="101828"/>
                </a:solidFill>
              </a:rPr>
              <a:t>安全分支：证据不足、check 失败、回滚缺失或无命名审批人 → draft / blocked。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22A6C5B-A3F8-4D4B-B2CA-BB90D7BDE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685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AsoulAI ChronosFix / A-CFX · GOAI Agent Infra 复赛方案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B2E1CC8-9E1B-40B1-8D9F-D23F37EC5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436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644686029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913A64E-3859-42DA-BD3B-86BB07CE8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97316"/>
                </a:solidFill>
              </a:defRPr>
            </a:pPr>
            <a:r>
              <a:rPr sz="1125" b="1">
                <a:solidFill>
                  <a:srgbClr val="F97316"/>
                </a:solidFill>
              </a:rPr>
              <a:t>完整场景链路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EAA9548-23AA-4708-8679-B1D3AC109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28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01828"/>
                </a:solidFill>
              </a:defRPr>
            </a:pPr>
            <a:r>
              <a:rPr sz="2850" b="1">
                <a:solidFill>
                  <a:srgbClr val="101828"/>
                </a:solidFill>
              </a:rPr>
              <a:t>同一个事故，输入是场景契约，输出是变更契约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456553F-9E6A-448A-A83C-BACDB9834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33500"/>
            <a:ext cx="990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64748B"/>
                </a:solidFill>
              </a:defRPr>
            </a:pPr>
            <a:r>
              <a:rPr sz="1350" b="0">
                <a:solidFill>
                  <a:srgbClr val="64748B"/>
                </a:solidFill>
              </a:rPr>
              <a:t>样例：订单创建接口在 120 RPS 下出现 48.72% 失败率与 606.96 ms P99。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B52DB25-A175-4B54-B33A-C45F3287E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790700"/>
            <a:ext cx="2381250" cy="1333500"/>
          </a:xfrm>
          <a:prstGeom xmlns:a="http://schemas.openxmlformats.org/drawingml/2006/main" prst="roundRect">
            <a:avLst>
              <a:gd name="adj" fmla="val 8571"/>
            </a:avLst>
          </a:prstGeom>
          <a:solidFill xmlns:a="http://schemas.openxmlformats.org/drawingml/2006/main">
            <a:srgbClr val="EFF6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3E1EB2F-1B90-43E3-932A-035BEA11D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962150"/>
            <a:ext cx="2038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2563EB"/>
                </a:solidFill>
              </a:defRPr>
            </a:pPr>
            <a:r>
              <a:rPr sz="1575" b="1">
                <a:solidFill>
                  <a:srgbClr val="2563EB"/>
                </a:solidFill>
              </a:rPr>
              <a:t>输入 Schema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EC0FB0E-B551-4579-B7F6-692523753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343150"/>
            <a:ext cx="19621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scenario.json：事件、基线、假设、补丁候选、变体与 Ground Truth。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805190C-27F3-439B-A7EE-B5E48D317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1790700"/>
            <a:ext cx="2381250" cy="1333500"/>
          </a:xfrm>
          <a:prstGeom xmlns:a="http://schemas.openxmlformats.org/drawingml/2006/main" prst="roundRect">
            <a:avLst>
              <a:gd name="adj" fmla="val 8571"/>
            </a:avLst>
          </a:prstGeom>
          <a:solidFill xmlns:a="http://schemas.openxmlformats.org/drawingml/2006/main">
            <a:srgbClr val="ECFEFF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FC19F9C-61A2-4081-B533-1743F5555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1962150"/>
            <a:ext cx="2038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14B8A6"/>
                </a:solidFill>
              </a:defRPr>
            </a:pPr>
            <a:r>
              <a:rPr sz="1575" b="1">
                <a:solidFill>
                  <a:srgbClr val="14B8A6"/>
                </a:solidFill>
              </a:rPr>
              <a:t>因果结论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E922F0A-8D71-470E-96FF-F4BB7305A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2343150"/>
            <a:ext cx="19621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连接池缩容是主因；依赖延迟是放大器；日志代码变更非因果。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6E9EEB9-3540-4BE7-86AE-C548ABD04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1790700"/>
            <a:ext cx="2381250" cy="1333500"/>
          </a:xfrm>
          <a:prstGeom xmlns:a="http://schemas.openxmlformats.org/drawingml/2006/main" prst="roundRect">
            <a:avLst>
              <a:gd name="adj" fmla="val 8571"/>
            </a:avLst>
          </a:prstGeom>
          <a:solidFill xmlns:a="http://schemas.openxmlformats.org/drawingml/2006/main">
            <a:srgbClr val="F5F3FF"/>
          </a:solidFill>
          <a:ln xmlns:a="http://schemas.openxmlformats.org/drawingml/2006/main" w="9525">
            <a:solidFill>
              <a:srgbClr val="7C3AED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3974A66-2262-4C25-86C2-C7D76817A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1962150"/>
            <a:ext cx="2038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7C3AED"/>
                </a:solidFill>
              </a:defRPr>
            </a:pPr>
            <a:r>
              <a:rPr sz="1575" b="1">
                <a:solidFill>
                  <a:srgbClr val="7C3AED"/>
                </a:solidFill>
              </a:rPr>
              <a:t>变更契约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212342A-44BA-4040-9822-F57B7B4EA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343150"/>
            <a:ext cx="19621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selected: pool_size 8→24；rollback: 24→8；8 个强制变体验证。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BE0EB7F-C661-486A-BA85-421787734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1790700"/>
            <a:ext cx="2381250" cy="1333500"/>
          </a:xfrm>
          <a:prstGeom xmlns:a="http://schemas.openxmlformats.org/drawingml/2006/main" prst="roundRect">
            <a:avLst>
              <a:gd name="adj" fmla="val 8571"/>
            </a:avLst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F97316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46E8B7E-82F4-4AFA-86BF-581F79748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1962150"/>
            <a:ext cx="2038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F97316"/>
                </a:solidFill>
              </a:defRPr>
            </a:pPr>
            <a:r>
              <a:rPr sz="1575" b="1">
                <a:solidFill>
                  <a:srgbClr val="F97316"/>
                </a:solidFill>
              </a:rPr>
              <a:t>发布状态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A9255F1-333B-4E77-BFD9-56855BA44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2343150"/>
            <a:ext cx="19621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quality_gate=passed；release=approved；审批人和理由进入摘要哈希。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F4C0A35-0238-48DB-825E-24B8586D3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0576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4B8A6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98FAE8B-6825-4CF1-85B1-01D26F04F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962400"/>
            <a:ext cx="9124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101828"/>
                </a:solidFill>
              </a:defRPr>
            </a:pPr>
            <a:r>
              <a:rPr sz="1575" b="0">
                <a:solidFill>
                  <a:srgbClr val="101828"/>
                </a:solidFill>
              </a:rPr>
              <a:t>18 个实测 Span、3 个必须 checks、15 个主输出文件；全部关联同一 run_id。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06398F4-9428-4BF9-A56B-A7DBCA0A1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4767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4B8A6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15BDAFA-661B-42EB-B4BF-C99658046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381500"/>
            <a:ext cx="9124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101828"/>
                </a:solidFill>
              </a:defRPr>
            </a:pPr>
            <a:r>
              <a:rPr sz="1575" b="0">
                <a:solidFill>
                  <a:srgbClr val="101828"/>
                </a:solidFill>
              </a:rPr>
              <a:t>Run Manifest 绑定场景、补丁、回滚、审批和产物 SHA-256。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E0BAF8D-9BE4-4CC8-9B68-EC9110AA2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8958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4B8A6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BB47387-283F-421F-89D1-983E26A69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800600"/>
            <a:ext cx="9124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101828"/>
                </a:solidFill>
              </a:defRPr>
            </a:pPr>
            <a:r>
              <a:rPr sz="1575" b="0">
                <a:solidFill>
                  <a:srgbClr val="101828"/>
                </a:solidFill>
              </a:rPr>
              <a:t>本页数据来自合成确定性回放，不代表真实生产准确率或 MTTR。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2B7E1EA-ABAE-485F-A9D1-B47FCA430E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685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AsoulAI ChronosFix / A-CFX · GOAI Agent Infra 复赛方案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218E55C-C7CD-418A-813C-90AA0B0E2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436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612345063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7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BB174FC-3631-4BD2-9FA3-952FE9D0D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B8A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1F51681-6389-477F-A7CC-1344482717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57300"/>
            <a:ext cx="4000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4B8A6"/>
                </a:solidFill>
              </a:defRPr>
            </a:pPr>
            <a:r>
              <a:rPr sz="2100" b="1">
                <a:solidFill>
                  <a:srgbClr val="14B8A6"/>
                </a:solidFill>
              </a:rPr>
              <a:t>第二章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D9D4896-7538-42CB-82F4-CAE395C1F5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66900"/>
            <a:ext cx="9334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4050" b="1">
                <a:solidFill>
                  <a:srgbClr val="FFFFFF"/>
                </a:solidFill>
              </a:defRPr>
            </a:pPr>
            <a:r>
              <a:rPr sz="4050" b="1">
                <a:solidFill>
                  <a:srgbClr val="FFFFFF"/>
                </a:solidFill>
              </a:rPr>
              <a:t>AgentTeams 多 Agent 协同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2E0CF87-C3CE-446E-BED0-ACA7A55E1C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276600"/>
            <a:ext cx="495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AFC7E8"/>
                </a:solidFill>
              </a:defRPr>
            </a:pPr>
            <a:r>
              <a:rPr sz="1500" b="0">
                <a:solidFill>
                  <a:srgbClr val="AFC7E8"/>
                </a:solidFill>
              </a:rPr>
              <a:t>必选基座：编排、拆解、上下文、执行、追踪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F5469E5-980F-4C11-9386-F414E6AF09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733800"/>
            <a:ext cx="6000750" cy="819150"/>
          </a:xfrm>
          <a:prstGeom xmlns:a="http://schemas.openxmlformats.org/drawingml/2006/main" prst="roundRect">
            <a:avLst>
              <a:gd name="adj" fmla="val 9302"/>
            </a:avLst>
          </a:prstGeom>
          <a:solidFill xmlns:a="http://schemas.openxmlformats.org/drawingml/2006/main">
            <a:srgbClr val="FFFFFF">
              <a:alpha val="6000"/>
            </a:srgbClr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BFB15D2-9C53-405D-BF97-D700FE6563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981450"/>
            <a:ext cx="5467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FFFFFF"/>
                </a:solidFill>
              </a:defRPr>
            </a:pPr>
            <a:r>
              <a:rPr sz="1800" b="1">
                <a:solidFill>
                  <a:srgbClr val="FFFFFF"/>
                </a:solidFill>
              </a:rPr>
              <a:t>多 Agent 协同与自主闭环能力 25%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34C708E-9D45-4B00-8E82-98637F103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94360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AFC7E8"/>
                </a:solidFill>
              </a:defRPr>
            </a:pPr>
            <a:r>
              <a:rPr sz="1050" b="0">
                <a:solidFill>
                  <a:srgbClr val="AFC7E8"/>
                </a:solidFill>
              </a:rPr>
              <a:t>AsoulAI · A-CFX · 官方模板复赛版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80BF3FF-86FB-417D-840D-9E30ADD5A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2300" y="5943600"/>
            <a:ext cx="666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AFC7E8"/>
                </a:solidFill>
              </a:defRPr>
            </a:pPr>
            <a:r>
              <a:rPr sz="1050" b="0">
                <a:solidFill>
                  <a:srgbClr val="AFC7E8"/>
                </a:solidFill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1672502700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7B18F6B6-2F9D-4609-ADF1-A99D968706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97316"/>
                </a:solidFill>
              </a:defRPr>
            </a:pPr>
            <a:r>
              <a:rPr sz="1125" b="1">
                <a:solidFill>
                  <a:srgbClr val="F97316"/>
                </a:solidFill>
              </a:rPr>
              <a:t>多 Agent 协同设计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83B323F-A44C-49CE-A45E-BFFB7580EC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28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01828"/>
                </a:solidFill>
              </a:defRPr>
            </a:pPr>
            <a:r>
              <a:rPr sz="2850" b="1">
                <a:solidFill>
                  <a:srgbClr val="101828"/>
                </a:solidFill>
              </a:rPr>
              <a:t>AgentTeams v1beta1：正式资源已离线校验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B4FFD52-C0D9-4015-A97C-28A4D19995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33500"/>
            <a:ext cx="990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64748B"/>
                </a:solidFill>
              </a:defRPr>
            </a:pPr>
            <a:r>
              <a:rPr sz="1350" b="0">
                <a:solidFill>
                  <a:srgbClr val="64748B"/>
                </a:solidFill>
              </a:rPr>
              <a:t>1 Manager、8 Worker、1 Team、1 Human；Controller / Matrix 尚未执行。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FD1218B-FCCB-4026-B652-FFE5B65848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943100"/>
            <a:ext cx="127635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07111F"/>
          </a:solidFill>
          <a:ln xmlns:a="http://schemas.openxmlformats.org/drawingml/2006/main" w="9525">
            <a:solidFill>
              <a:srgbClr val="07111F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CA28E87-3E04-4155-82B4-0AAA67A95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152650"/>
            <a:ext cx="1123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Manager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B5AD5F6-CE3E-4B69-AC3B-64974F54B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28900"/>
            <a:ext cx="10096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D7E3F5"/>
                </a:solidFill>
              </a:defRPr>
            </a:pPr>
            <a:r>
              <a:rPr sz="1125" b="0">
                <a:solidFill>
                  <a:srgbClr val="D7E3F5"/>
                </a:solidFill>
              </a:rPr>
              <a:t>入口路由</a:t>
            </a:r>
          </a:p>
          <a:p xmlns:a="http://schemas.openxmlformats.org/drawingml/2006/main">
            <a:pPr algn="ctr">
              <a:buNone/>
              <a:defRPr sz="1125" b="0">
                <a:solidFill>
                  <a:srgbClr val="D7E3F5"/>
                </a:solidFill>
              </a:defRPr>
            </a:pPr>
            <a:r>
              <a:rPr sz="1125" b="0">
                <a:solidFill>
                  <a:srgbClr val="D7E3F5"/>
                </a:solidFill>
              </a:rPr>
              <a:t>状态协调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5CE7C6C-C8E2-46F8-9F16-637A42930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7850" y="2571750"/>
            <a:ext cx="285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B8A6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A1EBA33-74E1-41BB-B1D8-BBEED03FA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1943100"/>
            <a:ext cx="127635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972A2D0-9DB0-40FC-86A5-9776A8578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2152650"/>
            <a:ext cx="1123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2563EB"/>
                </a:solidFill>
              </a:defRPr>
            </a:pPr>
            <a:r>
              <a:rPr sz="1200" b="1">
                <a:solidFill>
                  <a:srgbClr val="2563EB"/>
                </a:solidFill>
              </a:rPr>
              <a:t>Commander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207B1AA-F928-4B2C-ADD3-F0A1B9037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2628900"/>
            <a:ext cx="10096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101828"/>
                </a:solidFill>
              </a:defRPr>
            </a:pPr>
            <a:r>
              <a:rPr sz="1125" b="0">
                <a:solidFill>
                  <a:srgbClr val="101828"/>
                </a:solidFill>
              </a:rPr>
              <a:t>Team Leader</a:t>
            </a:r>
          </a:p>
          <a:p xmlns:a="http://schemas.openxmlformats.org/drawingml/2006/main">
            <a:pPr algn="ctr">
              <a:buNone/>
              <a:defRPr sz="1125" b="0">
                <a:solidFill>
                  <a:srgbClr val="101828"/>
                </a:solidFill>
              </a:defRPr>
            </a:pPr>
            <a:r>
              <a:rPr sz="1125" b="0">
                <a:solidFill>
                  <a:srgbClr val="101828"/>
                </a:solidFill>
              </a:rPr>
              <a:t>任务拆解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87D95EE-153A-4F77-90A4-E47B706B5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2571750"/>
            <a:ext cx="285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B8A6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CB38E11-53BB-4215-B166-8FF4EEF90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1943100"/>
            <a:ext cx="127635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776035E-0AE3-45A7-A4A9-81FAD79FC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2152650"/>
            <a:ext cx="1123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2563EB"/>
                </a:solidFill>
              </a:defRPr>
            </a:pPr>
            <a:r>
              <a:rPr sz="1200" b="1">
                <a:solidFill>
                  <a:srgbClr val="2563EB"/>
                </a:solidFill>
              </a:rPr>
              <a:t>Timeline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A0A45FD-43BB-4C1F-83DF-B0C0D4832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2628900"/>
            <a:ext cx="10096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101828"/>
                </a:solidFill>
              </a:defRPr>
            </a:pPr>
            <a:r>
              <a:rPr sz="1125" b="0">
                <a:solidFill>
                  <a:srgbClr val="101828"/>
                </a:solidFill>
              </a:rPr>
              <a:t>证据融合</a:t>
            </a:r>
          </a:p>
          <a:p xmlns:a="http://schemas.openxmlformats.org/drawingml/2006/main">
            <a:pPr algn="ctr">
              <a:buNone/>
              <a:defRPr sz="1125" b="0">
                <a:solidFill>
                  <a:srgbClr val="101828"/>
                </a:solidFill>
              </a:defRPr>
            </a:pPr>
            <a:r>
              <a:rPr sz="1125" b="0">
                <a:solidFill>
                  <a:srgbClr val="101828"/>
                </a:solidFill>
              </a:rPr>
              <a:t>时间线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68E5BA6-2405-4599-B17E-DEE22CB52D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2571750"/>
            <a:ext cx="285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B8A6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D9C9C8D-4674-4C6D-A1A2-71692CD38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1943100"/>
            <a:ext cx="127635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922DB74-9FC2-4D02-8D5D-FEFC7CDAD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2152650"/>
            <a:ext cx="1123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2563EB"/>
                </a:solidFill>
              </a:defRPr>
            </a:pPr>
            <a:r>
              <a:rPr sz="1200" b="1">
                <a:solidFill>
                  <a:srgbClr val="2563EB"/>
                </a:solidFill>
              </a:rPr>
              <a:t>Hypothesis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5EEE38D-E19D-4261-A573-3451B0D755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2628900"/>
            <a:ext cx="10096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101828"/>
                </a:solidFill>
              </a:defRPr>
            </a:pPr>
            <a:r>
              <a:rPr sz="1125" b="0">
                <a:solidFill>
                  <a:srgbClr val="101828"/>
                </a:solidFill>
              </a:rPr>
              <a:t>假设契约</a:t>
            </a:r>
          </a:p>
          <a:p xmlns:a="http://schemas.openxmlformats.org/drawingml/2006/main">
            <a:pPr algn="ctr">
              <a:buNone/>
              <a:defRPr sz="1125" b="0">
                <a:solidFill>
                  <a:srgbClr val="101828"/>
                </a:solidFill>
              </a:defRPr>
            </a:pPr>
            <a:r>
              <a:rPr sz="1125" b="0">
                <a:solidFill>
                  <a:srgbClr val="101828"/>
                </a:solidFill>
              </a:rPr>
              <a:t>可证伪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83293C8-F604-4EDF-A5FB-43AFC4650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571750"/>
            <a:ext cx="285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B8A6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A8A2544-DD6B-4BA3-91C7-3DFEBBA75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1943100"/>
            <a:ext cx="127635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47E9EAF-7F83-4B39-B956-76B26D260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2152650"/>
            <a:ext cx="1123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2563EB"/>
                </a:solidFill>
              </a:defRPr>
            </a:pPr>
            <a:r>
              <a:rPr sz="1200" b="1">
                <a:solidFill>
                  <a:srgbClr val="2563EB"/>
                </a:solidFill>
              </a:rPr>
              <a:t>Universe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AA386FD-F5B0-40E2-8684-BB1D9EEACB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2628900"/>
            <a:ext cx="10096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101828"/>
                </a:solidFill>
              </a:defRPr>
            </a:pPr>
            <a:r>
              <a:rPr sz="1125" b="0">
                <a:solidFill>
                  <a:srgbClr val="101828"/>
                </a:solidFill>
              </a:rPr>
              <a:t>反事实</a:t>
            </a:r>
          </a:p>
          <a:p xmlns:a="http://schemas.openxmlformats.org/drawingml/2006/main">
            <a:pPr algn="ctr">
              <a:buNone/>
              <a:defRPr sz="1125" b="0">
                <a:solidFill>
                  <a:srgbClr val="101828"/>
                </a:solidFill>
              </a:defRPr>
            </a:pPr>
            <a:r>
              <a:rPr sz="1125" b="0">
                <a:solidFill>
                  <a:srgbClr val="101828"/>
                </a:solidFill>
              </a:rPr>
              <a:t>故障基因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2FCE27A-98CD-4FA3-AC6C-344EA67901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2571750"/>
            <a:ext cx="285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B8A6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7E02B9B-48F9-466C-AA17-392685F30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1943100"/>
            <a:ext cx="127635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E8FA35A-4A1D-4536-BA16-48AF5BD8EE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2152650"/>
            <a:ext cx="1123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2563EB"/>
                </a:solidFill>
              </a:defRPr>
            </a:pPr>
            <a:r>
              <a:rPr sz="1200" b="1">
                <a:solidFill>
                  <a:srgbClr val="2563EB"/>
                </a:solidFill>
              </a:rPr>
              <a:t>Patch / Verify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5C2ADA9-659C-4617-BC54-2D171F764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2628900"/>
            <a:ext cx="10096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101828"/>
                </a:solidFill>
              </a:defRPr>
            </a:pPr>
            <a:r>
              <a:rPr sz="1125" b="0">
                <a:solidFill>
                  <a:srgbClr val="101828"/>
                </a:solidFill>
              </a:rPr>
              <a:t>补丁竞赛</a:t>
            </a:r>
          </a:p>
          <a:p xmlns:a="http://schemas.openxmlformats.org/drawingml/2006/main">
            <a:pPr algn="ctr">
              <a:buNone/>
              <a:defRPr sz="1125" b="0">
                <a:solidFill>
                  <a:srgbClr val="101828"/>
                </a:solidFill>
              </a:defRPr>
            </a:pPr>
            <a:r>
              <a:rPr sz="1125" b="0">
                <a:solidFill>
                  <a:srgbClr val="101828"/>
                </a:solidFill>
              </a:rPr>
              <a:t>回滚验证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4D44C31-A383-4F4A-A262-732307B44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4100" y="2571750"/>
            <a:ext cx="285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B8A6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BE1FA04-33A1-4A42-A04B-A31662750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67950" y="1943100"/>
            <a:ext cx="127635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5DB84AD-94DC-41B5-B046-A9883CFCC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44150" y="2152650"/>
            <a:ext cx="1123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2563EB"/>
                </a:solidFill>
              </a:defRPr>
            </a:pPr>
            <a:r>
              <a:rPr sz="1200" b="1">
                <a:solidFill>
                  <a:srgbClr val="2563EB"/>
                </a:solidFill>
              </a:rPr>
              <a:t>Audit / Curate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44E7578-C80C-45C5-8CB1-FE5D981877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01300" y="2628900"/>
            <a:ext cx="10096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101828"/>
                </a:solidFill>
              </a:defRPr>
            </a:pPr>
            <a:r>
              <a:rPr sz="1125" b="0">
                <a:solidFill>
                  <a:srgbClr val="101828"/>
                </a:solidFill>
              </a:rPr>
              <a:t>门禁审计</a:t>
            </a:r>
          </a:p>
          <a:p xmlns:a="http://schemas.openxmlformats.org/drawingml/2006/main">
            <a:pPr algn="ctr">
              <a:buNone/>
              <a:defRPr sz="1125" b="0">
                <a:solidFill>
                  <a:srgbClr val="101828"/>
                </a:solidFill>
              </a:defRPr>
            </a:pPr>
            <a:r>
              <a:rPr sz="1125" b="0">
                <a:solidFill>
                  <a:srgbClr val="101828"/>
                </a:solidFill>
              </a:rPr>
              <a:t>Skill 沉淀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532F961-543D-4D4B-BC57-C01847966B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057650"/>
            <a:ext cx="278130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ECFEFF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E1F882D-BBC9-4EAF-990D-BF3884131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229100"/>
            <a:ext cx="2438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14B8A6"/>
                </a:solidFill>
              </a:defRPr>
            </a:pPr>
            <a:r>
              <a:rPr sz="1575" b="1">
                <a:solidFill>
                  <a:srgbClr val="14B8A6"/>
                </a:solidFill>
              </a:rPr>
              <a:t>角色编排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B51D9C6-75DF-49AD-94D3-11797C03B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610100"/>
            <a:ext cx="2362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Team leader / Worker 分工
Human 审批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DE11126B-F434-48C3-9724-993EE9EC15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4057650"/>
            <a:ext cx="278130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5F3FF"/>
          </a:solidFill>
          <a:ln xmlns:a="http://schemas.openxmlformats.org/drawingml/2006/main" w="9525">
            <a:solidFill>
              <a:srgbClr val="7C3AED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5C4D1816-45B3-4801-ACE5-D055713617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4229100"/>
            <a:ext cx="2438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7C3AED"/>
                </a:solidFill>
              </a:defRPr>
            </a:pPr>
            <a:r>
              <a:rPr sz="1575" b="1">
                <a:solidFill>
                  <a:srgbClr val="7C3AED"/>
                </a:solidFill>
              </a:rPr>
              <a:t>资源证据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8A0507FF-81AC-4D54-8659-9B6F9405A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4610100"/>
            <a:ext cx="2362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11 份声明校验通过
依赖版本已锁定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CC66DADB-94B3-41DD-A9DC-1CE0FC208E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4057650"/>
            <a:ext cx="278130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F97316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0AC6799C-ADC1-4DD6-B729-EDC79C048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4229100"/>
            <a:ext cx="2438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F97316"/>
                </a:solidFill>
              </a:defRPr>
            </a:pPr>
            <a:r>
              <a:rPr sz="1575" b="1">
                <a:solidFill>
                  <a:srgbClr val="F97316"/>
                </a:solidFill>
              </a:rPr>
              <a:t>执行边界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2F52E1E4-9685-4219-BE37-C242D0B92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4610100"/>
            <a:ext cx="2362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compatible mapping
非真实 Worker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26CE66DE-2185-4AA6-8F7F-92AF3F243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685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AsoulAI ChronosFix / A-CFX · GOAI Agent Infra 复赛方案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0478100A-72B4-4AB1-B888-93E3C2D10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436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18483352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7B18F6B6-2F9D-4609-ADF1-A99D968706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97316"/>
                </a:solidFill>
              </a:defRPr>
            </a:pPr>
            <a:r>
              <a:rPr sz="1125" b="1">
                <a:solidFill>
                  <a:srgbClr val="F97316"/>
                </a:solidFill>
              </a:rPr>
              <a:t>多 Agent 协同设计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83B323F-A44C-49CE-A45E-BFFB7580EC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28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01828"/>
                </a:solidFill>
              </a:defRPr>
            </a:pPr>
            <a:r>
              <a:rPr sz="2850" b="1">
                <a:solidFill>
                  <a:srgbClr val="101828"/>
                </a:solidFill>
              </a:rPr>
              <a:t>角色靠状态契约协同，而不是在聊天室投票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B4FFD52-C0D9-4015-A97C-28A4D19995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33500"/>
            <a:ext cx="990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64748B"/>
                </a:solidFill>
              </a:defRPr>
            </a:pPr>
            <a:r>
              <a:rPr sz="1350" b="0">
                <a:solidFill>
                  <a:srgbClr val="64748B"/>
                </a:solidFill>
              </a:rPr>
              <a:t>每个 Worker 只写负责的状态分区；Commander 只做路由、裁决与升级。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FD1218B-FCCB-4026-B652-FFE5B65848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943100"/>
            <a:ext cx="127635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07111F"/>
          </a:solidFill>
          <a:ln xmlns:a="http://schemas.openxmlformats.org/drawingml/2006/main" w="9525">
            <a:solidFill>
              <a:srgbClr val="07111F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CA28E87-3E04-4155-82B4-0AAA67A95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152650"/>
            <a:ext cx="1123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Intake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B5AD5F6-CE3E-4B69-AC3B-64974F54B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28900"/>
            <a:ext cx="10096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D7E3F5"/>
                </a:solidFill>
              </a:defRPr>
            </a:pPr>
            <a:r>
              <a:rPr sz="1125" b="0">
                <a:solidFill>
                  <a:srgbClr val="D7E3F5"/>
                </a:solidFill>
              </a:rPr>
              <a:t>接收事件</a:t>
            </a:r>
          </a:p>
          <a:p xmlns:a="http://schemas.openxmlformats.org/drawingml/2006/main">
            <a:pPr algn="ctr">
              <a:buNone/>
              <a:defRPr sz="1125" b="0">
                <a:solidFill>
                  <a:srgbClr val="D7E3F5"/>
                </a:solidFill>
              </a:defRPr>
            </a:pPr>
            <a:r>
              <a:rPr sz="1125" b="0">
                <a:solidFill>
                  <a:srgbClr val="D7E3F5"/>
                </a:solidFill>
              </a:rPr>
              <a:t>校验 Schema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5CE7C6C-C8E2-46F8-9F16-637A42930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7850" y="2571750"/>
            <a:ext cx="285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B8A6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A1EBA33-74E1-41BB-B1D8-BBEED03FA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1943100"/>
            <a:ext cx="127635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972A2D0-9DB0-40FC-86A5-9776A8578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2152650"/>
            <a:ext cx="1123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2563EB"/>
                </a:solidFill>
              </a:defRPr>
            </a:pPr>
            <a:r>
              <a:rPr sz="1200" b="1">
                <a:solidFill>
                  <a:srgbClr val="2563EB"/>
                </a:solidFill>
              </a:rPr>
              <a:t>Timeline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207B1AA-F928-4B2C-ADD3-F0A1B9037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2628900"/>
            <a:ext cx="10096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101828"/>
                </a:solidFill>
              </a:defRPr>
            </a:pPr>
            <a:r>
              <a:rPr sz="1125" b="0">
                <a:solidFill>
                  <a:srgbClr val="101828"/>
                </a:solidFill>
              </a:rPr>
              <a:t>合并证据</a:t>
            </a:r>
          </a:p>
          <a:p xmlns:a="http://schemas.openxmlformats.org/drawingml/2006/main">
            <a:pPr algn="ctr">
              <a:buNone/>
              <a:defRPr sz="1125" b="0">
                <a:solidFill>
                  <a:srgbClr val="101828"/>
                </a:solidFill>
              </a:defRPr>
            </a:pPr>
            <a:r>
              <a:rPr sz="1125" b="0">
                <a:solidFill>
                  <a:srgbClr val="101828"/>
                </a:solidFill>
              </a:rPr>
              <a:t>重建时间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87D95EE-153A-4F77-90A4-E47B706B5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2571750"/>
            <a:ext cx="285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B8A6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CB38E11-53BB-4215-B166-8FF4EEF90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1943100"/>
            <a:ext cx="127635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776035E-0AE3-45A7-A4A9-81FAD79FC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2152650"/>
            <a:ext cx="1123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2563EB"/>
                </a:solidFill>
              </a:defRPr>
            </a:pPr>
            <a:r>
              <a:rPr sz="1200" b="1">
                <a:solidFill>
                  <a:srgbClr val="2563EB"/>
                </a:solidFill>
              </a:rPr>
              <a:t>Hypothesis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A0A45FD-43BB-4C1F-83DF-B0C0D4832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2628900"/>
            <a:ext cx="10096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101828"/>
                </a:solidFill>
              </a:defRPr>
            </a:pPr>
            <a:r>
              <a:rPr sz="1125" b="0">
                <a:solidFill>
                  <a:srgbClr val="101828"/>
                </a:solidFill>
              </a:rPr>
              <a:t>登记假设</a:t>
            </a:r>
          </a:p>
          <a:p xmlns:a="http://schemas.openxmlformats.org/drawingml/2006/main">
            <a:pPr algn="ctr">
              <a:buNone/>
              <a:defRPr sz="1125" b="0">
                <a:solidFill>
                  <a:srgbClr val="101828"/>
                </a:solidFill>
              </a:defRPr>
            </a:pPr>
            <a:r>
              <a:rPr sz="1125" b="0">
                <a:solidFill>
                  <a:srgbClr val="101828"/>
                </a:solidFill>
              </a:rPr>
              <a:t>干预契约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68E5BA6-2405-4599-B17E-DEE22CB52D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2571750"/>
            <a:ext cx="285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B8A6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D9C9C8D-4674-4C6D-A1A2-71692CD38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1943100"/>
            <a:ext cx="127635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922DB74-9FC2-4D02-8D5D-FEFC7CDAD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2152650"/>
            <a:ext cx="1123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2563EB"/>
                </a:solidFill>
              </a:defRPr>
            </a:pPr>
            <a:r>
              <a:rPr sz="1200" b="1">
                <a:solidFill>
                  <a:srgbClr val="2563EB"/>
                </a:solidFill>
              </a:rPr>
              <a:t>Replay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5EEE38D-E19D-4261-A573-3451B0D755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2628900"/>
            <a:ext cx="10096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101828"/>
                </a:solidFill>
              </a:defRPr>
            </a:pPr>
            <a:r>
              <a:rPr sz="1125" b="0">
                <a:solidFill>
                  <a:srgbClr val="101828"/>
                </a:solidFill>
              </a:rPr>
              <a:t>反事实</a:t>
            </a:r>
          </a:p>
          <a:p xmlns:a="http://schemas.openxmlformats.org/drawingml/2006/main">
            <a:pPr algn="ctr">
              <a:buNone/>
              <a:defRPr sz="1125" b="0">
                <a:solidFill>
                  <a:srgbClr val="101828"/>
                </a:solidFill>
              </a:defRPr>
            </a:pPr>
            <a:r>
              <a:rPr sz="1125" b="0">
                <a:solidFill>
                  <a:srgbClr val="101828"/>
                </a:solidFill>
              </a:rPr>
              <a:t>可辨识性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83293C8-F604-4EDF-A5FB-43AFC4650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571750"/>
            <a:ext cx="285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B8A6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A8A2544-DD6B-4BA3-91C7-3DFEBBA75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1943100"/>
            <a:ext cx="127635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47E9EAF-7F83-4B39-B956-76B26D260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2152650"/>
            <a:ext cx="1123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2563EB"/>
                </a:solidFill>
              </a:defRPr>
            </a:pPr>
            <a:r>
              <a:rPr sz="1200" b="1">
                <a:solidFill>
                  <a:srgbClr val="2563EB"/>
                </a:solidFill>
              </a:rPr>
              <a:t>Patch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AA386FD-F5B0-40E2-8684-BB1D9EEACB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2628900"/>
            <a:ext cx="10096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101828"/>
                </a:solidFill>
              </a:defRPr>
            </a:pPr>
            <a:r>
              <a:rPr sz="1125" b="0">
                <a:solidFill>
                  <a:srgbClr val="101828"/>
                </a:solidFill>
              </a:rPr>
              <a:t>补丁候选</a:t>
            </a:r>
          </a:p>
          <a:p xmlns:a="http://schemas.openxmlformats.org/drawingml/2006/main">
            <a:pPr algn="ctr">
              <a:buNone/>
              <a:defRPr sz="1125" b="0">
                <a:solidFill>
                  <a:srgbClr val="101828"/>
                </a:solidFill>
              </a:defRPr>
            </a:pPr>
            <a:r>
              <a:rPr sz="1125" b="0">
                <a:solidFill>
                  <a:srgbClr val="101828"/>
                </a:solidFill>
              </a:rPr>
              <a:t>回滚契约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2FCE27A-98CD-4FA3-AC6C-344EA67901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2571750"/>
            <a:ext cx="285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B8A6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7E02B9B-48F9-466C-AA17-392685F30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1943100"/>
            <a:ext cx="127635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E8FA35A-4A1D-4536-BA16-48AF5BD8EE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2152650"/>
            <a:ext cx="1123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2563EB"/>
                </a:solidFill>
              </a:defRPr>
            </a:pPr>
            <a:r>
              <a:rPr sz="1200" b="1">
                <a:solidFill>
                  <a:srgbClr val="2563EB"/>
                </a:solidFill>
              </a:rPr>
              <a:t>Verify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5C2ADA9-659C-4617-BC54-2D171F764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2628900"/>
            <a:ext cx="10096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101828"/>
                </a:solidFill>
              </a:defRPr>
            </a:pPr>
            <a:r>
              <a:rPr sz="1125" b="0">
                <a:solidFill>
                  <a:srgbClr val="101828"/>
                </a:solidFill>
              </a:rPr>
              <a:t>变体验证</a:t>
            </a:r>
          </a:p>
          <a:p xmlns:a="http://schemas.openxmlformats.org/drawingml/2006/main">
            <a:pPr algn="ctr">
              <a:buNone/>
              <a:defRPr sz="1125" b="0">
                <a:solidFill>
                  <a:srgbClr val="101828"/>
                </a:solidFill>
              </a:defRPr>
            </a:pPr>
            <a:r>
              <a:rPr sz="1125" b="0">
                <a:solidFill>
                  <a:srgbClr val="101828"/>
                </a:solidFill>
              </a:rPr>
              <a:t>真实 checks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4D44C31-A383-4F4A-A262-732307B44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4100" y="2571750"/>
            <a:ext cx="285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B8A6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BE1FA04-33A1-4A42-A04B-A31662750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67950" y="1943100"/>
            <a:ext cx="127635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5DB84AD-94DC-41B5-B046-A9883CFCC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44150" y="2152650"/>
            <a:ext cx="1123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2563EB"/>
                </a:solidFill>
              </a:defRPr>
            </a:pPr>
            <a:r>
              <a:rPr sz="1200" b="1">
                <a:solidFill>
                  <a:srgbClr val="2563EB"/>
                </a:solidFill>
              </a:rPr>
              <a:t>Audit / Curate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44E7578-C80C-45C5-8CB1-FE5D981877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01300" y="2628900"/>
            <a:ext cx="10096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101828"/>
                </a:solidFill>
              </a:defRPr>
            </a:pPr>
            <a:r>
              <a:rPr sz="1125" b="0">
                <a:solidFill>
                  <a:srgbClr val="101828"/>
                </a:solidFill>
              </a:rPr>
              <a:t>审批审计</a:t>
            </a:r>
          </a:p>
          <a:p xmlns:a="http://schemas.openxmlformats.org/drawingml/2006/main">
            <a:pPr algn="ctr">
              <a:buNone/>
              <a:defRPr sz="1125" b="0">
                <a:solidFill>
                  <a:srgbClr val="101828"/>
                </a:solidFill>
              </a:defRPr>
            </a:pPr>
            <a:r>
              <a:rPr sz="1125" b="0">
                <a:solidFill>
                  <a:srgbClr val="101828"/>
                </a:solidFill>
              </a:rPr>
              <a:t>资产沉淀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532F961-543D-4D4B-BC57-C01847966B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057650"/>
            <a:ext cx="278130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ECFEFF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E1F882D-BBC9-4EAF-990D-BF3884131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229100"/>
            <a:ext cx="2438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14B8A6"/>
                </a:solidFill>
              </a:defRPr>
            </a:pPr>
            <a:r>
              <a:rPr sz="1575" b="1">
                <a:solidFill>
                  <a:srgbClr val="14B8A6"/>
                </a:solidFill>
              </a:rPr>
              <a:t>上下文传递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B51D9C6-75DF-49AD-94D3-11797C03B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610100"/>
            <a:ext cx="2362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IncidentState + Schema
实验 / 补丁 / 审批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DE11126B-F434-48C3-9724-993EE9EC15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4057650"/>
            <a:ext cx="278130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5F3FF"/>
          </a:solidFill>
          <a:ln xmlns:a="http://schemas.openxmlformats.org/drawingml/2006/main" w="9525">
            <a:solidFill>
              <a:srgbClr val="7C3AED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5C4D1816-45B3-4801-ACE5-D055713617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4229100"/>
            <a:ext cx="2438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7C3AED"/>
                </a:solidFill>
              </a:defRPr>
            </a:pPr>
            <a:r>
              <a:rPr sz="1575" b="1">
                <a:solidFill>
                  <a:srgbClr val="7C3AED"/>
                </a:solidFill>
              </a:rPr>
              <a:t>状态追踪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8A0507FF-81AC-4D54-8659-9B6F9405A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4610100"/>
            <a:ext cx="2362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run / trace / parent
Agent / check / PR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CC66DADB-94B3-41DD-A9DC-1CE0FC208E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4057650"/>
            <a:ext cx="278130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F97316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0AC6799C-ADC1-4DD6-B729-EDC79C048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4229100"/>
            <a:ext cx="2438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F97316"/>
                </a:solidFill>
              </a:defRPr>
            </a:pPr>
            <a:r>
              <a:rPr sz="1575" b="1">
                <a:solidFill>
                  <a:srgbClr val="F97316"/>
                </a:solidFill>
              </a:rPr>
              <a:t>异常分支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2F52E1E4-9685-4219-BE37-C242D0B92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4610100"/>
            <a:ext cx="2362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missing / indeterminate
高风险→Human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26CE66DE-2185-4AA6-8F7F-92AF3F243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685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AsoulAI ChronosFix / A-CFX · GOAI Agent Infra 复赛方案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0478100A-72B4-4AB1-B888-93E3C2D10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436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18483352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913A64E-3859-42DA-BD3B-86BB07CE8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97316"/>
                </a:solidFill>
              </a:defRPr>
            </a:pPr>
            <a:r>
              <a:rPr sz="1125" b="1">
                <a:solidFill>
                  <a:srgbClr val="F97316"/>
                </a:solidFill>
              </a:rPr>
              <a:t>因果治理与发布安全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EAA9548-23AA-4708-8679-B1D3AC109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28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01828"/>
                </a:solidFill>
              </a:defRPr>
            </a:pPr>
            <a:r>
              <a:rPr sz="2850" b="1">
                <a:solidFill>
                  <a:srgbClr val="101828"/>
                </a:solidFill>
              </a:rPr>
              <a:t>先证明“能区分”，再决定“能发布”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456553F-9E6A-448A-A83C-BACDB9834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33500"/>
            <a:ext cx="990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64748B"/>
                </a:solidFill>
              </a:defRPr>
            </a:pPr>
            <a:r>
              <a:rPr sz="1350" b="0">
                <a:solidFill>
                  <a:srgbClr val="64748B"/>
                </a:solidFill>
              </a:rPr>
              <a:t>可辨识性仲裁与 RiskGate 分别解决“结论可靠”和“动作可放行”。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B52DB25-A175-4B54-B33A-C45F3287E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790700"/>
            <a:ext cx="2381250" cy="1333500"/>
          </a:xfrm>
          <a:prstGeom xmlns:a="http://schemas.openxmlformats.org/drawingml/2006/main" prst="roundRect">
            <a:avLst>
              <a:gd name="adj" fmla="val 8571"/>
            </a:avLst>
          </a:prstGeom>
          <a:solidFill xmlns:a="http://schemas.openxmlformats.org/drawingml/2006/main">
            <a:srgbClr val="EFF6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3E1EB2F-1B90-43E3-932A-035BEA11D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962150"/>
            <a:ext cx="2038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2563EB"/>
                </a:solidFill>
              </a:defRPr>
            </a:pPr>
            <a:r>
              <a:rPr sz="1575" b="1">
                <a:solidFill>
                  <a:srgbClr val="2563EB"/>
                </a:solidFill>
              </a:rPr>
              <a:t>同干预冲突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EC0FB0E-B551-4579-B7F6-692523753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343150"/>
            <a:ext cx="19621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多个来源假设若映射到相同干预，统一降级为 indeterminate。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805190C-27F3-439B-A7EE-B5E48D317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1790700"/>
            <a:ext cx="2381250" cy="1333500"/>
          </a:xfrm>
          <a:prstGeom xmlns:a="http://schemas.openxmlformats.org/drawingml/2006/main" prst="roundRect">
            <a:avLst>
              <a:gd name="adj" fmla="val 8571"/>
            </a:avLst>
          </a:prstGeom>
          <a:solidFill xmlns:a="http://schemas.openxmlformats.org/drawingml/2006/main">
            <a:srgbClr val="ECFEFF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FC19F9C-61A2-4081-B533-1743F5555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1962150"/>
            <a:ext cx="2038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14B8A6"/>
                </a:solidFill>
              </a:defRPr>
            </a:pPr>
            <a:r>
              <a:rPr sz="1575" b="1">
                <a:solidFill>
                  <a:srgbClr val="14B8A6"/>
                </a:solidFill>
              </a:rPr>
              <a:t>无主因证据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E922F0A-8D71-470E-96FF-F4BB7305A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2343150"/>
            <a:ext cx="19621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没有可辨识 primary cause 时，counterfactual check 失败并阻断 PR 放行。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6E9EEB9-3540-4BE7-86AE-C548ABD04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1790700"/>
            <a:ext cx="2381250" cy="1333500"/>
          </a:xfrm>
          <a:prstGeom xmlns:a="http://schemas.openxmlformats.org/drawingml/2006/main" prst="roundRect">
            <a:avLst>
              <a:gd name="adj" fmla="val 8571"/>
            </a:avLst>
          </a:prstGeom>
          <a:solidFill xmlns:a="http://schemas.openxmlformats.org/drawingml/2006/main">
            <a:srgbClr val="F5F3FF"/>
          </a:solidFill>
          <a:ln xmlns:a="http://schemas.openxmlformats.org/drawingml/2006/main" w="9525">
            <a:solidFill>
              <a:srgbClr val="7C3AED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3974A66-2262-4C25-86C2-C7D76817A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1962150"/>
            <a:ext cx="2038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7C3AED"/>
                </a:solidFill>
              </a:defRPr>
            </a:pPr>
            <a:r>
              <a:rPr sz="1575" b="1">
                <a:solidFill>
                  <a:srgbClr val="7C3AED"/>
                </a:solidFill>
              </a:rPr>
              <a:t>验证不完整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212342A-44BA-4040-9822-F57B7B4EA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343150"/>
            <a:ext cx="19621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强制变体、Evidence Passport、回滚或 required checks 任一缺失即 fail closed。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BE0EB7F-C661-486A-BA85-421787734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1790700"/>
            <a:ext cx="2381250" cy="1333500"/>
          </a:xfrm>
          <a:prstGeom xmlns:a="http://schemas.openxmlformats.org/drawingml/2006/main" prst="roundRect">
            <a:avLst>
              <a:gd name="adj" fmla="val 8571"/>
            </a:avLst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F97316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46E8B7E-82F4-4AFA-86BF-581F79748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1962150"/>
            <a:ext cx="2038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F97316"/>
                </a:solidFill>
              </a:defRPr>
            </a:pPr>
            <a:r>
              <a:rPr sz="1575" b="1">
                <a:solidFill>
                  <a:srgbClr val="F97316"/>
                </a:solidFill>
              </a:rPr>
              <a:t>中高风险审批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A9255F1-333B-4E77-BFD9-56855BA44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2343150"/>
            <a:ext cx="19621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必须提供命名审批人和理由；布尔 approve 不能替代人工身份。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F4C0A35-0238-48DB-825E-24B8586D3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0576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4B8A6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98FAE8B-6825-4CF1-85B1-01D26F04F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962400"/>
            <a:ext cx="9124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101828"/>
                </a:solidFill>
              </a:defRPr>
            </a:pPr>
            <a:r>
              <a:rPr sz="1575" b="0">
                <a:solidFill>
                  <a:srgbClr val="101828"/>
                </a:solidFill>
              </a:rPr>
              <a:t>quality_gate 与 release_decision 分离：技术通过不等于已获发布授权。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06398F4-9428-4BF9-A56B-A7DBCA0A1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4767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4B8A6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15BDAFA-661B-42EB-B4BF-C99658046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381500"/>
            <a:ext cx="9124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101828"/>
                </a:solidFill>
              </a:defRPr>
            </a:pPr>
            <a:r>
              <a:rPr sz="1575" b="0">
                <a:solidFill>
                  <a:srgbClr val="101828"/>
                </a:solidFill>
              </a:rPr>
              <a:t>approval digest 绑定 scenario hash、patch hash、patch id 与 policy version。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E0BAF8D-9BE4-4CC8-9B68-EC9110AA2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8958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4B8A6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BB47387-283F-421F-89D1-983E26A69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800600"/>
            <a:ext cx="9124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101828"/>
                </a:solidFill>
              </a:defRPr>
            </a:pPr>
            <a:r>
              <a:rPr sz="1575" b="0">
                <a:solidFill>
                  <a:srgbClr val="101828"/>
                </a:solidFill>
              </a:rPr>
              <a:t>证据不足时给出 blocker，而不是为了 Demo 生成绿色成功状态。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2B7E1EA-ABAE-485F-A9D1-B47FCA430E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685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AsoulAI ChronosFix / A-CFX · GOAI Agent Infra 复赛方案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218E55C-C7CD-418A-813C-90AA0B0E2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436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1612345063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07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F0A6C68-A8E7-4B83-A962-7BE1882A35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B8A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CF56205-4B6A-4D4A-B00C-A3080223B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57300"/>
            <a:ext cx="4000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4B8A6"/>
                </a:solidFill>
              </a:defRPr>
            </a:pPr>
            <a:r>
              <a:rPr sz="2100" b="1">
                <a:solidFill>
                  <a:srgbClr val="14B8A6"/>
                </a:solidFill>
              </a:rPr>
              <a:t>第三章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35D042B-FFA3-4127-A5F7-17AF375C84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66900"/>
            <a:ext cx="9334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4050" b="1">
                <a:solidFill>
                  <a:srgbClr val="FFFFFF"/>
                </a:solidFill>
              </a:defRPr>
            </a:pPr>
            <a:r>
              <a:rPr sz="4050" b="1">
                <a:solidFill>
                  <a:srgbClr val="FFFFFF"/>
                </a:solidFill>
              </a:rPr>
              <a:t>Skill 工程与云操作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8D75583-44CC-498F-AE05-8ABE0EA99F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276600"/>
            <a:ext cx="495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AFC7E8"/>
                </a:solidFill>
              </a:defRPr>
            </a:pPr>
            <a:r>
              <a:rPr sz="1500" b="0">
                <a:solidFill>
                  <a:srgbClr val="AFC7E8"/>
                </a:solidFill>
              </a:rPr>
              <a:t>核心 Skill、官方云 Skill、鉴权、失败处理与生命周期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E6AB388-EAC4-4ED1-8DA8-3097788CE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733800"/>
            <a:ext cx="6000750" cy="819150"/>
          </a:xfrm>
          <a:prstGeom xmlns:a="http://schemas.openxmlformats.org/drawingml/2006/main" prst="roundRect">
            <a:avLst>
              <a:gd name="adj" fmla="val 9302"/>
            </a:avLst>
          </a:prstGeom>
          <a:solidFill xmlns:a="http://schemas.openxmlformats.org/drawingml/2006/main">
            <a:srgbClr val="FFFFFF">
              <a:alpha val="6000"/>
            </a:srgbClr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D820AE0-4968-4A51-89A3-960A937C0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981450"/>
            <a:ext cx="5467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FFFFFF"/>
                </a:solidFill>
              </a:defRPr>
            </a:pPr>
            <a:r>
              <a:rPr sz="1800" b="1">
                <a:solidFill>
                  <a:srgbClr val="FFFFFF"/>
                </a:solidFill>
              </a:rPr>
              <a:t>Skill 工程体系与生态复用 25%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0EFEF93-2460-4CB1-9632-C34D8E390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94360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AFC7E8"/>
                </a:solidFill>
              </a:defRPr>
            </a:pPr>
            <a:r>
              <a:rPr sz="1050" b="0">
                <a:solidFill>
                  <a:srgbClr val="AFC7E8"/>
                </a:solidFill>
              </a:rPr>
              <a:t>AsoulAI · A-CFX · 官方模板复赛版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D2E01D7-7639-4C3A-A368-8FE8EAF0A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2300" y="5943600"/>
            <a:ext cx="666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AFC7E8"/>
                </a:solidFill>
              </a:defRPr>
            </a:pPr>
            <a:r>
              <a:rPr sz="1050" b="0">
                <a:solidFill>
                  <a:srgbClr val="AFC7E8"/>
                </a:solidFill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1325722953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3A41772-A10F-45D8-A53B-155C5FD971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97316"/>
                </a:solidFill>
              </a:defRPr>
            </a:pPr>
            <a:r>
              <a:rPr sz="1125" b="1">
                <a:solidFill>
                  <a:srgbClr val="F97316"/>
                </a:solidFill>
              </a:rPr>
              <a:t>Skill 工程体系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2888AD7-A3DA-4B6F-A9F2-F224AACB6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28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01828"/>
                </a:solidFill>
              </a:defRPr>
            </a:pPr>
            <a:r>
              <a:rPr sz="2850" b="1">
                <a:solidFill>
                  <a:srgbClr val="101828"/>
                </a:solidFill>
              </a:rPr>
              <a:t>10 个 Skill 能力覆盖证据、因果、验证与资产复用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6E98A44-E822-4990-8D67-2B98A0C4A8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33500"/>
            <a:ext cx="990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64748B"/>
                </a:solidFill>
              </a:defRPr>
            </a:pPr>
            <a:r>
              <a:rPr sz="1350" b="0">
                <a:solidFill>
                  <a:srgbClr val="64748B"/>
                </a:solidFill>
              </a:rPr>
              <a:t>每项能力都有稳定契约、权限边界、验证方式和版本演进路径。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5633599-8209-4F20-988E-066B83A32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95450"/>
            <a:ext cx="295275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29CE5F1-B31A-4D33-93CC-8376BF270C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847850"/>
            <a:ext cx="2609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2563EB"/>
                </a:solidFill>
              </a:defRPr>
            </a:pPr>
            <a:r>
              <a:rPr sz="1425" b="1">
                <a:solidFill>
                  <a:srgbClr val="2563EB"/>
                </a:solidFill>
              </a:rPr>
              <a:t>EvidenceFusion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3326759-81C2-4F4B-89E4-AF84C07B91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152650"/>
            <a:ext cx="2609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101828"/>
                </a:solidFill>
              </a:defRPr>
            </a:pPr>
            <a:r>
              <a:rPr sz="1050" b="0">
                <a:solidFill>
                  <a:srgbClr val="101828"/>
                </a:solidFill>
              </a:rPr>
              <a:t>多源证据与缺口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DED3E7A-4D92-434E-B9A1-59E257A8D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1695450"/>
            <a:ext cx="295275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9155680-843F-48DB-A7DA-FBE225EB7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1847850"/>
            <a:ext cx="2609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14B8A6"/>
                </a:solidFill>
              </a:defRPr>
            </a:pPr>
            <a:r>
              <a:rPr sz="1425" b="1">
                <a:solidFill>
                  <a:srgbClr val="14B8A6"/>
                </a:solidFill>
              </a:rPr>
              <a:t>ChangeTimeline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C4FE4B4-31EE-4C18-8C33-51B11BA389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2152650"/>
            <a:ext cx="2609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101828"/>
                </a:solidFill>
              </a:defRPr>
            </a:pPr>
            <a:r>
              <a:rPr sz="1050" b="0">
                <a:solidFill>
                  <a:srgbClr val="101828"/>
                </a:solidFill>
              </a:rPr>
              <a:t>时序对齐与去重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F6A0406-01C0-40D9-A809-5D2C5B4B5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1695450"/>
            <a:ext cx="295275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7C3AED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87177B3-B41C-4D27-BD9E-BCA287D2A8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1847850"/>
            <a:ext cx="2609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7C3AED"/>
                </a:solidFill>
              </a:defRPr>
            </a:pPr>
            <a:r>
              <a:rPr sz="1425" b="1">
                <a:solidFill>
                  <a:srgbClr val="7C3AED"/>
                </a:solidFill>
              </a:rPr>
              <a:t>CounterfactualReplay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353EA37-BD3E-4C80-9D68-9F694CC225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152650"/>
            <a:ext cx="2609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101828"/>
                </a:solidFill>
              </a:defRPr>
            </a:pPr>
            <a:r>
              <a:rPr sz="1050" b="0">
                <a:solidFill>
                  <a:srgbClr val="101828"/>
                </a:solidFill>
              </a:rPr>
              <a:t>干预效果回放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2E9BD8C-F6C5-4DCA-A047-B20D08FD4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800350"/>
            <a:ext cx="295275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E60F967-0D72-4BFF-8848-C918858B4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952750"/>
            <a:ext cx="2609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2563EB"/>
                </a:solidFill>
              </a:defRPr>
            </a:pPr>
            <a:r>
              <a:rPr sz="1425" b="1">
                <a:solidFill>
                  <a:srgbClr val="2563EB"/>
                </a:solidFill>
              </a:rPr>
              <a:t>Identifiability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D066D0B-2112-4FFB-B03E-8C85F3AB98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257550"/>
            <a:ext cx="2609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101828"/>
                </a:solidFill>
              </a:defRPr>
            </a:pPr>
            <a:r>
              <a:rPr sz="1050" b="0">
                <a:solidFill>
                  <a:srgbClr val="101828"/>
                </a:solidFill>
              </a:rPr>
              <a:t>同干预冲突仲裁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D5F85A7-7494-46BD-B803-593CC9F6F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800350"/>
            <a:ext cx="295275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E2D7645-498F-4FDF-ABC0-8DDC646D9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2952750"/>
            <a:ext cx="2609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14B8A6"/>
                </a:solidFill>
              </a:defRPr>
            </a:pPr>
            <a:r>
              <a:rPr sz="1425" b="1">
                <a:solidFill>
                  <a:srgbClr val="14B8A6"/>
                </a:solidFill>
              </a:rPr>
              <a:t>FaultGenome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5C578A8-6A73-42A8-9E15-8549A5F6A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3257550"/>
            <a:ext cx="2609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101828"/>
                </a:solidFill>
              </a:defRPr>
            </a:pPr>
            <a:r>
              <a:rPr sz="1050" b="0">
                <a:solidFill>
                  <a:srgbClr val="101828"/>
                </a:solidFill>
              </a:rPr>
              <a:t>故障变体生成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DCBC87B-7177-4D8F-BAF3-5D717ABE31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800350"/>
            <a:ext cx="295275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7C3AED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3C4F3C5-02A9-4EB0-BC90-2F4BF368B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952750"/>
            <a:ext cx="2609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7C3AED"/>
                </a:solidFill>
              </a:defRPr>
            </a:pPr>
            <a:r>
              <a:rPr sz="1425" b="1">
                <a:solidFill>
                  <a:srgbClr val="7C3AED"/>
                </a:solidFill>
              </a:rPr>
              <a:t>PatchTournament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FB933A0-4008-4C24-8D6A-EE702E3F7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257550"/>
            <a:ext cx="2609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101828"/>
                </a:solidFill>
              </a:defRPr>
            </a:pPr>
            <a:r>
              <a:rPr sz="1050" b="0">
                <a:solidFill>
                  <a:srgbClr val="101828"/>
                </a:solidFill>
              </a:rPr>
              <a:t>补丁竞赛评分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BA64011-8D78-4D61-A553-9E2F2F803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905250"/>
            <a:ext cx="295275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6A6C7D0-762B-4788-8E4D-AD8F169B14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057650"/>
            <a:ext cx="2609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2563EB"/>
                </a:solidFill>
              </a:defRPr>
            </a:pPr>
            <a:r>
              <a:rPr sz="1425" b="1">
                <a:solidFill>
                  <a:srgbClr val="2563EB"/>
                </a:solidFill>
              </a:rPr>
              <a:t>RiskGate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406634D-2057-4F50-AAC2-5C337AFBE8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362450"/>
            <a:ext cx="2609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101828"/>
                </a:solidFill>
              </a:defRPr>
            </a:pPr>
            <a:r>
              <a:rPr sz="1050" b="0">
                <a:solidFill>
                  <a:srgbClr val="101828"/>
                </a:solidFill>
              </a:rPr>
              <a:t>三态门禁审批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606B367-9967-4E63-AFD8-9D2190060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905250"/>
            <a:ext cx="295275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F24A285-AB67-415F-8D8F-F42D372A8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4057650"/>
            <a:ext cx="2609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14B8A6"/>
                </a:solidFill>
              </a:defRPr>
            </a:pPr>
            <a:r>
              <a:rPr sz="1425" b="1">
                <a:solidFill>
                  <a:srgbClr val="14B8A6"/>
                </a:solidFill>
              </a:rPr>
              <a:t>EvidencePassport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8CF96D6-1F0B-4A25-B064-BE030ED11C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4362450"/>
            <a:ext cx="2609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101828"/>
                </a:solidFill>
              </a:defRPr>
            </a:pPr>
            <a:r>
              <a:rPr sz="1050" b="0">
                <a:solidFill>
                  <a:srgbClr val="101828"/>
                </a:solidFill>
              </a:rPr>
              <a:t>证明与缺口声明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F594872-2FCA-4720-B37C-6260B2AB48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3905250"/>
            <a:ext cx="295275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7C3AED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2A2CBB3-4237-4BB7-8336-B3CBD7AA18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057650"/>
            <a:ext cx="2609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7C3AED"/>
                </a:solidFill>
              </a:defRPr>
            </a:pPr>
            <a:r>
              <a:rPr sz="1425" b="1">
                <a:solidFill>
                  <a:srgbClr val="7C3AED"/>
                </a:solidFill>
              </a:rPr>
              <a:t>Report + SkillForge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4D68A70-AD09-4A0B-A3FD-EDA6D8A56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362450"/>
            <a:ext cx="2609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101828"/>
                </a:solidFill>
              </a:defRPr>
            </a:pPr>
            <a:r>
              <a:rPr sz="1050" b="0">
                <a:solidFill>
                  <a:srgbClr val="101828"/>
                </a:solidFill>
              </a:rPr>
              <a:t>报告与复用候选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A425F8E-A654-48A9-A0F1-EE40A78229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5257800"/>
            <a:ext cx="97917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101828"/>
                </a:solidFill>
              </a:defRPr>
            </a:pPr>
            <a:r>
              <a:rPr sz="1650" b="1">
                <a:solidFill>
                  <a:srgbClr val="101828"/>
                </a:solidFill>
              </a:rPr>
              <a:t>生命周期：候选 → 回放评测 → 人工评审 → 版本发布 → 监控 → 回滚；新 Skill 不自动上线。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3A00853-0293-49DA-829E-64DC24804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685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AsoulAI ChronosFix / A-CFX · GOAI Agent Infra 复赛方案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BE121243-7B3A-4565-9368-2B706A27E4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436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547943133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913A64E-3859-42DA-BD3B-86BB07CE8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97316"/>
                </a:solidFill>
              </a:defRPr>
            </a:pPr>
            <a:r>
              <a:rPr sz="1125" b="1">
                <a:solidFill>
                  <a:srgbClr val="F97316"/>
                </a:solidFill>
              </a:rPr>
              <a:t>官方云 Skill 接入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EAA9548-23AA-4708-8679-B1D3AC109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28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01828"/>
                </a:solidFill>
              </a:defRPr>
            </a:pPr>
            <a:r>
              <a:rPr sz="2850" b="1">
                <a:solidFill>
                  <a:srgbClr val="101828"/>
                </a:solidFill>
              </a:rPr>
              <a:t>官方 SLS Skill 已进入 Worker 工具契约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456553F-9E6A-448A-A83C-BACDB9834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33500"/>
            <a:ext cx="990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64748B"/>
                </a:solidFill>
              </a:defRPr>
            </a:pPr>
            <a:r>
              <a:rPr sz="1350" b="0">
                <a:solidFill>
                  <a:srgbClr val="64748B"/>
                </a:solidFill>
              </a:rPr>
              <a:t>默认 dry-run；真实查询需要参赛者在本地配置只读 RAM Profile。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B52DB25-A175-4B54-B33A-C45F3287E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790700"/>
            <a:ext cx="2381250" cy="1333500"/>
          </a:xfrm>
          <a:prstGeom xmlns:a="http://schemas.openxmlformats.org/drawingml/2006/main" prst="roundRect">
            <a:avLst>
              <a:gd name="adj" fmla="val 8571"/>
            </a:avLst>
          </a:prstGeom>
          <a:solidFill xmlns:a="http://schemas.openxmlformats.org/drawingml/2006/main">
            <a:srgbClr val="EFF6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3E1EB2F-1B90-43E3-932A-035BEA11D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962150"/>
            <a:ext cx="2038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2563EB"/>
                </a:solidFill>
              </a:defRPr>
            </a:pPr>
            <a:r>
              <a:rPr sz="1575" b="1">
                <a:solidFill>
                  <a:srgbClr val="2563EB"/>
                </a:solidFill>
              </a:rPr>
              <a:t>官方来源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EC0FB0E-B551-4579-B7F6-692523753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343150"/>
            <a:ext cx="19621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skills.aliyun.com</a:t>
            </a:r>
          </a:p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alibabacloud-sls-query</a:t>
            </a:r>
          </a:p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上游 commit 已锁定。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805190C-27F3-439B-A7EE-B5E48D317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1790700"/>
            <a:ext cx="2381250" cy="1333500"/>
          </a:xfrm>
          <a:prstGeom xmlns:a="http://schemas.openxmlformats.org/drawingml/2006/main" prst="roundRect">
            <a:avLst>
              <a:gd name="adj" fmla="val 8571"/>
            </a:avLst>
          </a:prstGeom>
          <a:solidFill xmlns:a="http://schemas.openxmlformats.org/drawingml/2006/main">
            <a:srgbClr val="ECFEFF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FC19F9C-61A2-4081-B533-1743F5555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1962150"/>
            <a:ext cx="2038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14B8A6"/>
                </a:solidFill>
              </a:defRPr>
            </a:pPr>
            <a:r>
              <a:rPr sz="1575" b="1">
                <a:solidFill>
                  <a:srgbClr val="14B8A6"/>
                </a:solidFill>
              </a:rPr>
              <a:t>鉴权边界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E922F0A-8D71-470E-96FF-F4BB7305A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2343150"/>
            <a:ext cx="19621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RAM Profile / 环境凭证
密钥不落盘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6E9EEB9-3540-4BE7-86AE-C548ABD04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1790700"/>
            <a:ext cx="2381250" cy="1333500"/>
          </a:xfrm>
          <a:prstGeom xmlns:a="http://schemas.openxmlformats.org/drawingml/2006/main" prst="roundRect">
            <a:avLst>
              <a:gd name="adj" fmla="val 8571"/>
            </a:avLst>
          </a:prstGeom>
          <a:solidFill xmlns:a="http://schemas.openxmlformats.org/drawingml/2006/main">
            <a:srgbClr val="F5F3FF"/>
          </a:solidFill>
          <a:ln xmlns:a="http://schemas.openxmlformats.org/drawingml/2006/main" w="9525">
            <a:solidFill>
              <a:srgbClr val="7C3AED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3974A66-2262-4C25-86C2-C7D76817A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1962150"/>
            <a:ext cx="2038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7C3AED"/>
                </a:solidFill>
              </a:defRPr>
            </a:pPr>
            <a:r>
              <a:rPr sz="1575" b="1">
                <a:solidFill>
                  <a:srgbClr val="7C3AED"/>
                </a:solidFill>
              </a:rPr>
              <a:t>Worker 编排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212342A-44BA-4040-9822-F57B7B4EA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343150"/>
            <a:ext cx="19621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18 个 Trace Span 覆盖 Agent/Skill 调用、实验结果、风险门禁和报告生成。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BE0EB7F-C661-486A-BA85-421787734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1790700"/>
            <a:ext cx="2381250" cy="1333500"/>
          </a:xfrm>
          <a:prstGeom xmlns:a="http://schemas.openxmlformats.org/drawingml/2006/main" prst="roundRect">
            <a:avLst>
              <a:gd name="adj" fmla="val 8571"/>
            </a:avLst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F97316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46E8B7E-82F4-4AFA-86BF-581F79748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1962150"/>
            <a:ext cx="2038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F97316"/>
                </a:solidFill>
              </a:defRPr>
            </a:pPr>
            <a:r>
              <a:rPr sz="1575" b="1">
                <a:solidFill>
                  <a:srgbClr val="F97316"/>
                </a:solidFill>
              </a:rPr>
              <a:t>失败处理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A9255F1-333B-4E77-BFD9-56855BA44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2343150"/>
            <a:ext cx="19621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先做 Schema 校验
CLI / 权限错误入审计
返回 evidence missing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F4C0A35-0238-48DB-825E-24B8586D3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0576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4B8A6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98FAE8B-6825-4CF1-85B1-01D26F04F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962400"/>
            <a:ext cx="9124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101828"/>
                </a:solidFill>
              </a:defRPr>
            </a:pPr>
            <a:r>
              <a:rPr sz="1575" b="0">
                <a:solidFill>
                  <a:srgbClr val="101828"/>
                </a:solidFill>
              </a:rPr>
              <a:t>最小 RAM 权限：log:GetIndex、log:GetLogStoreLogs；User-Agent 标注 Skill 来源。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06398F4-9428-4BF9-A56B-A7DBCA0A1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4767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4B8A6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15BDAFA-661B-42EB-B4BF-C99658046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381500"/>
            <a:ext cx="9124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101828"/>
                </a:solidFill>
              </a:defRPr>
            </a:pPr>
            <a:r>
              <a:rPr sz="1575" b="0">
                <a:solidFill>
                  <a:srgbClr val="101828"/>
                </a:solidFill>
              </a:rPr>
              <a:t>已完成 adapter 契约测试与 dry-run 证据；没有声称成功访问真实 SLS。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E0BAF8D-9BE4-4CC8-9B68-EC9110AA2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8958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4B8A6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BB47387-283F-421F-89D1-983E26A69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800600"/>
            <a:ext cx="9124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101828"/>
                </a:solidFill>
              </a:defRPr>
            </a:pPr>
            <a:r>
              <a:rPr sz="1575" b="0">
                <a:solidFill>
                  <a:srgbClr val="101828"/>
                </a:solidFill>
              </a:rPr>
              <a:t>真实端到端验证需要 Project、Logstore 和只读 RAM Profile，且不会要求在聊天中粘贴密钥。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2B7E1EA-ABAE-485F-A9D1-B47FCA430E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685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AsoulAI ChronosFix / A-CFX · GOAI Agent Infra 复赛方案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218E55C-C7CD-418A-813C-90AA0B0E2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436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1612345063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93498559-CDA6-4343-AF39-3C4291219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97316"/>
                </a:solidFill>
              </a:defRPr>
            </a:pPr>
            <a:r>
              <a:rPr sz="1125" b="1">
                <a:solidFill>
                  <a:srgbClr val="F97316"/>
                </a:solidFill>
              </a:rPr>
              <a:t>技术架构与迁移边界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3B36364-832D-4913-B2A2-49229CBF2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28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01828"/>
                </a:solidFill>
              </a:defRPr>
            </a:pPr>
            <a:r>
              <a:rPr sz="2850" b="1">
                <a:solidFill>
                  <a:srgbClr val="101828"/>
                </a:solidFill>
              </a:rPr>
              <a:t>不堆产品：先有证据闭环，再平滑迁移云上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ED5A2CC-01D7-4B89-B41A-28F206E4D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33500"/>
            <a:ext cx="990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64748B"/>
                </a:solidFill>
              </a:defRPr>
            </a:pPr>
            <a:r>
              <a:rPr sz="1350" b="0">
                <a:solidFill>
                  <a:srgbClr val="64748B"/>
                </a:solidFill>
              </a:rPr>
              <a:t>每个推荐组件都说明必要性、权限边界、可替换性与迁移成本。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18866D5-DC47-4B51-AE2E-DB241FC3D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790700"/>
            <a:ext cx="2857500" cy="1219200"/>
          </a:xfrm>
          <a:prstGeom xmlns:a="http://schemas.openxmlformats.org/drawingml/2006/main" prst="roundRect">
            <a:avLst>
              <a:gd name="adj" fmla="val 9375"/>
            </a:avLst>
          </a:prstGeom>
          <a:solidFill xmlns:a="http://schemas.openxmlformats.org/drawingml/2006/main">
            <a:srgbClr val="EFF6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B904296-68D0-481B-9985-4B277404B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962150"/>
            <a:ext cx="2514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2563EB"/>
                </a:solidFill>
              </a:defRPr>
            </a:pPr>
            <a:r>
              <a:rPr sz="1575" b="1">
                <a:solidFill>
                  <a:srgbClr val="2563EB"/>
                </a:solidFill>
              </a:rPr>
              <a:t>当前已实现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EF2EB36-59F2-458F-8773-CFB843282C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343150"/>
            <a:ext cx="24384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v1beta1 资源、本地内核、SLS 只读适配器、JSON 证据与 GitHub 草案。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503A94C-4FFD-424C-88DE-67849D10C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1790700"/>
            <a:ext cx="2857500" cy="1219200"/>
          </a:xfrm>
          <a:prstGeom xmlns:a="http://schemas.openxmlformats.org/drawingml/2006/main" prst="roundRect">
            <a:avLst>
              <a:gd name="adj" fmla="val 9375"/>
            </a:avLst>
          </a:prstGeom>
          <a:solidFill xmlns:a="http://schemas.openxmlformats.org/drawingml/2006/main">
            <a:srgbClr val="ECFEFF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A0930CE-1745-473B-87D5-B2E307786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1962150"/>
            <a:ext cx="2514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14B8A6"/>
                </a:solidFill>
              </a:defRPr>
            </a:pPr>
            <a:r>
              <a:rPr sz="1575" b="1">
                <a:solidFill>
                  <a:srgbClr val="14B8A6"/>
                </a:solidFill>
              </a:rPr>
              <a:t>已验证契约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08D6E01-6FBA-4ACB-A5AC-C88983DFEA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2343150"/>
            <a:ext cx="24384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Schema、鉴权、错误、审批、回滚、审计均有文档和测试。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DB5A47F-F998-41D0-9F15-91D199DAA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1790700"/>
            <a:ext cx="2857500" cy="1219200"/>
          </a:xfrm>
          <a:prstGeom xmlns:a="http://schemas.openxmlformats.org/drawingml/2006/main" prst="roundRect">
            <a:avLst>
              <a:gd name="adj" fmla="val 9375"/>
            </a:avLst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F97316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C1EBF84-BCAC-4351-A4BA-E1B1FB5F4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1962150"/>
            <a:ext cx="2514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F97316"/>
                </a:solidFill>
              </a:defRPr>
            </a:pPr>
            <a:r>
              <a:rPr sz="1575" b="1">
                <a:solidFill>
                  <a:srgbClr val="F97316"/>
                </a:solidFill>
              </a:rPr>
              <a:t>生产化目标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ED00B52-62A8-4205-AEB6-35CCF28EE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2343150"/>
            <a:ext cx="24384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AgentTeams / Nacos / Higress
PolarDB / RocketMQ / 可观测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47880F9-E26E-4BFB-A361-420DB8564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619500"/>
            <a:ext cx="3048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B33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823B2DA-809B-40BD-AE18-54C90D371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3733800"/>
            <a:ext cx="2819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能力域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4C9B9CA-11E7-4BEB-96EE-5C21F809F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3619500"/>
            <a:ext cx="3048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B33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9DC68D1-8AF8-43DC-8A27-4C3D28DE66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3733800"/>
            <a:ext cx="2819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当前可验证实现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39487AD-C7CC-4A09-AAB2-AE12A531C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3619500"/>
            <a:ext cx="3048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B33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4231BA2-750B-43A3-925C-8BF140E8A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3733800"/>
            <a:ext cx="2819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目标组件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C5C7297-320A-47B4-B111-4E685A438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076700"/>
            <a:ext cx="3048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531BDF0-2429-42A2-938D-12925E666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191000"/>
            <a:ext cx="2819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101828"/>
                </a:solidFill>
              </a:defRPr>
            </a:pPr>
            <a:r>
              <a:rPr sz="1050" b="0">
                <a:solidFill>
                  <a:srgbClr val="101828"/>
                </a:solidFill>
              </a:rPr>
              <a:t>协同 / 治理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85952F3-FB75-418F-BC61-44F0DECE7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4076700"/>
            <a:ext cx="3048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CEED93F-87AB-4EA7-A954-F51EF2C51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4191000"/>
            <a:ext cx="2819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101828"/>
                </a:solidFill>
              </a:defRPr>
            </a:pPr>
            <a:r>
              <a:rPr sz="1050" b="0">
                <a:solidFill>
                  <a:srgbClr val="101828"/>
                </a:solidFill>
              </a:rPr>
              <a:t>v1beta1 声明 + 本地编排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C3ABE24-241B-47C5-98CE-E33D0A208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4076700"/>
            <a:ext cx="3048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A5D4954-4C88-411A-BC2F-E20E03C58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4191000"/>
            <a:ext cx="2819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101828"/>
                </a:solidFill>
              </a:defRPr>
            </a:pPr>
            <a:r>
              <a:rPr sz="1050" b="0">
                <a:solidFill>
                  <a:srgbClr val="101828"/>
                </a:solidFill>
              </a:rPr>
              <a:t>AgentTeams + Nacos + Higress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C64A04B-3C2F-4012-82C4-B38010FA4A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533900"/>
            <a:ext cx="3048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4AC68AF-A7DC-4FF4-AEAF-D97C2BDEA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648200"/>
            <a:ext cx="2819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101828"/>
                </a:solidFill>
              </a:defRPr>
            </a:pPr>
            <a:r>
              <a:rPr sz="1050" b="0">
                <a:solidFill>
                  <a:srgbClr val="101828"/>
                </a:solidFill>
              </a:rPr>
              <a:t>数据 / 事件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5D7E4D6-966D-415A-A551-EA74981B33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4533900"/>
            <a:ext cx="3048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19045FE-7DA2-412D-BEF0-9B3DA5DCF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4648200"/>
            <a:ext cx="2819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101828"/>
                </a:solidFill>
              </a:defRPr>
            </a:pPr>
            <a:r>
              <a:rPr sz="1050" b="0">
                <a:solidFill>
                  <a:srgbClr val="101828"/>
                </a:solidFill>
              </a:rPr>
              <a:t>JSON / JSONL + Run Manifest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203E951-5C2B-45AB-8D61-60D293350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4533900"/>
            <a:ext cx="3048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91D7D40-3FB4-4103-9C91-DF8294847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4648200"/>
            <a:ext cx="2819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101828"/>
                </a:solidFill>
              </a:defRPr>
            </a:pPr>
            <a:r>
              <a:rPr sz="1050" b="0">
                <a:solidFill>
                  <a:srgbClr val="101828"/>
                </a:solidFill>
              </a:rPr>
              <a:t>PolarDB + UnifiedModel + RocketMQ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B3440A6-55FA-45C7-BE3B-12FEDC9D5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991100"/>
            <a:ext cx="3048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4C86A94-0CBC-476A-A293-FA6394C96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5105400"/>
            <a:ext cx="2819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101828"/>
                </a:solidFill>
              </a:defRPr>
            </a:pPr>
            <a:r>
              <a:rPr sz="1050" b="0">
                <a:solidFill>
                  <a:srgbClr val="101828"/>
                </a:solidFill>
              </a:rPr>
              <a:t>可观测 / 评测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1EDB9C7-9866-4324-BFB5-9B623B7E7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4991100"/>
            <a:ext cx="3048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0A75813-15A8-4DB7-992B-EB9AB7C51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5105400"/>
            <a:ext cx="2819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101828"/>
                </a:solidFill>
              </a:defRPr>
            </a:pPr>
            <a:r>
              <a:rPr sz="1050" b="0">
                <a:solidFill>
                  <a:srgbClr val="101828"/>
                </a:solidFill>
              </a:rPr>
              <a:t>Trace / Log / Metrics + 12 场景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B12686D-89BB-4F73-883A-4B4ACF74E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4991100"/>
            <a:ext cx="3048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BCFC5696-096C-4E31-83A3-F70E6CA10E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5105400"/>
            <a:ext cx="2819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101828"/>
                </a:solidFill>
              </a:defRPr>
            </a:pPr>
            <a:r>
              <a:rPr sz="1050" b="0">
                <a:solidFill>
                  <a:srgbClr val="101828"/>
                </a:solidFill>
              </a:rPr>
              <a:t>LoongSuite + Studio / AgentLoop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EDE94CCF-FCBB-4029-BF4D-8408C4471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685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AsoulAI ChronosFix / A-CFX · GOAI Agent Infra 复赛方案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D8E358A3-0D1D-4450-9D9A-BE6D59767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436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2092132567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07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96A46C1-937A-4A48-97D6-73B1C855F6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B8A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75A162E-D300-4818-B041-EC02C6DE9E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57300"/>
            <a:ext cx="4000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4B8A6"/>
                </a:solidFill>
              </a:defRPr>
            </a:pPr>
            <a:r>
              <a:rPr sz="2100" b="1">
                <a:solidFill>
                  <a:srgbClr val="14B8A6"/>
                </a:solidFill>
              </a:rPr>
              <a:t>第四章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8B2F97D-C1F9-4355-85B6-C37D993DA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66900"/>
            <a:ext cx="9334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4050" b="1">
                <a:solidFill>
                  <a:srgbClr val="FFFFFF"/>
                </a:solidFill>
              </a:defRPr>
            </a:pPr>
            <a:r>
              <a:rPr sz="4050" b="1">
                <a:solidFill>
                  <a:srgbClr val="FFFFFF"/>
                </a:solidFill>
              </a:rPr>
              <a:t>工程验证、安全与可审计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21AD024-2F77-41F6-B103-D00EB101C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276600"/>
            <a:ext cx="495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AFC7E8"/>
                </a:solidFill>
              </a:defRPr>
            </a:pPr>
            <a:r>
              <a:rPr sz="1500" b="0">
                <a:solidFill>
                  <a:srgbClr val="AFC7E8"/>
                </a:solidFill>
              </a:rPr>
              <a:t>对应官方 PPT 框架与评分维度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756FDD4-00EA-44C0-A283-875D88A855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733800"/>
            <a:ext cx="6000750" cy="819150"/>
          </a:xfrm>
          <a:prstGeom xmlns:a="http://schemas.openxmlformats.org/drawingml/2006/main" prst="roundRect">
            <a:avLst>
              <a:gd name="adj" fmla="val 9302"/>
            </a:avLst>
          </a:prstGeom>
          <a:solidFill xmlns:a="http://schemas.openxmlformats.org/drawingml/2006/main">
            <a:srgbClr val="FFFFFF">
              <a:alpha val="6000"/>
            </a:srgbClr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29F6341-2712-4C0B-BAF3-5E440BF04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981450"/>
            <a:ext cx="5467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FFFFFF"/>
                </a:solidFill>
              </a:defRPr>
            </a:pPr>
            <a:r>
              <a:rPr sz="1800" b="1">
                <a:solidFill>
                  <a:srgbClr val="FFFFFF"/>
                </a:solidFill>
              </a:rPr>
              <a:t>工程落地与安全可审计 20%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974725C-D44C-4BBA-A9C3-6867931B6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94360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AFC7E8"/>
                </a:solidFill>
              </a:defRPr>
            </a:pPr>
            <a:r>
              <a:rPr sz="1050" b="0">
                <a:solidFill>
                  <a:srgbClr val="AFC7E8"/>
                </a:solidFill>
              </a:rPr>
              <a:t>AsoulAI · A-CFX · 官方模板复赛版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9005F19-33D9-4131-B6FD-62766501C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2300" y="5943600"/>
            <a:ext cx="666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AFC7E8"/>
                </a:solidFill>
              </a:defRPr>
            </a:pPr>
            <a:r>
              <a:rPr sz="1050" b="0">
                <a:solidFill>
                  <a:srgbClr val="AFC7E8"/>
                </a:solidFill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888794806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913A64E-3859-42DA-BD3B-86BB07CE8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97316"/>
                </a:solidFill>
              </a:defRPr>
            </a:pPr>
            <a:r>
              <a:rPr sz="1125" b="1">
                <a:solidFill>
                  <a:srgbClr val="F97316"/>
                </a:solidFill>
              </a:rPr>
              <a:t>运行证据链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EAA9548-23AA-4708-8679-B1D3AC109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28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01828"/>
                </a:solidFill>
              </a:defRPr>
            </a:pPr>
            <a:r>
              <a:rPr sz="2850" b="1">
                <a:solidFill>
                  <a:srgbClr val="101828"/>
                </a:solidFill>
              </a:rPr>
              <a:t>一次运行不是截图，而是一组互相绑定的证据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456553F-9E6A-448A-A83C-BACDB9834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33500"/>
            <a:ext cx="990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64748B"/>
                </a:solidFill>
              </a:defRPr>
            </a:pPr>
            <a:r>
              <a:rPr sz="1350" b="0">
                <a:solidFill>
                  <a:srgbClr val="64748B"/>
                </a:solidFill>
              </a:rPr>
              <a:t>scenario、patch、rollback、approval 与 15 个输出文件由 run-manifest 哈希绑定。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B52DB25-A175-4B54-B33A-C45F3287E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790700"/>
            <a:ext cx="2381250" cy="1333500"/>
          </a:xfrm>
          <a:prstGeom xmlns:a="http://schemas.openxmlformats.org/drawingml/2006/main" prst="roundRect">
            <a:avLst>
              <a:gd name="adj" fmla="val 8571"/>
            </a:avLst>
          </a:prstGeom>
          <a:solidFill xmlns:a="http://schemas.openxmlformats.org/drawingml/2006/main">
            <a:srgbClr val="EFF6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3E1EB2F-1B90-43E3-932A-035BEA11D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962150"/>
            <a:ext cx="2038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2563EB"/>
                </a:solidFill>
              </a:defRPr>
            </a:pPr>
            <a:r>
              <a:rPr sz="1575" b="1">
                <a:solidFill>
                  <a:srgbClr val="2563EB"/>
                </a:solidFill>
              </a:rPr>
              <a:t>Trace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EC0FB0E-B551-4579-B7F6-692523753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343150"/>
            <a:ext cx="19621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18 个 Span；起止时间、duration 与 parent span 全部实测。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805190C-27F3-439B-A7EE-B5E48D317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1790700"/>
            <a:ext cx="2381250" cy="1333500"/>
          </a:xfrm>
          <a:prstGeom xmlns:a="http://schemas.openxmlformats.org/drawingml/2006/main" prst="roundRect">
            <a:avLst>
              <a:gd name="adj" fmla="val 8571"/>
            </a:avLst>
          </a:prstGeom>
          <a:solidFill xmlns:a="http://schemas.openxmlformats.org/drawingml/2006/main">
            <a:srgbClr val="ECFEFF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FC19F9C-61A2-4081-B533-1743F5555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1962150"/>
            <a:ext cx="2038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14B8A6"/>
                </a:solidFill>
              </a:defRPr>
            </a:pPr>
            <a:r>
              <a:rPr sz="1575" b="1">
                <a:solidFill>
                  <a:srgbClr val="14B8A6"/>
                </a:solidFill>
              </a:rPr>
              <a:t>Checks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E922F0A-8D71-470E-96FF-F4BB7305A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2343150"/>
            <a:ext cx="19621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反事实、故障变体、回滚契约 3 项 required checks 全部执行并记录 exit code。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6E9EEB9-3540-4BE7-86AE-C548ABD04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1790700"/>
            <a:ext cx="2381250" cy="1333500"/>
          </a:xfrm>
          <a:prstGeom xmlns:a="http://schemas.openxmlformats.org/drawingml/2006/main" prst="roundRect">
            <a:avLst>
              <a:gd name="adj" fmla="val 8571"/>
            </a:avLst>
          </a:prstGeom>
          <a:solidFill xmlns:a="http://schemas.openxmlformats.org/drawingml/2006/main">
            <a:srgbClr val="F5F3FF"/>
          </a:solidFill>
          <a:ln xmlns:a="http://schemas.openxmlformats.org/drawingml/2006/main" w="9525">
            <a:solidFill>
              <a:srgbClr val="7C3AED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3974A66-2262-4C25-86C2-C7D76817A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1962150"/>
            <a:ext cx="2038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7C3AED"/>
                </a:solidFill>
              </a:defRPr>
            </a:pPr>
            <a:r>
              <a:rPr sz="1575" b="1">
                <a:solidFill>
                  <a:srgbClr val="7C3AED"/>
                </a:solidFill>
              </a:rPr>
              <a:t>RiskGate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212342A-44BA-4040-9822-F57B7B4EA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343150"/>
            <a:ext cx="19621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quality_gate=passed；release=approved；命名审批人、理由与策略版本可追溯。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BE0EB7F-C661-486A-BA85-421787734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1790700"/>
            <a:ext cx="2381250" cy="1333500"/>
          </a:xfrm>
          <a:prstGeom xmlns:a="http://schemas.openxmlformats.org/drawingml/2006/main" prst="roundRect">
            <a:avLst>
              <a:gd name="adj" fmla="val 8571"/>
            </a:avLst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F97316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46E8B7E-82F4-4AFA-86BF-581F79748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1962150"/>
            <a:ext cx="2038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F97316"/>
                </a:solidFill>
              </a:defRPr>
            </a:pPr>
            <a:r>
              <a:rPr sz="1575" b="1">
                <a:solidFill>
                  <a:srgbClr val="F97316"/>
                </a:solidFill>
              </a:rPr>
              <a:t>Run Manifest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A9255F1-333B-4E77-BFD9-56855BA44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2343150"/>
            <a:ext cx="19621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场景、变更、回滚、审批输入和每个证据文件均记录 SHA-256。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F4C0A35-0238-48DB-825E-24B8586D3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0576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4B8A6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98FAE8B-6825-4CF1-85B1-01D26F04F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962400"/>
            <a:ext cx="9124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101828"/>
                </a:solidFill>
              </a:defRPr>
            </a:pPr>
            <a:r>
              <a:rPr sz="1575" b="0">
                <a:solidFill>
                  <a:srgbClr val="101828"/>
                </a:solidFill>
              </a:rPr>
              <a:t>Metrics 明确区分 measured / derived；外部工具未调用时 success_rate=null。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06398F4-9428-4BF9-A56B-A7DBCA0A1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4767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4B8A6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15BDAFA-661B-42EB-B4BF-C99658046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381500"/>
            <a:ext cx="9124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101828"/>
                </a:solidFill>
              </a:defRPr>
            </a:pPr>
            <a:r>
              <a:rPr sz="1575" b="0">
                <a:solidFill>
                  <a:srgbClr val="101828"/>
                </a:solidFill>
              </a:rPr>
              <a:t>PR 草案直接读取选中 changes、rollback_changes、checks 与 gate，不再硬编码成功。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E0BAF8D-9BE4-4CC8-9B68-EC9110AA2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8958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4B8A6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BB47387-283F-421F-89D1-983E26A69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800600"/>
            <a:ext cx="9124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101828"/>
                </a:solidFill>
              </a:defRPr>
            </a:pPr>
            <a:r>
              <a:rPr sz="1575" b="0">
                <a:solidFill>
                  <a:srgbClr val="101828"/>
                </a:solidFill>
              </a:rPr>
              <a:t>当前主证据 run_id：run-1dc8539c…；trace_id：2c597183…；可在 evidence/ 复核。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2B7E1EA-ABAE-485F-A9D1-B47FCA430E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685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AsoulAI ChronosFix / A-CFX · GOAI Agent Infra 复赛方案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218E55C-C7CD-418A-813C-90AA0B0E2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436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1612345063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DCE12DC-7CE4-4F16-8279-0C1DF7791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97316"/>
                </a:solidFill>
              </a:defRPr>
            </a:pPr>
            <a:r>
              <a:rPr sz="1125" b="1">
                <a:solidFill>
                  <a:srgbClr val="F97316"/>
                </a:solidFill>
              </a:rPr>
              <a:t>Golden / Badcase 评测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40BF0D2-88E8-44C3-AB54-517A7489F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28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01828"/>
                </a:solidFill>
              </a:defRPr>
            </a:pPr>
            <a:r>
              <a:rPr sz="2850" b="1">
                <a:solidFill>
                  <a:srgbClr val="101828"/>
                </a:solidFill>
              </a:rPr>
              <a:t>评测不藏失败：9/9 正确诊断，1/1 安全拒答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6083875-6D10-4507-8828-B6C34C6A6F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33500"/>
            <a:ext cx="990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64748B"/>
                </a:solidFill>
              </a:defRPr>
            </a:pPr>
            <a:r>
              <a:rPr sz="1350" b="0">
                <a:solidFill>
                  <a:srgbClr val="64748B"/>
                </a:solidFill>
              </a:rPr>
              <a:t>12 个合成场景：9 Golden、2 Badcase、1 Insufficient Evidence；不代表生产准确率。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A59D5CE-8B2C-4549-BB73-AE75FE69F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809750"/>
            <a:ext cx="3048000" cy="1181100"/>
          </a:xfrm>
          <a:prstGeom xmlns:a="http://schemas.openxmlformats.org/drawingml/2006/main" prst="roundRect">
            <a:avLst>
              <a:gd name="adj" fmla="val 9677"/>
            </a:avLst>
          </a:prstGeom>
          <a:solidFill xmlns:a="http://schemas.openxmlformats.org/drawingml/2006/main">
            <a:srgbClr val="EFF6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0541C14-3BD6-4C83-8CF8-BAB5CC253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981200"/>
            <a:ext cx="2705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2563EB"/>
                </a:solidFill>
              </a:defRPr>
            </a:pPr>
            <a:r>
              <a:rPr sz="1575" b="1">
                <a:solidFill>
                  <a:srgbClr val="2563EB"/>
                </a:solidFill>
              </a:rPr>
              <a:t>Golden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A7D97D7-B790-4EF2-99F6-5BDA8F71B2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362200"/>
            <a:ext cx="26289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当前确定性模拟器支持范围内 9/9 命中 Ground Truth。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231D676-E571-4307-A4CE-0358D8A06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1809750"/>
            <a:ext cx="3048000" cy="1181100"/>
          </a:xfrm>
          <a:prstGeom xmlns:a="http://schemas.openxmlformats.org/drawingml/2006/main" prst="roundRect">
            <a:avLst>
              <a:gd name="adj" fmla="val 9677"/>
            </a:avLst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F97316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AA32CB4-415A-4CBC-9BFF-B354DAF18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1981200"/>
            <a:ext cx="2705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F97316"/>
                </a:solidFill>
              </a:defRPr>
            </a:pPr>
            <a:r>
              <a:rPr sz="1575" b="1">
                <a:solidFill>
                  <a:srgbClr val="F97316"/>
                </a:solidFill>
              </a:rPr>
              <a:t>冲突拒答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BB08822-CE42-4064-BC1A-C814340E1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2362200"/>
            <a:ext cx="26289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相同干预对应多个来源假设时 1/1 安全 abstain。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41318D2-02A2-4598-BCB1-0113EFE3F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1809750"/>
            <a:ext cx="3048000" cy="1181100"/>
          </a:xfrm>
          <a:prstGeom xmlns:a="http://schemas.openxmlformats.org/drawingml/2006/main" prst="roundRect">
            <a:avLst>
              <a:gd name="adj" fmla="val 9677"/>
            </a:avLst>
          </a:prstGeom>
          <a:solidFill xmlns:a="http://schemas.openxmlformats.org/drawingml/2006/main">
            <a:srgbClr val="F0FDF4"/>
          </a:solidFill>
          <a:ln xmlns:a="http://schemas.openxmlformats.org/drawingml/2006/main" w="9525">
            <a:solidFill>
              <a:srgbClr val="16A34A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088A521-5237-4EA1-B0BE-F876699734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1981200"/>
            <a:ext cx="2705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16A34A"/>
                </a:solidFill>
              </a:defRPr>
            </a:pPr>
            <a:r>
              <a:rPr sz="1575" b="1">
                <a:solidFill>
                  <a:srgbClr val="16A34A"/>
                </a:solidFill>
              </a:rPr>
              <a:t>已知漏诊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7005B61-48F8-48B2-A937-5861F8E9F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2362200"/>
            <a:ext cx="26289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代码版本与队列积压尚未建模，2 项 Badcase 不计入成功。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73754A6-F0BE-4FB8-8B88-667E15585C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886200"/>
            <a:ext cx="1676400" cy="1028700"/>
          </a:xfrm>
          <a:prstGeom xmlns:a="http://schemas.openxmlformats.org/drawingml/2006/main" prst="roundRect">
            <a:avLst>
              <a:gd name="adj" fmla="val 740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F780CBB-3DA8-42D7-AF77-18528CACB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095750"/>
            <a:ext cx="1485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325" b="1">
                <a:solidFill>
                  <a:srgbClr val="DC2626"/>
                </a:solidFill>
              </a:defRPr>
            </a:pPr>
            <a:r>
              <a:rPr sz="2325" b="1">
                <a:solidFill>
                  <a:srgbClr val="DC2626"/>
                </a:solidFill>
              </a:rPr>
              <a:t>12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5B489EE-4CD6-48DA-9F85-780D537EB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514850"/>
            <a:ext cx="1485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64748B"/>
                </a:solidFill>
              </a:defRPr>
            </a:pPr>
            <a:r>
              <a:rPr sz="1050" b="1">
                <a:solidFill>
                  <a:srgbClr val="64748B"/>
                </a:solidFill>
              </a:rPr>
              <a:t>总样例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B5E54C7-13C9-4F3F-B500-F006FFD9E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3886200"/>
            <a:ext cx="1676400" cy="1028700"/>
          </a:xfrm>
          <a:prstGeom xmlns:a="http://schemas.openxmlformats.org/drawingml/2006/main" prst="roundRect">
            <a:avLst>
              <a:gd name="adj" fmla="val 740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407B409-459F-4116-95BB-9A6A79D93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4095750"/>
            <a:ext cx="1485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325" b="1">
                <a:solidFill>
                  <a:srgbClr val="F97316"/>
                </a:solidFill>
              </a:defRPr>
            </a:pPr>
            <a:r>
              <a:rPr sz="2325" b="1">
                <a:solidFill>
                  <a:srgbClr val="F97316"/>
                </a:solidFill>
              </a:rPr>
              <a:t>10/12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3B2DE7F-55B6-47A3-A50C-07A3C7409A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4514850"/>
            <a:ext cx="1485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64748B"/>
                </a:solidFill>
              </a:defRPr>
            </a:pPr>
            <a:r>
              <a:rPr sz="1050" b="1">
                <a:solidFill>
                  <a:srgbClr val="64748B"/>
                </a:solidFill>
              </a:rPr>
              <a:t>达成预期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16D07BA-2269-4B68-8D58-D1A499D2E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3886200"/>
            <a:ext cx="1676400" cy="1028700"/>
          </a:xfrm>
          <a:prstGeom xmlns:a="http://schemas.openxmlformats.org/drawingml/2006/main" prst="roundRect">
            <a:avLst>
              <a:gd name="adj" fmla="val 740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9C863C6-A328-4434-BB4A-4194C6F0B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4095750"/>
            <a:ext cx="1485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325" b="1">
                <a:solidFill>
                  <a:srgbClr val="7C3AED"/>
                </a:solidFill>
              </a:defRPr>
            </a:pPr>
            <a:r>
              <a:rPr sz="2325" b="1">
                <a:solidFill>
                  <a:srgbClr val="7C3AED"/>
                </a:solidFill>
              </a:rPr>
              <a:t>100%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D34E27C-037E-4774-9A08-9532771A1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4514850"/>
            <a:ext cx="1485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64748B"/>
                </a:solidFill>
              </a:defRPr>
            </a:pPr>
            <a:r>
              <a:rPr sz="1050" b="1">
                <a:solidFill>
                  <a:srgbClr val="64748B"/>
                </a:solidFill>
              </a:rPr>
              <a:t>受支持诊断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FE48C6A-2AFF-49F0-8953-08904B6B44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3886200"/>
            <a:ext cx="1676400" cy="1028700"/>
          </a:xfrm>
          <a:prstGeom xmlns:a="http://schemas.openxmlformats.org/drawingml/2006/main" prst="roundRect">
            <a:avLst>
              <a:gd name="adj" fmla="val 740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E9F99CF-16B9-41EC-B801-0C47B4031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4095750"/>
            <a:ext cx="1485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325" b="1">
                <a:solidFill>
                  <a:srgbClr val="2563EB"/>
                </a:solidFill>
              </a:defRPr>
            </a:pPr>
            <a:r>
              <a:rPr sz="2325" b="1">
                <a:solidFill>
                  <a:srgbClr val="2563EB"/>
                </a:solidFill>
              </a:rPr>
              <a:t>100%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9149FD6-0982-490E-96D0-FC90BD6A5D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4514850"/>
            <a:ext cx="1485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64748B"/>
                </a:solidFill>
              </a:defRPr>
            </a:pPr>
            <a:r>
              <a:rPr sz="1050" b="1">
                <a:solidFill>
                  <a:srgbClr val="64748B"/>
                </a:solidFill>
              </a:rPr>
              <a:t>冲突拒答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04275F8-5336-4677-85C4-DC09B6BF8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3886200"/>
            <a:ext cx="1676400" cy="1028700"/>
          </a:xfrm>
          <a:prstGeom xmlns:a="http://schemas.openxmlformats.org/drawingml/2006/main" prst="roundRect">
            <a:avLst>
              <a:gd name="adj" fmla="val 740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1C9B0A4-91C7-49DE-9C70-F4A447A75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4095750"/>
            <a:ext cx="1485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325" b="1">
                <a:solidFill>
                  <a:srgbClr val="16A34A"/>
                </a:solidFill>
              </a:defRPr>
            </a:pPr>
            <a:r>
              <a:rPr sz="2325" b="1">
                <a:solidFill>
                  <a:srgbClr val="16A34A"/>
                </a:solidFill>
              </a:rPr>
              <a:t>0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64510B7-7E41-4D97-B1BA-9A4E26791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4514850"/>
            <a:ext cx="1485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64748B"/>
                </a:solidFill>
              </a:defRPr>
            </a:pPr>
            <a:r>
              <a:rPr sz="1050" b="1">
                <a:solidFill>
                  <a:srgbClr val="64748B"/>
                </a:solidFill>
              </a:rPr>
              <a:t>意外强行归因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EE4EB48-5CAB-4AD3-BCB1-7D656D53F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5391150"/>
            <a:ext cx="97917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101828"/>
                </a:solidFill>
              </a:defRPr>
            </a:pPr>
            <a:r>
              <a:rPr sz="1650" b="1">
                <a:solidFill>
                  <a:srgbClr val="101828"/>
                </a:solidFill>
              </a:rPr>
              <a:t>口径：9/9 与 1/1 是合成确定性回放结果；两项 unsupported 漏诊透明保留。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7FD70A8-99D0-4813-A4DB-BFAF60745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685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AsoulAI ChronosFix / A-CFX · GOAI Agent Infra 复赛方案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F1387C7-3AA4-42E0-88DF-C63EF902B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436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342216302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93498559-CDA6-4343-AF39-3C4291219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97316"/>
                </a:solidFill>
              </a:defRPr>
            </a:pPr>
            <a:r>
              <a:rPr sz="1125" b="1">
                <a:solidFill>
                  <a:srgbClr val="F97316"/>
                </a:solidFill>
              </a:rPr>
              <a:t>失败案例与能力边界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3B36364-832D-4913-B2A2-49229CBF2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28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01828"/>
                </a:solidFill>
              </a:defRPr>
            </a:pPr>
            <a:r>
              <a:rPr sz="2850" b="1">
                <a:solidFill>
                  <a:srgbClr val="101828"/>
                </a:solidFill>
              </a:rPr>
              <a:t>Badcase 公开保留，边界才能变成路线图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ED5A2CC-01D7-4B89-B41A-28F206E4D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33500"/>
            <a:ext cx="990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64748B"/>
                </a:solidFill>
              </a:defRPr>
            </a:pPr>
            <a:r>
              <a:rPr sz="1350" b="0">
                <a:solidFill>
                  <a:srgbClr val="64748B"/>
                </a:solidFill>
              </a:rPr>
              <a:t>不受支持的根因不强行归因；可辨识性不足时明确 abstain。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18866D5-DC47-4B51-AE2E-DB241FC3D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790700"/>
            <a:ext cx="2857500" cy="1219200"/>
          </a:xfrm>
          <a:prstGeom xmlns:a="http://schemas.openxmlformats.org/drawingml/2006/main" prst="roundRect">
            <a:avLst>
              <a:gd name="adj" fmla="val 9375"/>
            </a:avLst>
          </a:prstGeom>
          <a:solidFill xmlns:a="http://schemas.openxmlformats.org/drawingml/2006/main">
            <a:srgbClr val="EFF6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B904296-68D0-481B-9985-4B277404B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962150"/>
            <a:ext cx="2514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2563EB"/>
                </a:solidFill>
              </a:defRPr>
            </a:pPr>
            <a:r>
              <a:rPr sz="1575" b="1">
                <a:solidFill>
                  <a:srgbClr val="2563EB"/>
                </a:solidFill>
              </a:rPr>
              <a:t>代码回归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EF2EB36-59F2-458F-8773-CFB843282C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343150"/>
            <a:ext cx="24384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code_version 只作哨兵，尚未进入行为模型；当前漏诊并阻断发布。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503A94C-4FFD-424C-88DE-67849D10C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1790700"/>
            <a:ext cx="2857500" cy="1219200"/>
          </a:xfrm>
          <a:prstGeom xmlns:a="http://schemas.openxmlformats.org/drawingml/2006/main" prst="roundRect">
            <a:avLst>
              <a:gd name="adj" fmla="val 9375"/>
            </a:avLst>
          </a:prstGeom>
          <a:solidFill xmlns:a="http://schemas.openxmlformats.org/drawingml/2006/main">
            <a:srgbClr val="ECFEFF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A0930CE-1745-473B-87D5-B2E307786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1962150"/>
            <a:ext cx="2514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14B8A6"/>
                </a:solidFill>
              </a:defRPr>
            </a:pPr>
            <a:r>
              <a:rPr sz="1575" b="1">
                <a:solidFill>
                  <a:srgbClr val="14B8A6"/>
                </a:solidFill>
              </a:rPr>
              <a:t>队列积压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08D6E01-6FBA-4ACB-A5AC-C88983DFEA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2343150"/>
            <a:ext cx="24384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队列深度与消费速率尚未建模；不冒充 RocketMQ 根因回放。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DB5A47F-F998-41D0-9F15-91D199DAA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1790700"/>
            <a:ext cx="2857500" cy="1219200"/>
          </a:xfrm>
          <a:prstGeom xmlns:a="http://schemas.openxmlformats.org/drawingml/2006/main" prst="roundRect">
            <a:avLst>
              <a:gd name="adj" fmla="val 9375"/>
            </a:avLst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F97316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C1EBF84-BCAC-4351-A4BA-E1B1FB5F4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1962150"/>
            <a:ext cx="2514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F97316"/>
                </a:solidFill>
              </a:defRPr>
            </a:pPr>
            <a:r>
              <a:rPr sz="1575" b="1">
                <a:solidFill>
                  <a:srgbClr val="F97316"/>
                </a:solidFill>
              </a:rPr>
              <a:t>来源冲突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ED00B52-62A8-4205-AEB6-35CCF28EE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2343150"/>
            <a:ext cx="24384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两个来源假设映射到同一干预时标记 indeterminate，等待来源级证据。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47880F9-E26E-4BFB-A361-420DB8564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619500"/>
            <a:ext cx="3048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B33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823B2DA-809B-40BD-AE18-54C90D371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3733800"/>
            <a:ext cx="2819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样例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4C9B9CA-11E7-4BEB-96EE-5C21F809F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3619500"/>
            <a:ext cx="3048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B33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9DC68D1-8AF8-43DC-8A27-4C3D28DE66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3733800"/>
            <a:ext cx="2819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系统行为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39487AD-C7CC-4A09-AAB2-AE12A531C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3619500"/>
            <a:ext cx="3048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B33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4231BA2-750B-43A3-925C-8BF140E8A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3733800"/>
            <a:ext cx="2819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发布结果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C5C7297-320A-47B4-B111-4E685A438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076700"/>
            <a:ext cx="3048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531BDF0-2429-42A2-938D-12925E666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191000"/>
            <a:ext cx="2819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101828"/>
                </a:solidFill>
              </a:defRPr>
            </a:pPr>
            <a:r>
              <a:rPr sz="1050" b="0">
                <a:solidFill>
                  <a:srgbClr val="101828"/>
                </a:solidFill>
              </a:rPr>
              <a:t>code-regression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85952F3-FB75-418F-BC61-44F0DECE7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4076700"/>
            <a:ext cx="3048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CEED93F-87AB-4EA7-A954-F51EF2C51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4191000"/>
            <a:ext cx="2819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101828"/>
                </a:solidFill>
              </a:defRPr>
            </a:pPr>
            <a:r>
              <a:rPr sz="1050" b="0">
                <a:solidFill>
                  <a:srgbClr val="101828"/>
                </a:solidFill>
              </a:rPr>
              <a:t>abstain / 已知漏诊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C3ABE24-241B-47C5-98CE-E33D0A208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4076700"/>
            <a:ext cx="3048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A5D4954-4C88-411A-BC2F-E20E03C58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4191000"/>
            <a:ext cx="2819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101828"/>
                </a:solidFill>
              </a:defRPr>
            </a:pPr>
            <a:r>
              <a:rPr sz="1050" b="0">
                <a:solidFill>
                  <a:srgbClr val="101828"/>
                </a:solidFill>
              </a:rPr>
              <a:t>blocked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C64A04B-3C2F-4012-82C4-B38010FA4A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533900"/>
            <a:ext cx="3048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4AC68AF-A7DC-4FF4-AEAF-D97C2BDEA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648200"/>
            <a:ext cx="2819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101828"/>
                </a:solidFill>
              </a:defRPr>
            </a:pPr>
            <a:r>
              <a:rPr sz="1050" b="0">
                <a:solidFill>
                  <a:srgbClr val="101828"/>
                </a:solidFill>
              </a:rPr>
              <a:t>queue-backlog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5D7E4D6-966D-415A-A551-EA74981B33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4533900"/>
            <a:ext cx="3048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19045FE-7DA2-412D-BEF0-9B3DA5DCF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4648200"/>
            <a:ext cx="2819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101828"/>
                </a:solidFill>
              </a:defRPr>
            </a:pPr>
            <a:r>
              <a:rPr sz="1050" b="0">
                <a:solidFill>
                  <a:srgbClr val="101828"/>
                </a:solidFill>
              </a:rPr>
              <a:t>abstain / 已知漏诊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203E951-5C2B-45AB-8D61-60D293350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4533900"/>
            <a:ext cx="3048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91D7D40-3FB4-4103-9C91-DF8294847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4648200"/>
            <a:ext cx="2819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101828"/>
                </a:solidFill>
              </a:defRPr>
            </a:pPr>
            <a:r>
              <a:rPr sz="1050" b="0">
                <a:solidFill>
                  <a:srgbClr val="101828"/>
                </a:solidFill>
              </a:rPr>
              <a:t>blocked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B3440A6-55FA-45C7-BE3B-12FEDC9D5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991100"/>
            <a:ext cx="3048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4C86A94-0CBC-476A-A293-FA6394C96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5105400"/>
            <a:ext cx="2819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101828"/>
                </a:solidFill>
              </a:defRPr>
            </a:pPr>
            <a:r>
              <a:rPr sz="1050" b="0">
                <a:solidFill>
                  <a:srgbClr val="101828"/>
                </a:solidFill>
              </a:rPr>
              <a:t>conflicting-sources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1EDB9C7-9866-4324-BFB5-9B623B7E7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4991100"/>
            <a:ext cx="3048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0A75813-15A8-4DB7-992B-EB9AB7C51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5105400"/>
            <a:ext cx="2819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101828"/>
                </a:solidFill>
              </a:defRPr>
            </a:pPr>
            <a:r>
              <a:rPr sz="1050" b="0">
                <a:solidFill>
                  <a:srgbClr val="101828"/>
                </a:solidFill>
              </a:rPr>
              <a:t>indeterminate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B12686D-89BB-4F73-883A-4B4ACF74E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4991100"/>
            <a:ext cx="3048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BCFC5696-096C-4E31-83A3-F70E6CA10E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5105400"/>
            <a:ext cx="2819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101828"/>
                </a:solidFill>
              </a:defRPr>
            </a:pPr>
            <a:r>
              <a:rPr sz="1050" b="0">
                <a:solidFill>
                  <a:srgbClr val="101828"/>
                </a:solidFill>
              </a:rPr>
              <a:t>待来源级证据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EDE94CCF-FCBB-4029-BF4D-8408C4471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685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AsoulAI ChronosFix / A-CFX · GOAI Agent Infra 复赛方案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D8E358A3-0D1D-4450-9D9A-BE6D59767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436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2092132567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913A64E-3859-42DA-BD3B-86BB07CE8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97316"/>
                </a:solidFill>
              </a:defRPr>
            </a:pPr>
            <a:r>
              <a:rPr sz="1125" b="1">
                <a:solidFill>
                  <a:srgbClr val="F97316"/>
                </a:solidFill>
              </a:rPr>
              <a:t>部署与复现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EAA9548-23AA-4708-8679-B1D3AC109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28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01828"/>
                </a:solidFill>
              </a:defRPr>
            </a:pPr>
            <a:r>
              <a:rPr sz="2850" b="1">
                <a:solidFill>
                  <a:srgbClr val="101828"/>
                </a:solidFill>
              </a:rPr>
              <a:t>评委可以按 README 从零复现核心闭环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456553F-9E6A-448A-A83C-BACDB9834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33500"/>
            <a:ext cx="990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64748B"/>
                </a:solidFill>
              </a:defRPr>
            </a:pPr>
            <a:r>
              <a:rPr sz="1350" b="0">
                <a:solidFill>
                  <a:srgbClr val="64748B"/>
                </a:solidFill>
              </a:rPr>
              <a:t>依赖、配置、样例输入输出、资源声明和运行证据全部进入仓库。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B52DB25-A175-4B54-B33A-C45F3287E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790700"/>
            <a:ext cx="2381250" cy="1333500"/>
          </a:xfrm>
          <a:prstGeom xmlns:a="http://schemas.openxmlformats.org/drawingml/2006/main" prst="roundRect">
            <a:avLst>
              <a:gd name="adj" fmla="val 8571"/>
            </a:avLst>
          </a:prstGeom>
          <a:solidFill xmlns:a="http://schemas.openxmlformats.org/drawingml/2006/main">
            <a:srgbClr val="EFF6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3E1EB2F-1B90-43E3-932A-035BEA11D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962150"/>
            <a:ext cx="2038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2563EB"/>
                </a:solidFill>
              </a:defRPr>
            </a:pPr>
            <a:r>
              <a:rPr sz="1575" b="1">
                <a:solidFill>
                  <a:srgbClr val="2563EB"/>
                </a:solidFill>
              </a:rPr>
              <a:t>核心入口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EC0FB0E-B551-4579-B7F6-692523753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343150"/>
            <a:ext cx="19621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demo.py --approve</a:t>
            </a:r>
          </a:p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--approver &lt;name&gt;</a:t>
            </a:r>
          </a:p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--approval-reason &lt;reason&gt;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805190C-27F3-439B-A7EE-B5E48D317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1790700"/>
            <a:ext cx="2381250" cy="1333500"/>
          </a:xfrm>
          <a:prstGeom xmlns:a="http://schemas.openxmlformats.org/drawingml/2006/main" prst="roundRect">
            <a:avLst>
              <a:gd name="adj" fmla="val 8571"/>
            </a:avLst>
          </a:prstGeom>
          <a:solidFill xmlns:a="http://schemas.openxmlformats.org/drawingml/2006/main">
            <a:srgbClr val="ECFEFF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FC19F9C-61A2-4081-B533-1743F5555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1962150"/>
            <a:ext cx="2038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14B8A6"/>
                </a:solidFill>
              </a:defRPr>
            </a:pPr>
            <a:r>
              <a:rPr sz="1575" b="1">
                <a:solidFill>
                  <a:srgbClr val="14B8A6"/>
                </a:solidFill>
              </a:rPr>
              <a:t>AgentTeams 入口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E922F0A-8D71-470E-96FF-F4BB7305A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2343150"/>
            <a:ext cx="19621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agentteams/run_chronosfix_team.py 输出 compatible transcript 与同源证据。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6E9EEB9-3540-4BE7-86AE-C548ABD04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1790700"/>
            <a:ext cx="2381250" cy="1333500"/>
          </a:xfrm>
          <a:prstGeom xmlns:a="http://schemas.openxmlformats.org/drawingml/2006/main" prst="roundRect">
            <a:avLst>
              <a:gd name="adj" fmla="val 8571"/>
            </a:avLst>
          </a:prstGeom>
          <a:solidFill xmlns:a="http://schemas.openxmlformats.org/drawingml/2006/main">
            <a:srgbClr val="F5F3FF"/>
          </a:solidFill>
          <a:ln xmlns:a="http://schemas.openxmlformats.org/drawingml/2006/main" w="9525">
            <a:solidFill>
              <a:srgbClr val="7C3AED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3974A66-2262-4C25-86C2-C7D76817A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1962150"/>
            <a:ext cx="2038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7C3AED"/>
                </a:solidFill>
              </a:defRPr>
            </a:pPr>
            <a:r>
              <a:rPr sz="1575" b="1">
                <a:solidFill>
                  <a:srgbClr val="7C3AED"/>
                </a:solidFill>
              </a:rPr>
              <a:t>契约与 CI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212342A-44BA-4040-9822-F57B7B4EA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343150"/>
            <a:ext cx="19621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18 个 Trace Span 覆盖 Agent/Skill 调用、实验结果、风险门禁和报告生成。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BE0EB7F-C661-486A-BA85-421787734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1790700"/>
            <a:ext cx="2381250" cy="1333500"/>
          </a:xfrm>
          <a:prstGeom xmlns:a="http://schemas.openxmlformats.org/drawingml/2006/main" prst="roundRect">
            <a:avLst>
              <a:gd name="adj" fmla="val 8571"/>
            </a:avLst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F97316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46E8B7E-82F4-4AFA-86BF-581F79748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1962150"/>
            <a:ext cx="2038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F97316"/>
                </a:solidFill>
              </a:defRPr>
            </a:pPr>
            <a:r>
              <a:rPr sz="1575" b="1">
                <a:solidFill>
                  <a:srgbClr val="F97316"/>
                </a:solidFill>
              </a:rPr>
              <a:t>Demo 交付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A9255F1-333B-4E77-BFD9-56855BA44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2343150"/>
            <a:ext cx="19621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GitHub Pages 静态站读取生成的 demo-data.json；不保存凭证，不写生产。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F4C0A35-0238-48DB-825E-24B8586D3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0576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4B8A6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98FAE8B-6825-4CF1-85B1-01D26F04F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962400"/>
            <a:ext cx="9124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101828"/>
                </a:solidFill>
              </a:defRPr>
            </a:pPr>
            <a:r>
              <a:rPr sz="1575" b="0">
                <a:solidFill>
                  <a:srgbClr val="101828"/>
                </a:solidFill>
              </a:rPr>
              <a:t>CI 同时运行 12 场景评测、严格 JSON/JSONL 校验与 AgentTeams 资源校验。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06398F4-9428-4BF9-A56B-A7DBCA0A1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4767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4B8A6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15BDAFA-661B-42EB-B4BF-C99658046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381500"/>
            <a:ext cx="9124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101828"/>
                </a:solidFill>
              </a:defRPr>
            </a:pPr>
            <a:r>
              <a:rPr sz="1575" b="0">
                <a:solidFill>
                  <a:srgbClr val="101828"/>
                </a:solidFill>
              </a:rPr>
              <a:t>核心运行仅依赖 Python 标准库；可选 PyYAML 用于资源声明验证。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E0BAF8D-9BE4-4CC8-9B68-EC9110AA2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8958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4B8A6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BB47387-283F-421F-89D1-983E26A69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800600"/>
            <a:ext cx="9124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101828"/>
                </a:solidFill>
              </a:defRPr>
            </a:pPr>
            <a:r>
              <a:rPr sz="1575" b="0">
                <a:solidFill>
                  <a:srgbClr val="101828"/>
                </a:solidFill>
              </a:rPr>
              <a:t>本地执行、dry-run 和真实外部执行在 UI、日志与文档中使用不同状态标签。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2B7E1EA-ABAE-485F-A9D1-B47FCA430E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685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AsoulAI ChronosFix / A-CFX · GOAI Agent Infra 复赛方案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218E55C-C7CD-418A-813C-90AA0B0E2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436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19</a:t>
            </a:r>
          </a:p>
        </p:txBody>
      </p:sp>
    </p:spTree>
    <p:extLst>
      <p:ext uri="{BB962C8B-B14F-4D97-AF65-F5344CB8AC3E}">
        <p14:creationId xmlns:p14="http://schemas.microsoft.com/office/powerpoint/2010/main" val="1612345063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CEDD836-A520-45DA-B3BD-B7B415631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97316"/>
                </a:solidFill>
              </a:defRPr>
            </a:pPr>
            <a:r>
              <a:rPr sz="1125" b="1">
                <a:solidFill>
                  <a:srgbClr val="F97316"/>
                </a:solidFill>
              </a:rPr>
              <a:t>落地计划与进展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B050880-7681-490F-BDA5-609886AC0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28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01828"/>
                </a:solidFill>
              </a:defRPr>
            </a:pPr>
            <a:r>
              <a:rPr sz="2850" b="1">
                <a:solidFill>
                  <a:srgbClr val="101828"/>
                </a:solidFill>
              </a:rPr>
              <a:t>商业化卖的不是改代码，而是变更治理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495B148-5D1F-4537-A3F9-FA98D6B19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33500"/>
            <a:ext cx="990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64748B"/>
                </a:solidFill>
              </a:defRPr>
            </a:pPr>
            <a:r>
              <a:rPr sz="1350" b="0">
                <a:solidFill>
                  <a:srgbClr val="64748B"/>
                </a:solidFill>
              </a:rPr>
              <a:t>以 DevOps / AIOps 增值模块切入，逐步形成组织级质量资产网络。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B5087A0-6162-4BAB-A330-AD81D8867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1809750"/>
            <a:ext cx="2724150" cy="2190750"/>
          </a:xfrm>
          <a:prstGeom xmlns:a="http://schemas.openxmlformats.org/drawingml/2006/main" prst="roundRect">
            <a:avLst>
              <a:gd name="adj" fmla="val 5217"/>
            </a:avLst>
          </a:prstGeom>
          <a:solidFill xmlns:a="http://schemas.openxmlformats.org/drawingml/2006/main">
            <a:srgbClr val="F0FDF4"/>
          </a:solidFill>
          <a:ln xmlns:a="http://schemas.openxmlformats.org/drawingml/2006/main" w="9525">
            <a:solidFill>
              <a:srgbClr val="16A34A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BB52100-DC21-426D-A8C6-4C4A94880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198120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16A34A"/>
                </a:solidFill>
              </a:defRPr>
            </a:pPr>
            <a:r>
              <a:rPr sz="1575" b="1">
                <a:solidFill>
                  <a:srgbClr val="16A34A"/>
                </a:solidFill>
              </a:rPr>
              <a:t>团队试点版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77B56DF-06A7-488A-B93B-5AA4D1487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2362200"/>
            <a:ext cx="2305050" cy="1543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Incident→PR 证据闭环</a:t>
            </a:r>
          </a:p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可复现评测</a:t>
            </a:r>
          </a:p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人工审批与回滚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9471EC2-5C2C-4783-A0E5-4EEC2089D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2895600"/>
            <a:ext cx="495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B8A6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B4895DD-04D1-4789-A395-90389E1323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1809750"/>
            <a:ext cx="2724150" cy="2190750"/>
          </a:xfrm>
          <a:prstGeom xmlns:a="http://schemas.openxmlformats.org/drawingml/2006/main" prst="roundRect">
            <a:avLst>
              <a:gd name="adj" fmla="val 5217"/>
            </a:avLst>
          </a:prstGeom>
          <a:solidFill xmlns:a="http://schemas.openxmlformats.org/drawingml/2006/main">
            <a:srgbClr val="EFF6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C4774B9-E13E-4B0F-B11B-8CC733591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198120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2563EB"/>
                </a:solidFill>
              </a:defRPr>
            </a:pPr>
            <a:r>
              <a:rPr sz="1575" b="1">
                <a:solidFill>
                  <a:srgbClr val="2563EB"/>
                </a:solidFill>
              </a:rPr>
              <a:t>企业集成版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A65BB15-591E-4257-B951-8EB1915348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2362200"/>
            <a:ext cx="2305050" cy="1543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Git / CI / 日志 / SSO</a:t>
            </a:r>
          </a:p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私有部署与审计导出</a:t>
            </a:r>
          </a:p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策略治理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A0F4206-D920-4805-B876-4B264E4843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2895600"/>
            <a:ext cx="495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B8A6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3C593CA-F654-4F44-B67A-09CECA89F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1809750"/>
            <a:ext cx="2724150" cy="2190750"/>
          </a:xfrm>
          <a:prstGeom xmlns:a="http://schemas.openxmlformats.org/drawingml/2006/main" prst="roundRect">
            <a:avLst>
              <a:gd name="adj" fmla="val 5217"/>
            </a:avLst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F97316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885C9B9-B87D-4EC1-99DB-760BC6DED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198120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F97316"/>
                </a:solidFill>
              </a:defRPr>
            </a:pPr>
            <a:r>
              <a:rPr sz="1575" b="1">
                <a:solidFill>
                  <a:srgbClr val="F97316"/>
                </a:solidFill>
              </a:rPr>
              <a:t>平台生态版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BD14683-2A26-4FAD-A64E-7C3AA9635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362200"/>
            <a:ext cx="2305050" cy="1543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跨团队 Skill Registry</a:t>
            </a:r>
          </a:p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故障基因库与 Benchmark</a:t>
            </a:r>
          </a:p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质量资产复用网络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DDC8DDB-D6C4-4FC2-BC90-2672A75AFB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7815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4B8A6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7FC9FCF-D105-4171-95E6-0E8A885DD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4686300"/>
            <a:ext cx="9124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101828"/>
                </a:solidFill>
              </a:defRPr>
            </a:pPr>
            <a:r>
              <a:rPr sz="1575" b="0">
                <a:solidFill>
                  <a:srgbClr val="101828"/>
                </a:solidFill>
              </a:rPr>
              <a:t>采购角色：平台工程、研发效能、SRE 与云厂商；收费可采用订阅 + 集成 + 私有部署。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5292F55-7BCA-46A5-9F16-5A84BD14B7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2006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4B8A6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486348B-6075-4A58-8CB0-82DEDF7ED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5105400"/>
            <a:ext cx="9124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101828"/>
                </a:solidFill>
              </a:defRPr>
            </a:pPr>
            <a:r>
              <a:rPr sz="1575" b="0">
                <a:solidFill>
                  <a:srgbClr val="101828"/>
                </a:solidFill>
              </a:rPr>
              <a:t>价值指标：评审耗时、误合并率、回滚恢复时长、审计准备成本；真实收益需通过试点测量。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4AE59EB-0099-4A81-8133-169352BBFC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685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AsoulAI ChronosFix / A-CFX · GOAI Agent Infra 复赛方案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8CD46D0-0FF6-44D1-8C27-008A28AB6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436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685749468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CEDD836-A520-45DA-B3BD-B7B415631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97316"/>
                </a:solidFill>
              </a:defRPr>
            </a:pPr>
            <a:r>
              <a:rPr sz="1125" b="1">
                <a:solidFill>
                  <a:srgbClr val="F97316"/>
                </a:solidFill>
              </a:rPr>
              <a:t>落地计划与进展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B050880-7681-490F-BDA5-609886AC0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28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01828"/>
                </a:solidFill>
              </a:defRPr>
            </a:pPr>
            <a:r>
              <a:rPr sz="2850" b="1">
                <a:solidFill>
                  <a:srgbClr val="101828"/>
                </a:solidFill>
              </a:rPr>
              <a:t>开放核心协议与评测，生产执行保持最小权限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495B148-5D1F-4537-A3F9-FA98D6B19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33500"/>
            <a:ext cx="990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64748B"/>
                </a:solidFill>
              </a:defRPr>
            </a:pPr>
            <a:r>
              <a:rPr sz="1350" b="0">
                <a:solidFill>
                  <a:srgbClr val="64748B"/>
                </a:solidFill>
              </a:rPr>
              <a:t>开源让方法可复核，权限边界让企业敢接入。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B5087A0-6162-4BAB-A330-AD81D8867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1809750"/>
            <a:ext cx="2724150" cy="2190750"/>
          </a:xfrm>
          <a:prstGeom xmlns:a="http://schemas.openxmlformats.org/drawingml/2006/main" prst="roundRect">
            <a:avLst>
              <a:gd name="adj" fmla="val 5217"/>
            </a:avLst>
          </a:prstGeom>
          <a:solidFill xmlns:a="http://schemas.openxmlformats.org/drawingml/2006/main">
            <a:srgbClr val="F0FDF4"/>
          </a:solidFill>
          <a:ln xmlns:a="http://schemas.openxmlformats.org/drawingml/2006/main" w="9525">
            <a:solidFill>
              <a:srgbClr val="16A34A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BB52100-DC21-426D-A8C6-4C4A94880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198120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16A34A"/>
                </a:solidFill>
              </a:defRPr>
            </a:pPr>
            <a:r>
              <a:rPr sz="1575" b="1">
                <a:solidFill>
                  <a:srgbClr val="16A34A"/>
                </a:solidFill>
              </a:rPr>
              <a:t>已开放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77B56DF-06A7-488A-B93B-5AA4D1487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2362200"/>
            <a:ext cx="2305050" cy="1543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代码、Schema、12 场景</a:t>
            </a:r>
          </a:p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Worker Skill、证据格式</a:t>
            </a:r>
          </a:p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评测与 Demo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9471EC2-5C2C-4783-A0E5-4EEC2089D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2895600"/>
            <a:ext cx="495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B8A6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B4895DD-04D1-4789-A395-90389E1323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1809750"/>
            <a:ext cx="2724150" cy="2190750"/>
          </a:xfrm>
          <a:prstGeom xmlns:a="http://schemas.openxmlformats.org/drawingml/2006/main" prst="roundRect">
            <a:avLst>
              <a:gd name="adj" fmla="val 5217"/>
            </a:avLst>
          </a:prstGeom>
          <a:solidFill xmlns:a="http://schemas.openxmlformats.org/drawingml/2006/main">
            <a:srgbClr val="EFF6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C4774B9-E13E-4B0F-B11B-8CC733591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198120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2563EB"/>
                </a:solidFill>
              </a:defRPr>
            </a:pPr>
            <a:r>
              <a:rPr sz="1575" b="1">
                <a:solidFill>
                  <a:srgbClr val="2563EB"/>
                </a:solidFill>
              </a:rPr>
              <a:t>合规边界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A65BB15-591E-4257-B951-8EB1915348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2362200"/>
            <a:ext cx="2305050" cy="1543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Apache-2.0、SBOM</a:t>
            </a:r>
          </a:p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合成数据；不提交密钥</a:t>
            </a:r>
          </a:p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第三方依赖披露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A0F4206-D920-4805-B876-4B264E4843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2895600"/>
            <a:ext cx="495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B8A6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3C593CA-F654-4F44-B67A-09CECA89F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1809750"/>
            <a:ext cx="2724150" cy="2190750"/>
          </a:xfrm>
          <a:prstGeom xmlns:a="http://schemas.openxmlformats.org/drawingml/2006/main" prst="roundRect">
            <a:avLst>
              <a:gd name="adj" fmla="val 5217"/>
            </a:avLst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F97316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885C9B9-B87D-4EC1-99DB-760BC6DED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198120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F97316"/>
                </a:solidFill>
              </a:defRPr>
            </a:pPr>
            <a:r>
              <a:rPr sz="1575" b="1">
                <a:solidFill>
                  <a:srgbClr val="F97316"/>
                </a:solidFill>
              </a:rPr>
              <a:t>下一阶段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BD14683-2A26-4FAD-A64E-7C3AA9635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362200"/>
            <a:ext cx="2305050" cy="1543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真实 AgentTeams Runtime</a:t>
            </a:r>
          </a:p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只读 SLS / MCP / RAG</a:t>
            </a:r>
          </a:p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AgentLoop / Studio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DDC8DDB-D6C4-4FC2-BC90-2672A75AFB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7815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4B8A6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7FC9FCF-D105-4171-95E6-0E8A885DD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4686300"/>
            <a:ext cx="9124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101828"/>
                </a:solidFill>
              </a:defRPr>
            </a:pPr>
            <a:r>
              <a:rPr sz="1575" b="0">
                <a:solidFill>
                  <a:srgbClr val="101828"/>
                </a:solidFill>
              </a:rPr>
              <a:t>当前状态：Controller / Matrix 尚未执行；真实 SLS 需要本地只读凭证；其余推荐组件为迁移目标。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5292F55-7BCA-46A5-9F16-5A84BD14B7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2006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4B8A6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486348B-6075-4A58-8CB0-82DEDF7ED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5105400"/>
            <a:ext cx="9124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101828"/>
                </a:solidFill>
              </a:defRPr>
            </a:pPr>
            <a:r>
              <a:rPr sz="1575" b="0">
                <a:solidFill>
                  <a:srgbClr val="101828"/>
                </a:solidFill>
              </a:rPr>
              <a:t>原则：组件数量不计分；只在闭环证据需要时引入，并披露替换原因与迁移成本。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4AE59EB-0099-4A81-8133-169352BBFC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685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AsoulAI ChronosFix / A-CFX · GOAI Agent Infra 复赛方案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8CD46D0-0FF6-44D1-8C27-008A28AB6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436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21</a:t>
            </a:r>
          </a:p>
        </p:txBody>
      </p:sp>
    </p:spTree>
    <p:extLst>
      <p:ext uri="{BB962C8B-B14F-4D97-AF65-F5344CB8AC3E}">
        <p14:creationId xmlns:p14="http://schemas.microsoft.com/office/powerpoint/2010/main" val="685749468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D1B84F2-61C8-4C1A-858D-D03B176084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97316"/>
                </a:solidFill>
              </a:defRPr>
            </a:pPr>
            <a:r>
              <a:rPr sz="1125" b="1">
                <a:solidFill>
                  <a:srgbClr val="F97316"/>
                </a:solidFill>
              </a:rPr>
              <a:t>团队与提交物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C730797-E4E0-4BCF-AE8C-2A49EEF54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28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01828"/>
                </a:solidFill>
              </a:defRPr>
            </a:pPr>
            <a:r>
              <a:rPr sz="2850" b="1">
                <a:solidFill>
                  <a:srgbClr val="101828"/>
                </a:solidFill>
              </a:rPr>
              <a:t>AsoulAI 交付完整复赛包，不只是一个概念 PPT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85571A1-8249-4B12-B656-054A23C78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33500"/>
            <a:ext cx="990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64748B"/>
                </a:solidFill>
              </a:defRPr>
            </a:pPr>
            <a:r>
              <a:rPr sz="1350" b="0">
                <a:solidFill>
                  <a:srgbClr val="64748B"/>
                </a:solidFill>
              </a:rPr>
              <a:t>方案、代码、Demo、评测、Trace、审计和开放计划均可独立进入与复核。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2E00A48-5771-4B87-BAB4-57060752A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790700"/>
            <a:ext cx="2190750" cy="1009650"/>
          </a:xfrm>
          <a:prstGeom xmlns:a="http://schemas.openxmlformats.org/drawingml/2006/main" prst="roundRect">
            <a:avLst>
              <a:gd name="adj" fmla="val 11321"/>
            </a:avLst>
          </a:prstGeom>
          <a:solidFill xmlns:a="http://schemas.openxmlformats.org/drawingml/2006/main">
            <a:srgbClr val="EFF6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D9D5316-3E6D-493A-9BA4-5986FAAFF7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962150"/>
            <a:ext cx="1847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2563EB"/>
                </a:solidFill>
              </a:defRPr>
            </a:pPr>
            <a:r>
              <a:rPr sz="1575" b="1">
                <a:solidFill>
                  <a:srgbClr val="2563EB"/>
                </a:solidFill>
              </a:rPr>
              <a:t>队伍名称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C7F4A4D-89EA-4F03-A553-E88ED9C48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343150"/>
            <a:ext cx="17716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AsoulAI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DC6F9CD-3F75-4A48-98C4-6CFF756A2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1790700"/>
            <a:ext cx="3143250" cy="1009650"/>
          </a:xfrm>
          <a:prstGeom xmlns:a="http://schemas.openxmlformats.org/drawingml/2006/main" prst="roundRect">
            <a:avLst>
              <a:gd name="adj" fmla="val 11321"/>
            </a:avLst>
          </a:prstGeom>
          <a:solidFill xmlns:a="http://schemas.openxmlformats.org/drawingml/2006/main">
            <a:srgbClr val="ECFEFF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C970F44-1FC8-4921-BF41-B36DC5079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1962150"/>
            <a:ext cx="2800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14B8A6"/>
                </a:solidFill>
              </a:defRPr>
            </a:pPr>
            <a:r>
              <a:rPr sz="1575" b="1">
                <a:solidFill>
                  <a:srgbClr val="14B8A6"/>
                </a:solidFill>
              </a:rPr>
              <a:t>作品名称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1D75DB2-57C8-4BC6-9EA9-898931754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2343150"/>
            <a:ext cx="27241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AsoulAI ChronosFix：带证据的软件修复引擎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713E6CE-B52A-4ABB-A162-6C784E14F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1790700"/>
            <a:ext cx="4000500" cy="1009650"/>
          </a:xfrm>
          <a:prstGeom xmlns:a="http://schemas.openxmlformats.org/drawingml/2006/main" prst="roundRect">
            <a:avLst>
              <a:gd name="adj" fmla="val 11321"/>
            </a:avLst>
          </a:prstGeom>
          <a:solidFill xmlns:a="http://schemas.openxmlformats.org/drawingml/2006/main">
            <a:srgbClr val="F0FDF4"/>
          </a:solidFill>
          <a:ln xmlns:a="http://schemas.openxmlformats.org/drawingml/2006/main" w="9525">
            <a:solidFill>
              <a:srgbClr val="16A34A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59B6A29-7CA9-4C6A-8590-51098F7A9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1962150"/>
            <a:ext cx="3657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16A34A"/>
                </a:solidFill>
              </a:defRPr>
            </a:pPr>
            <a:r>
              <a:rPr sz="1575" b="1">
                <a:solidFill>
                  <a:srgbClr val="16A34A"/>
                </a:solidFill>
              </a:rPr>
              <a:t>Demo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57E9A99-4019-492B-A6A4-04C4A06ED9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2343150"/>
            <a:ext cx="3581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https://asoul-official.github.io/asoulai-chronosfix/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F55ABEC-DB60-4EDA-91BB-8711BECFA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429000"/>
            <a:ext cx="42672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6C5FB3B-B73D-4B9E-A934-28107962B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600450"/>
            <a:ext cx="1047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2563EB"/>
                </a:solidFill>
              </a:defRPr>
            </a:pPr>
            <a:r>
              <a:rPr sz="1275" b="1">
                <a:solidFill>
                  <a:srgbClr val="2563EB"/>
                </a:solidFill>
              </a:rPr>
              <a:t>代码仓库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87FBA4B-BC6D-4381-9391-0D67A3E6B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3600450"/>
            <a:ext cx="2724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01828"/>
                </a:solidFill>
              </a:defRPr>
            </a:pPr>
            <a:r>
              <a:rPr sz="1125" b="0">
                <a:solidFill>
                  <a:srgbClr val="101828"/>
                </a:solidFill>
              </a:rPr>
              <a:t>github.com/ASOUL-Official/
asoulai-chronosfix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42D0971-E418-4BF6-95EB-535E1BAD5B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3429000"/>
            <a:ext cx="42672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97316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EAFBEF8-87D5-47B2-9003-AC3580B27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600450"/>
            <a:ext cx="1047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F97316"/>
                </a:solidFill>
              </a:defRPr>
            </a:pPr>
            <a:r>
              <a:rPr sz="1275" b="1">
                <a:solidFill>
                  <a:srgbClr val="F97316"/>
                </a:solidFill>
              </a:rPr>
              <a:t>方案材料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9732FC2-ED46-42EF-A00B-23BDCD801A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3600450"/>
            <a:ext cx="2724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01828"/>
                </a:solidFill>
              </a:defRPr>
            </a:pPr>
            <a:r>
              <a:rPr sz="1125" b="0">
                <a:solidFill>
                  <a:srgbClr val="101828"/>
                </a:solidFill>
              </a:rPr>
              <a:t>submission/ChronosFix_复赛方案.pptx / .pdf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89FA537-CBBC-4CAA-9302-959AC903E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248150"/>
            <a:ext cx="42672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98081B4-B75C-4191-A244-244FD57A79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419600"/>
            <a:ext cx="1047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2563EB"/>
                </a:solidFill>
              </a:defRPr>
            </a:pPr>
            <a:r>
              <a:rPr sz="1275" b="1">
                <a:solidFill>
                  <a:srgbClr val="2563EB"/>
                </a:solidFill>
              </a:rPr>
              <a:t>可验证证据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FD0C899-9AE8-4840-83B5-33BA6BA61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4419600"/>
            <a:ext cx="2724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01828"/>
                </a:solidFill>
              </a:defRPr>
            </a:pPr>
            <a:r>
              <a:rPr sz="1125" b="0">
                <a:solidFill>
                  <a:srgbClr val="101828"/>
                </a:solidFill>
              </a:rPr>
              <a:t>evidence/ + evaluation-corpus/ + run-manifest.json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BFEFBFA-4777-4E18-A0D8-AB3DB779B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4248150"/>
            <a:ext cx="42672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97316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891FCA4-8DE3-4AE0-8B45-3669A6A82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419600"/>
            <a:ext cx="1047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F97316"/>
                </a:solidFill>
              </a:defRPr>
            </a:pPr>
            <a:r>
              <a:rPr sz="1275" b="1">
                <a:solidFill>
                  <a:srgbClr val="F97316"/>
                </a:solidFill>
              </a:rPr>
              <a:t>核心结论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C723ACC-B924-4EA5-B0CE-9E5E37D9B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4419600"/>
            <a:ext cx="2724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01828"/>
                </a:solidFill>
              </a:defRPr>
            </a:pPr>
            <a:r>
              <a:rPr sz="1125" b="0">
                <a:solidFill>
                  <a:srgbClr val="101828"/>
                </a:solidFill>
              </a:rPr>
              <a:t>根因可证明｜补丁可验证｜发布可审计｜经验可复用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AA51BE4-1766-48C0-AA24-E0D1CFCBD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5467350"/>
            <a:ext cx="9677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101828"/>
                </a:solidFill>
              </a:defRPr>
            </a:pPr>
            <a:r>
              <a:rPr sz="1725" b="1">
                <a:solidFill>
                  <a:srgbClr val="101828"/>
                </a:solidFill>
              </a:rPr>
              <a:t>A-CFX：让每次软件修复都携带证据，让每次事故都沉淀为质量资产。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7B7921B-2589-4CE8-80A0-158C15D55D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685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AsoulAI ChronosFix / A-CFX · GOAI Agent Infra 复赛方案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E8F877A-34C5-41E1-90B9-4E6810605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436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22</a:t>
            </a:r>
          </a:p>
        </p:txBody>
      </p:sp>
    </p:spTree>
    <p:extLst>
      <p:ext uri="{BB962C8B-B14F-4D97-AF65-F5344CB8AC3E}">
        <p14:creationId xmlns:p14="http://schemas.microsoft.com/office/powerpoint/2010/main" val="136651424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2026-08-27T09:01:17.7120000Z</dcterms:created>
  <dcterms:modified xsi:type="dcterms:W3CDTF">2026-08-27T09:01:17.7120000Z</dcterms:modified>
</coreProperties>
</file>