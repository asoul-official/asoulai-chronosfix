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268b989d31544b86" /><Relationship Type="http://schemas.openxmlformats.org/officeDocument/2006/relationships/extended-properties" Target="/docProps/app.xml" Id="Rc65795c0403e4c86" /><Relationship Type="http://schemas.openxmlformats.org/officeDocument/2006/relationships/officeDocument" Target="/ppt/presentation.xml" Id="Rce3d98c2681249af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605b0b9a74944a2a"/>
  </p:sldMasterIdLst>
  <p:notesMasterIdLst>
    <p:notesMasterId xmlns:r="http://schemas.openxmlformats.org/officeDocument/2006/relationships" r:id="Rf508e9f97e304d3a"/>
  </p:notesMasterIdLst>
  <p:sldIdLst>
    <p:sldId xmlns:r="http://schemas.openxmlformats.org/officeDocument/2006/relationships" id="256" r:id="Ra63b997af22a4822"/>
    <p:sldId xmlns:r="http://schemas.openxmlformats.org/officeDocument/2006/relationships" id="257" r:id="R960c32d810d64197"/>
    <p:sldId xmlns:r="http://schemas.openxmlformats.org/officeDocument/2006/relationships" id="258" r:id="R0e87c52238604f6e"/>
    <p:sldId xmlns:r="http://schemas.openxmlformats.org/officeDocument/2006/relationships" id="259" r:id="R53faab5c8a254ff4"/>
    <p:sldId xmlns:r="http://schemas.openxmlformats.org/officeDocument/2006/relationships" id="260" r:id="R62c0ec9ac3ba4064"/>
    <p:sldId xmlns:r="http://schemas.openxmlformats.org/officeDocument/2006/relationships" id="261" r:id="R85cb786e8c534aec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cd5e23aaf81c4109" /><Relationship Type="http://schemas.openxmlformats.org/officeDocument/2006/relationships/slideMaster" Target="/ppt/slideMasters/slideMaster1.xml" Id="R605b0b9a74944a2a" /><Relationship Type="http://schemas.openxmlformats.org/officeDocument/2006/relationships/notesMaster" Target="/ppt/notesMasters/notesMaster1.xml" Id="Rf508e9f97e304d3a" /><Relationship Type="http://schemas.openxmlformats.org/officeDocument/2006/relationships/presProps" Target="/ppt/presProps.xml" Id="R89c296c2e59d4588" /><Relationship Type="http://schemas.openxmlformats.org/officeDocument/2006/relationships/tableStyles" Target="/ppt/tableStyles.xml" Id="R45431d56461e494f" /><Relationship Type="http://schemas.openxmlformats.org/officeDocument/2006/relationships/slide" Target="/ppt/slides/slide1.xml" Id="Ra63b997af22a4822" /><Relationship Type="http://schemas.openxmlformats.org/officeDocument/2006/relationships/slide" Target="/ppt/slides/slide2.xml" Id="R960c32d810d64197" /><Relationship Type="http://schemas.openxmlformats.org/officeDocument/2006/relationships/slide" Target="/ppt/slides/slide3.xml" Id="R0e87c52238604f6e" /><Relationship Type="http://schemas.openxmlformats.org/officeDocument/2006/relationships/slide" Target="/ppt/slides/slide4.xml" Id="R53faab5c8a254ff4" /><Relationship Type="http://schemas.openxmlformats.org/officeDocument/2006/relationships/slide" Target="/ppt/slides/slide5.xml" Id="R62c0ec9ac3ba4064" /><Relationship Type="http://schemas.openxmlformats.org/officeDocument/2006/relationships/slide" Target="/ppt/slides/slide6.xml" Id="R85cb786e8c534aec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472a974d5e484920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f3cbe8d11c78459c" /><Relationship Type="http://schemas.openxmlformats.org/officeDocument/2006/relationships/notesMaster" Target="/ppt/notesMasters/notesMaster1.xml" Id="R49ac786b67374a73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4e25b2be69174a10" /><Relationship Type="http://schemas.openxmlformats.org/officeDocument/2006/relationships/notesMaster" Target="/ppt/notesMasters/notesMaster1.xml" Id="Rf99a4d24f0a14428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cb793822962f4da8" /><Relationship Type="http://schemas.openxmlformats.org/officeDocument/2006/relationships/notesMaster" Target="/ppt/notesMasters/notesMaster1.xml" Id="R4d7913d6ce724c5f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ea9d80bf1b7e4cd5" /><Relationship Type="http://schemas.openxmlformats.org/officeDocument/2006/relationships/notesMaster" Target="/ppt/notesMasters/notesMaster1.xml" Id="Rae76d4947ae04639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ef00d3688c6f48e6" /><Relationship Type="http://schemas.openxmlformats.org/officeDocument/2006/relationships/notesMaster" Target="/ppt/notesMasters/notesMaster1.xml" Id="R361aea1f1ba14624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ab3f44d2797b4ea2" /><Relationship Type="http://schemas.openxmlformats.org/officeDocument/2006/relationships/notesMaster" Target="/ppt/notesMasters/notesMaster1.xml" Id="R60f3c2484b8c4a5d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0:00–0:12 开门见山：ChronosFix 不承诺替研发做判断，而是让每个修复决定携带证据。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Internal: docs/semifinal-reviewer-response.md</a:t>
            </a:r>
          </a:p>
          <a:p xmlns:a="http://schemas.openxmlformats.org/drawingml/2006/main">
            <a:r>
              <a:t>- Internal: evidence/release-manifest.json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0:12–0:27 先讲结果：48.72% 到 6.25% 的既有评测口径、8 个强制故障变体、14 条证据声明；新增本地真实执行与 54 项测试。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Internal: docs/evaluation-corpus-results.md</a:t>
            </a:r>
          </a:p>
          <a:p xmlns:a="http://schemas.openxmlformats.org/drawingml/2006/main">
            <a:r>
              <a:t>- Internal: tests/ (pytest collection: 54)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0:27–0:43 现场重点：Controller 用 Popen 启动真实 Worker 子进程。点击失败后，#01 的 PID 结束，#02 接管；事件落 SQLite Matrix。官方 AgentTeams/Matrix 仍写 pending。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Internal: src/chronosfix/runtime/controller.py</a:t>
            </a:r>
          </a:p>
          <a:p xmlns:a="http://schemas.openxmlformats.org/drawingml/2006/main">
            <a:r>
              <a:t>- Internal: src/chronosfix/runtime/store.py</a:t>
            </a:r>
          </a:p>
          <a:p xmlns:a="http://schemas.openxmlformats.org/drawingml/2006/main">
            <a:r>
              <a:t>- Internal: deploy/infra-boundaries.json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0:43–0:58 证据重点：补丁先在临时 checkout 中反复验证，再进入 RiskGate；最后用 DSSE + Ed25519 把输入、结果、边界绑定成可验签声明。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Internal: scripts/run_patch_sandbox.py</a:t>
            </a:r>
          </a:p>
          <a:p xmlns:a="http://schemas.openxmlformats.org/drawingml/2006/main">
            <a:r>
              <a:t>- Internal: src/chronosfix/attestation.py</a:t>
            </a:r>
          </a:p>
          <a:p xmlns:a="http://schemas.openxmlformats.org/drawingml/2006/main">
            <a:r>
              <a:t>- Internal: evidence/release-manifest.json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0:58–1:13 三个现场动作：重派、动态插证据、旧审批失效。再点 Badcase：系统必须 abstain/indeterminate，而不是生成一个看似完整的 PR。Cloudflare 事故只作为公开只读事实来源。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Internal: repair-cockpit/index.html</a:t>
            </a:r>
          </a:p>
          <a:p xmlns:a="http://schemas.openxmlformats.org/drawingml/2006/main">
            <a:r>
              <a:t>- Internal: src/chronosfix/runtime/controller.py</a:t>
            </a:r>
          </a:p>
          <a:p xmlns:a="http://schemas.openxmlformats.org/drawingml/2006/main">
            <a:r>
              <a:t>- External: https://blog.cloudflare.com/cloudflare-outage/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1:13–1:30 收束：本地执行闭环已可复核，官方产品与真实云服务仍明确列为迁移边界；人工 baseline 等真实观察完成后再更新。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Internal: docs/requirements-matrix.md</a:t>
            </a:r>
          </a:p>
          <a:p xmlns:a="http://schemas.openxmlformats.org/drawingml/2006/main">
            <a:r>
              <a:t>- Internal: baseline/human-study-protocol.json</a:t>
            </a:r>
          </a:p>
          <a:p xmlns:a="http://schemas.openxmlformats.org/drawingml/2006/main">
            <a:r>
              <a:t>- Internal: deploy/infra-boundaries.json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beb13fc8c3845d2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b0690aca38324557" /><Relationship Type="http://schemas.openxmlformats.org/officeDocument/2006/relationships/slideLayout" Target="/ppt/slideLayouts/slideLayout1.xml" Id="R1377dcc39cff4cd7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1377dcc39cff4cd7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7913cc2894d42ae" /><Relationship Type="http://schemas.openxmlformats.org/officeDocument/2006/relationships/notesSlide" Target="/ppt/notesSlides/notesSlide1.xml" Id="R42dc905c7fa04504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94486bcaed94daf" /><Relationship Type="http://schemas.openxmlformats.org/officeDocument/2006/relationships/notesSlide" Target="/ppt/notesSlides/notesSlide2.xml" Id="R8cb512aa2a564b31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64f9f904d7144ad" /><Relationship Type="http://schemas.openxmlformats.org/officeDocument/2006/relationships/notesSlide" Target="/ppt/notesSlides/notesSlide3.xml" Id="R299ab623e1354889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9b3f4929c824132" /><Relationship Type="http://schemas.openxmlformats.org/officeDocument/2006/relationships/notesSlide" Target="/ppt/notesSlides/notesSlide4.xml" Id="Ree41290689ad4d99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491a05a2c204c07" /><Relationship Type="http://schemas.openxmlformats.org/officeDocument/2006/relationships/notesSlide" Target="/ppt/notesSlides/notesSlide5.xml" Id="Rea9b3c8653a74175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76e297b43bb4ff6" /><Relationship Type="http://schemas.openxmlformats.org/officeDocument/2006/relationships/notesSlide" Target="/ppt/notesSlides/notesSlide6.xml" Id="R1cbb15a7f9304e85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711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8D9A3AF-6EC5-4674-AE37-01DB549997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B8A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E210971-89C4-4CAD-9655-CEF39906C4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09600"/>
            <a:ext cx="857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14B8A6"/>
                </a:solidFill>
              </a:defRPr>
            </a:pPr>
            <a:r>
              <a:rPr sz="1350" b="1">
                <a:solidFill>
                  <a:srgbClr val="14B8A6"/>
                </a:solidFill>
              </a:rPr>
              <a:t>GOAI 世界人工智能开源大赛 · Agent Infra · 方向三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913E29F-39F1-4781-82DF-FCAC90CED3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562100"/>
            <a:ext cx="81915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4350" b="1">
                <a:solidFill>
                  <a:srgbClr val="FFFFFF"/>
                </a:solidFill>
              </a:defRPr>
            </a:pPr>
            <a:r>
              <a:rPr sz="4350" b="1">
                <a:solidFill>
                  <a:srgbClr val="FFFFFF"/>
                </a:solidFill>
              </a:rPr>
              <a:t>AsoulAI ChronosFix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BB5AAC4-058E-4599-A0FC-19EE4CBE6A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419350"/>
            <a:ext cx="8572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3150" b="1">
                <a:solidFill>
                  <a:srgbClr val="FFFFFF"/>
                </a:solidFill>
              </a:defRPr>
            </a:pPr>
            <a:r>
              <a:rPr sz="3150" b="1">
                <a:solidFill>
                  <a:srgbClr val="FFFFFF"/>
                </a:solidFill>
              </a:rPr>
              <a:t>带证据的软件修复引擎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DA6A244-B313-4168-926C-FB34458414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0"/>
            <a:ext cx="7810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800" b="0">
                <a:solidFill>
                  <a:srgbClr val="D7E3F5"/>
                </a:solidFill>
              </a:defRPr>
            </a:pPr>
            <a:r>
              <a:rPr sz="1800" b="0">
                <a:solidFill>
                  <a:srgbClr val="D7E3F5"/>
                </a:solidFill>
              </a:rPr>
              <a:t>90 秒：从事故到可验证补丁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92DC734-3227-4291-A774-E39FE73D99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38600"/>
            <a:ext cx="1790700" cy="323850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FFFFFF">
              <a:alpha val="6000"/>
            </a:srgbClr>
          </a:solidFill>
          <a:ln xmlns:a="http://schemas.openxmlformats.org/drawingml/2006/main" w="9525">
            <a:solidFill>
              <a:srgbClr val="14B8A6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A286AD8-EBB4-4708-8FC6-38F0226227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105275"/>
            <a:ext cx="1600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14B8A6"/>
                </a:solidFill>
              </a:defRPr>
            </a:pPr>
            <a:r>
              <a:rPr sz="1050" b="1">
                <a:solidFill>
                  <a:srgbClr val="14B8A6"/>
                </a:solidFill>
              </a:rPr>
              <a:t>官方模板 · 复赛验证版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79DB30C-A725-42F3-835A-570A074C46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4038600"/>
            <a:ext cx="1238250" cy="323850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FFFFFF">
              <a:alpha val="6000"/>
            </a:srgbClr>
          </a:solidFill>
          <a:ln xmlns:a="http://schemas.openxmlformats.org/drawingml/2006/main" w="9525">
            <a:solidFill>
              <a:srgbClr val="F97316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AC32C2D-7D74-4642-A8E2-392431B9F2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4105275"/>
            <a:ext cx="1047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F97316"/>
                </a:solidFill>
              </a:defRPr>
            </a:pPr>
            <a:r>
              <a:rPr sz="1050" b="1">
                <a:solidFill>
                  <a:srgbClr val="F97316"/>
                </a:solidFill>
              </a:rPr>
              <a:t>队伍：AsoulAI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0034A2C-B6F4-4C7C-8C16-A5686C70CF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4038600"/>
            <a:ext cx="1104900" cy="323850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FFFFFF">
              <a:alpha val="6000"/>
            </a:srgbClr>
          </a:solidFill>
          <a:ln xmlns:a="http://schemas.openxmlformats.org/drawingml/2006/main" w="9525">
            <a:solidFill>
              <a:srgbClr val="16A34A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EB40808-5CEC-4F43-9A49-9C3115235F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0050" y="4105275"/>
            <a:ext cx="914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16A34A"/>
                </a:solidFill>
              </a:defRPr>
            </a:pPr>
            <a:r>
              <a:rPr sz="1050" b="1">
                <a:solidFill>
                  <a:srgbClr val="16A34A"/>
                </a:solidFill>
              </a:rPr>
              <a:t>复赛 V1.0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D93D05A-1126-4ABC-B157-6CC6C991EA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1676400"/>
            <a:ext cx="1276350" cy="742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8000"/>
            </a:srgbClr>
          </a:solidFill>
          <a:ln xmlns:a="http://schemas.openxmlformats.org/drawingml/2006/main" w="9525">
            <a:solidFill>
              <a:srgbClr val="2563EB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186F38F-9008-4433-815E-8D1E2D1B24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1933575"/>
            <a:ext cx="1047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事故证据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390A782-1D61-4790-8258-4FE4538AAB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3100" y="2419350"/>
            <a:ext cx="1276350" cy="742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8000"/>
            </a:srgbClr>
          </a:solidFill>
          <a:ln xmlns:a="http://schemas.openxmlformats.org/drawingml/2006/main" w="9525">
            <a:solidFill>
              <a:srgbClr val="7C3AED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3E6DEC2-F70B-43E1-92B2-641E9505BF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7400" y="2676525"/>
            <a:ext cx="1047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反事实实验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54E9AAA-6266-46B9-B2A4-ACBAC1659F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3638550"/>
            <a:ext cx="1276350" cy="742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8000"/>
            </a:srgbClr>
          </a:solidFill>
          <a:ln xmlns:a="http://schemas.openxmlformats.org/drawingml/2006/main" w="9525">
            <a:solidFill>
              <a:srgbClr val="16A34A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FDED6FB-D2F8-4F06-AEDF-DD6AAE1267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3895725"/>
            <a:ext cx="1047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风险门禁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9BC367A-0DCA-4ED9-858C-2F7213352A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3638550"/>
            <a:ext cx="1276350" cy="742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8000"/>
            </a:srgbClr>
          </a:solidFill>
          <a:ln xmlns:a="http://schemas.openxmlformats.org/drawingml/2006/main" w="9525">
            <a:solidFill>
              <a:srgbClr val="F97316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008797B-3A26-4229-8EEF-5C3E0B1D4D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3895725"/>
            <a:ext cx="1047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故障基因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4D0F2A1-6BBB-4F4A-ADB9-FE7A5AF7BF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2419350"/>
            <a:ext cx="1276350" cy="742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8000"/>
            </a:srgbClr>
          </a:solidFill>
          <a:ln xmlns:a="http://schemas.openxmlformats.org/drawingml/2006/main" w="9525">
            <a:solidFill>
              <a:srgbClr val="14B8A6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739978E-8EFB-41D2-A10B-D18BB0D91A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2676525"/>
            <a:ext cx="1047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资产复用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10F93B0-2E6C-4067-9FBB-0AAF53BFC7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2857500"/>
            <a:ext cx="13716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550" b="1">
                <a:solidFill>
                  <a:srgbClr val="14B8A6"/>
                </a:solidFill>
              </a:defRPr>
            </a:pPr>
            <a:r>
              <a:rPr sz="2550" b="1">
                <a:solidFill>
                  <a:srgbClr val="14B8A6"/>
                </a:solidFill>
              </a:rPr>
              <a:t>A-CFX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494F545-1B87-422F-876C-1E59A4531F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962650"/>
            <a:ext cx="5334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AFC7E8"/>
                </a:solidFill>
              </a:defRPr>
            </a:pPr>
            <a:r>
              <a:rPr sz="1125" b="0">
                <a:solidFill>
                  <a:srgbClr val="AFC7E8"/>
                </a:solidFill>
              </a:rPr>
              <a:t>真实本地执行 · 现场按钮 · 明确边界</a:t>
            </a:r>
          </a:p>
        </p:txBody>
      </p:sp>
    </p:spTree>
    <p:extLst>
      <p:ext uri="{BB962C8B-B14F-4D97-AF65-F5344CB8AC3E}">
        <p14:creationId xmlns:p14="http://schemas.microsoft.com/office/powerpoint/2010/main" val="66839892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7DCE12DC-7CE4-4F16-8279-0C1DF77919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F97316"/>
                </a:solidFill>
              </a:defRPr>
            </a:pPr>
            <a:r>
              <a:rPr sz="1125" b="1">
                <a:solidFill>
                  <a:srgbClr val="F97316"/>
                </a:solidFill>
              </a:rPr>
              <a:t>P0 · 结果先行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40BF0D2-88E8-44C3-AB54-517A7489F1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287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101828"/>
                </a:solidFill>
              </a:defRPr>
            </a:pPr>
            <a:r>
              <a:rPr sz="2850" b="1">
                <a:solidFill>
                  <a:srgbClr val="101828"/>
                </a:solidFill>
              </a:rPr>
              <a:t>我们交付的不是答案，而是敢合并的证据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6083875-6D10-4507-8828-B6C34C6A6F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333500"/>
            <a:ext cx="9906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64748B"/>
                </a:solidFill>
              </a:defRPr>
            </a:pPr>
            <a:r>
              <a:rPr sz="1350" b="0">
                <a:solidFill>
                  <a:srgbClr val="64748B"/>
                </a:solidFill>
              </a:rPr>
              <a:t>同一 run_id 绑定事故、因果、补丁、门禁与审计材料。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A59D5CE-8B2C-4549-BB73-AE75FE69FF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809750"/>
            <a:ext cx="3048000" cy="1181100"/>
          </a:xfrm>
          <a:prstGeom xmlns:a="http://schemas.openxmlformats.org/drawingml/2006/main" prst="roundRect">
            <a:avLst>
              <a:gd name="adj" fmla="val 9677"/>
            </a:avLst>
          </a:prstGeom>
          <a:solidFill xmlns:a="http://schemas.openxmlformats.org/drawingml/2006/main">
            <a:srgbClr val="EFF6FF"/>
          </a:solidFill>
          <a:ln xmlns:a="http://schemas.openxmlformats.org/drawingml/2006/main" w="9525">
            <a:solidFill>
              <a:srgbClr val="2563EB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0541C14-3BD6-4C83-8CF8-BAB5CC2538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981200"/>
            <a:ext cx="2705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2563EB"/>
                </a:solidFill>
              </a:defRPr>
            </a:pPr>
            <a:r>
              <a:rPr sz="1575" b="1">
                <a:solidFill>
                  <a:srgbClr val="2563EB"/>
                </a:solidFill>
              </a:rPr>
              <a:t>真实执行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A7D97D7-B790-4EF2-99F6-5BDA8F71B2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362200"/>
            <a:ext cx="26289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本地 Controller 拉起真实子进程，失败后切换到不同 Worker 实例。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231D676-E571-4307-A4CE-0358D8A06D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1809750"/>
            <a:ext cx="3048000" cy="1181100"/>
          </a:xfrm>
          <a:prstGeom xmlns:a="http://schemas.openxmlformats.org/drawingml/2006/main" prst="roundRect">
            <a:avLst>
              <a:gd name="adj" fmla="val 9677"/>
            </a:avLst>
          </a:prstGeom>
          <a:solidFill xmlns:a="http://schemas.openxmlformats.org/drawingml/2006/main">
            <a:srgbClr val="FFF7ED"/>
          </a:solidFill>
          <a:ln xmlns:a="http://schemas.openxmlformats.org/drawingml/2006/main" w="9525">
            <a:solidFill>
              <a:srgbClr val="F97316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AA32CB4-415A-4CBC-9BFF-B354DAF18E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43450" y="1981200"/>
            <a:ext cx="2705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F97316"/>
                </a:solidFill>
              </a:defRPr>
            </a:pPr>
            <a:r>
              <a:rPr sz="1575" b="1">
                <a:solidFill>
                  <a:srgbClr val="F97316"/>
                </a:solidFill>
              </a:rPr>
              <a:t>可审计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BB08822-CE42-4064-BC1A-C814340E13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2362200"/>
            <a:ext cx="26289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SQLite Matrix 事件日志 + measured duration + DSSE 签名。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41318D2-02A2-4598-BCB1-0113EFE3F4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1809750"/>
            <a:ext cx="3048000" cy="1181100"/>
          </a:xfrm>
          <a:prstGeom xmlns:a="http://schemas.openxmlformats.org/drawingml/2006/main" prst="roundRect">
            <a:avLst>
              <a:gd name="adj" fmla="val 9677"/>
            </a:avLst>
          </a:prstGeom>
          <a:solidFill xmlns:a="http://schemas.openxmlformats.org/drawingml/2006/main">
            <a:srgbClr val="F0FDF4"/>
          </a:solidFill>
          <a:ln xmlns:a="http://schemas.openxmlformats.org/drawingml/2006/main" w="9525">
            <a:solidFill>
              <a:srgbClr val="16A34A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088A521-5237-4EA1-B0BE-F876699734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1981200"/>
            <a:ext cx="2705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16A34A"/>
                </a:solidFill>
              </a:defRPr>
            </a:pPr>
            <a:r>
              <a:rPr sz="1575" b="1">
                <a:solidFill>
                  <a:srgbClr val="16A34A"/>
                </a:solidFill>
              </a:rPr>
              <a:t>可拒答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7005B61-48F8-48B2-A937-5861F8E9F2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3450" y="2362200"/>
            <a:ext cx="26289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Badcase 不乱归因：abstain / indeterminate / blocked。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73754A6-F0BE-4FB8-8B88-667E15585C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3886200"/>
            <a:ext cx="1676400" cy="1028700"/>
          </a:xfrm>
          <a:prstGeom xmlns:a="http://schemas.openxmlformats.org/drawingml/2006/main" prst="roundRect">
            <a:avLst>
              <a:gd name="adj" fmla="val 740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F780CBB-3DA8-42D7-AF77-18528CACB2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4095750"/>
            <a:ext cx="1485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325" b="1">
                <a:solidFill>
                  <a:srgbClr val="DC2626"/>
                </a:solidFill>
              </a:defRPr>
            </a:pPr>
            <a:r>
              <a:rPr sz="2325" b="1">
                <a:solidFill>
                  <a:srgbClr val="DC2626"/>
                </a:solidFill>
              </a:rPr>
              <a:t>48.72%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5B489EE-4CD6-48DA-9F85-780D537EB8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4514850"/>
            <a:ext cx="1485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64748B"/>
                </a:solidFill>
              </a:defRPr>
            </a:pPr>
            <a:r>
              <a:rPr sz="1050" b="1">
                <a:solidFill>
                  <a:srgbClr val="64748B"/>
                </a:solidFill>
              </a:rPr>
              <a:t>Demo 基线失败率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B5E54C7-13C9-4F3F-B500-F006FFD9E7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3886200"/>
            <a:ext cx="1676400" cy="1028700"/>
          </a:xfrm>
          <a:prstGeom xmlns:a="http://schemas.openxmlformats.org/drawingml/2006/main" prst="roundRect">
            <a:avLst>
              <a:gd name="adj" fmla="val 740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407B409-459F-4116-95BB-9A6A79D938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4095750"/>
            <a:ext cx="1485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325" b="1">
                <a:solidFill>
                  <a:srgbClr val="F97316"/>
                </a:solidFill>
              </a:defRPr>
            </a:pPr>
            <a:r>
              <a:rPr sz="2325" b="1">
                <a:solidFill>
                  <a:srgbClr val="F97316"/>
                </a:solidFill>
              </a:rPr>
              <a:t>6.25%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3B2DE7F-55B6-47A3-A50C-07A3C7409A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4514850"/>
            <a:ext cx="1485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64748B"/>
                </a:solidFill>
              </a:defRPr>
            </a:pPr>
            <a:r>
              <a:rPr sz="1050" b="1">
                <a:solidFill>
                  <a:srgbClr val="64748B"/>
                </a:solidFill>
              </a:rPr>
              <a:t>补丁最坏失败率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16D07BA-2269-4B68-8D58-D1A499D2E5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3886200"/>
            <a:ext cx="1676400" cy="1028700"/>
          </a:xfrm>
          <a:prstGeom xmlns:a="http://schemas.openxmlformats.org/drawingml/2006/main" prst="roundRect">
            <a:avLst>
              <a:gd name="adj" fmla="val 740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9C863C6-A328-4434-BB4A-4194C6F0B3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81600" y="4095750"/>
            <a:ext cx="1485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325" b="1">
                <a:solidFill>
                  <a:srgbClr val="7C3AED"/>
                </a:solidFill>
              </a:defRPr>
            </a:pPr>
            <a:r>
              <a:rPr sz="2325" b="1">
                <a:solidFill>
                  <a:srgbClr val="7C3AED"/>
                </a:solidFill>
              </a:rPr>
              <a:t>8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D34E27C-037E-4774-9A08-9532771A1A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81600" y="4514850"/>
            <a:ext cx="1485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64748B"/>
                </a:solidFill>
              </a:defRPr>
            </a:pPr>
            <a:r>
              <a:rPr sz="1050" b="1">
                <a:solidFill>
                  <a:srgbClr val="64748B"/>
                </a:solidFill>
              </a:rPr>
              <a:t>强制故障变体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FE48C6A-2AFF-49F0-8953-08904B6B44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3886200"/>
            <a:ext cx="1676400" cy="1028700"/>
          </a:xfrm>
          <a:prstGeom xmlns:a="http://schemas.openxmlformats.org/drawingml/2006/main" prst="roundRect">
            <a:avLst>
              <a:gd name="adj" fmla="val 740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E9F99CF-16B9-41EC-B801-0C47B40315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4095750"/>
            <a:ext cx="1485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325" b="1">
                <a:solidFill>
                  <a:srgbClr val="2563EB"/>
                </a:solidFill>
              </a:defRPr>
            </a:pPr>
            <a:r>
              <a:rPr sz="2325" b="1">
                <a:solidFill>
                  <a:srgbClr val="2563EB"/>
                </a:solidFill>
              </a:rPr>
              <a:t>14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9149FD6-0982-490E-96D0-FC90BD6A5D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4514850"/>
            <a:ext cx="1485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64748B"/>
                </a:solidFill>
              </a:defRPr>
            </a:pPr>
            <a:r>
              <a:rPr sz="1050" b="1">
                <a:solidFill>
                  <a:srgbClr val="64748B"/>
                </a:solidFill>
              </a:rPr>
              <a:t>证据护照声明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04275F8-5336-4677-85C4-DC09B6BF8A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3886200"/>
            <a:ext cx="1676400" cy="1028700"/>
          </a:xfrm>
          <a:prstGeom xmlns:a="http://schemas.openxmlformats.org/drawingml/2006/main" prst="roundRect">
            <a:avLst>
              <a:gd name="adj" fmla="val 740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1C9B0A4-91C7-49DE-9C70-F4A447A755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4095750"/>
            <a:ext cx="1485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325" b="1">
                <a:solidFill>
                  <a:srgbClr val="16A34A"/>
                </a:solidFill>
              </a:defRPr>
            </a:pPr>
            <a:r>
              <a:rPr sz="2325" b="1">
                <a:solidFill>
                  <a:srgbClr val="16A34A"/>
                </a:solidFill>
              </a:rPr>
              <a:t>57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64510B7-7E41-4D97-B1BA-9A4E26791B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4514850"/>
            <a:ext cx="1485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64748B"/>
                </a:solidFill>
              </a:defRPr>
            </a:pPr>
            <a:r>
              <a:rPr sz="1050" b="1">
                <a:solidFill>
                  <a:srgbClr val="64748B"/>
                </a:solidFill>
              </a:rPr>
              <a:t>自动化测试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EE4EB48-5CAB-4AD3-BCB1-7D656D53F8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5391150"/>
            <a:ext cx="97917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101828"/>
                </a:solidFill>
              </a:defRPr>
            </a:pPr>
            <a:r>
              <a:rPr sz="1650" b="1">
                <a:solidFill>
                  <a:srgbClr val="101828"/>
                </a:solidFill>
              </a:rPr>
              <a:t>一句话：每个发布决定都能回答“谁做的、凭什么、失败怎么办”。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37FD70A8-99D0-4813-A4DB-BFAF607457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43650"/>
            <a:ext cx="685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64748B"/>
                </a:solidFill>
              </a:defRPr>
            </a:pPr>
            <a:r>
              <a:rPr sz="900" b="0">
                <a:solidFill>
                  <a:srgbClr val="64748B"/>
                </a:solidFill>
              </a:rPr>
              <a:t>AsoulAI ChronosFix / A-CFX · GOAI Agent Infra 复赛方案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8F1387C7-3AA4-42E0-88DF-C63EF902BD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43650"/>
            <a:ext cx="57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64748B"/>
                </a:solidFill>
              </a:defRPr>
            </a:pPr>
            <a:r>
              <a:rPr sz="900" b="0">
                <a:solidFill>
                  <a:srgbClr val="64748B"/>
                </a:solidFill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342216302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7B18F6B6-2F9D-4609-ADF1-A99D968706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F97316"/>
                </a:solidFill>
              </a:defRPr>
            </a:pPr>
            <a:r>
              <a:rPr sz="1125" b="1">
                <a:solidFill>
                  <a:srgbClr val="F97316"/>
                </a:solidFill>
              </a:rPr>
              <a:t>现场 · AgentTeams 多 Agent 协同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83B323F-A44C-49CE-A45E-BFFB7580EC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287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101828"/>
                </a:solidFill>
              </a:defRPr>
            </a:pPr>
            <a:r>
              <a:rPr sz="2850" b="1">
                <a:solidFill>
                  <a:srgbClr val="101828"/>
                </a:solidFill>
              </a:rPr>
              <a:t>本地 Controller：真的启动 Worker，不读取静态 JSON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B4FFD52-C0D9-4015-A97C-28A4D19995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333500"/>
            <a:ext cx="9906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64748B"/>
                </a:solidFill>
              </a:defRPr>
            </a:pPr>
            <a:r>
              <a:rPr sz="1350" b="0">
                <a:solidFill>
                  <a:srgbClr val="64748B"/>
                </a:solidFill>
              </a:rPr>
              <a:t>Manager 根据证据自由组合 Agent/Skill；本地 Controller 记录 PID、duration_ms、SQLite Matrix，官方 AgentTeams 仍明确标 pending。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FD1218B-FCCB-4026-B652-FFE5B65848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943100"/>
            <a:ext cx="1276350" cy="125730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07111F"/>
          </a:solidFill>
          <a:ln xmlns:a="http://schemas.openxmlformats.org/drawingml/2006/main" w="9525">
            <a:solidFill>
              <a:srgbClr val="07111F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CA28E87-3E04-4155-82B4-0AAA67A959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152650"/>
            <a:ext cx="1123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Manager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B5AD5F6-CE3E-4B69-AC3B-64974F54B8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28900"/>
            <a:ext cx="10096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125" b="0">
                <a:solidFill>
                  <a:srgbClr val="D7E3F5"/>
                </a:solidFill>
              </a:defRPr>
            </a:pPr>
            <a:r>
              <a:rPr sz="1125" b="0">
                <a:solidFill>
                  <a:srgbClr val="D7E3F5"/>
                </a:solidFill>
              </a:rPr>
              <a:t>入口路由 | run 状态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5CE7C6C-C8E2-46F8-9F16-637A429301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47850" y="2571750"/>
            <a:ext cx="285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14B8A6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A1EBA33-74E1-41BB-B1D8-BBEED03FAC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71700" y="1943100"/>
            <a:ext cx="1276350" cy="125730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972A2D0-9DB0-40FC-86A5-9776A8578A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900" y="2152650"/>
            <a:ext cx="1123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2563EB"/>
                </a:solidFill>
              </a:defRPr>
            </a:pPr>
            <a:r>
              <a:rPr sz="1200" b="1">
                <a:solidFill>
                  <a:srgbClr val="2563EB"/>
                </a:solidFill>
              </a:rPr>
              <a:t>Commander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207B1AA-F928-4B2C-ADD3-F0A1B90373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05050" y="2628900"/>
            <a:ext cx="10096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125" b="0">
                <a:solidFill>
                  <a:srgbClr val="101828"/>
                </a:solidFill>
              </a:defRPr>
            </a:pPr>
            <a:r>
              <a:rPr sz="1125" b="0">
                <a:solidFill>
                  <a:srgbClr val="101828"/>
                </a:solidFill>
              </a:rPr>
              <a:t>任务拆解 | 重派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87D95EE-153A-4F77-90A4-E47B706B5D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7100" y="2571750"/>
            <a:ext cx="285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14B8A6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CB38E11-53BB-4215-B166-8FF4EEF906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90950" y="1943100"/>
            <a:ext cx="1276350" cy="125730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776035E-0AE3-45A7-A4A9-81FAD79FC0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67150" y="2152650"/>
            <a:ext cx="1123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2563EB"/>
                </a:solidFill>
              </a:defRPr>
            </a:pPr>
            <a:r>
              <a:rPr sz="1200" b="1">
                <a:solidFill>
                  <a:srgbClr val="2563EB"/>
                </a:solidFill>
              </a:rPr>
              <a:t>Timeline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A0A45FD-43BB-4C1F-83DF-B0C0D48326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24300" y="2628900"/>
            <a:ext cx="10096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125" b="0">
                <a:solidFill>
                  <a:srgbClr val="101828"/>
                </a:solidFill>
              </a:defRPr>
            </a:pPr>
            <a:r>
              <a:rPr sz="1125" b="0">
                <a:solidFill>
                  <a:srgbClr val="101828"/>
                </a:solidFill>
              </a:rPr>
              <a:t>事件融合 | 时间线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68E5BA6-2405-4599-B17E-DEE22CB52D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2571750"/>
            <a:ext cx="285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14B8A6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D9C9C8D-4674-4C6D-A1A2-71692CD38A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0200" y="1943100"/>
            <a:ext cx="1276350" cy="125730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922DB74-9FC2-4D02-8D5D-FEFC7CDADF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0" y="2152650"/>
            <a:ext cx="1123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2563EB"/>
                </a:solidFill>
              </a:defRPr>
            </a:pPr>
            <a:r>
              <a:rPr sz="1200" b="1">
                <a:solidFill>
                  <a:srgbClr val="2563EB"/>
                </a:solidFill>
              </a:rPr>
              <a:t>Hypothesis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5EEE38D-E19D-4261-A573-3451B0D755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43550" y="2628900"/>
            <a:ext cx="10096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125" b="0">
                <a:solidFill>
                  <a:srgbClr val="101828"/>
                </a:solidFill>
              </a:defRPr>
            </a:pPr>
            <a:r>
              <a:rPr sz="1125" b="0">
                <a:solidFill>
                  <a:srgbClr val="101828"/>
                </a:solidFill>
              </a:rPr>
              <a:t>假设契约 | 可证伪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83293C8-F604-4EDF-A5FB-43AFC4650D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571750"/>
            <a:ext cx="285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14B8A6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A8A2544-DD6B-4BA3-91C7-3DFEBBA759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1943100"/>
            <a:ext cx="1276350" cy="125730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47E9EAF-7F83-4B39-B956-76B26D2606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5650" y="2152650"/>
            <a:ext cx="1123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2563EB"/>
                </a:solidFill>
              </a:defRPr>
            </a:pPr>
            <a:r>
              <a:rPr sz="1200" b="1">
                <a:solidFill>
                  <a:srgbClr val="2563EB"/>
                </a:solidFill>
              </a:rPr>
              <a:t>Universe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AA386FD-F5B0-40E2-8684-BB1D9EEACB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2628900"/>
            <a:ext cx="10096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125" b="0">
                <a:solidFill>
                  <a:srgbClr val="101828"/>
                </a:solidFill>
              </a:defRPr>
            </a:pPr>
            <a:r>
              <a:rPr sz="1125" b="0">
                <a:solidFill>
                  <a:srgbClr val="101828"/>
                </a:solidFill>
              </a:rPr>
              <a:t>反事实 | 故障基因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2FCE27A-98CD-4FA3-AC6C-344EA67901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2571750"/>
            <a:ext cx="285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14B8A6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7E02B9B-48F9-466C-AA17-392685F309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48700" y="1943100"/>
            <a:ext cx="1276350" cy="125730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E8FA35A-4A1D-4536-BA16-48AF5BD8EE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2152650"/>
            <a:ext cx="1123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2563EB"/>
                </a:solidFill>
              </a:defRPr>
            </a:pPr>
            <a:r>
              <a:rPr sz="1200" b="1">
                <a:solidFill>
                  <a:srgbClr val="2563EB"/>
                </a:solidFill>
              </a:rPr>
              <a:t>Patch / Verify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5C2ADA9-659C-4617-BC54-2D171F7640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82050" y="2628900"/>
            <a:ext cx="10096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125" b="0">
                <a:solidFill>
                  <a:srgbClr val="101828"/>
                </a:solidFill>
              </a:defRPr>
            </a:pPr>
            <a:r>
              <a:rPr sz="1125" b="0">
                <a:solidFill>
                  <a:srgbClr val="101828"/>
                </a:solidFill>
              </a:rPr>
              <a:t>补丁竞赛 | 隔离 CI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4D44C31-A383-4F4A-A262-732307B447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44100" y="2571750"/>
            <a:ext cx="285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14B8A6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FBE1FA04-33A1-4A42-A04B-A316627501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67950" y="1943100"/>
            <a:ext cx="1276350" cy="125730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5DB84AD-94DC-41B5-B046-A9883CFCC5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44150" y="2152650"/>
            <a:ext cx="1123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2563EB"/>
                </a:solidFill>
              </a:defRPr>
            </a:pPr>
            <a:r>
              <a:rPr sz="1200" b="1">
                <a:solidFill>
                  <a:srgbClr val="2563EB"/>
                </a:solidFill>
              </a:rPr>
              <a:t>Audit / Curate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444E7578-C80C-45C5-8CB1-FE5D981877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01300" y="2628900"/>
            <a:ext cx="10096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125" b="0">
                <a:solidFill>
                  <a:srgbClr val="101828"/>
                </a:solidFill>
              </a:defRPr>
            </a:pPr>
            <a:r>
              <a:rPr sz="1125" b="0">
                <a:solidFill>
                  <a:srgbClr val="101828"/>
                </a:solidFill>
              </a:rPr>
              <a:t>门禁审计 | Skill 沉淀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F532F961-543D-4D4B-BC57-C01847966B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4057650"/>
            <a:ext cx="2781300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ECFEFF"/>
          </a:solidFill>
          <a:ln xmlns:a="http://schemas.openxmlformats.org/drawingml/2006/main" w="9525">
            <a:solidFill>
              <a:srgbClr val="14B8A6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9E1F882D-BBC9-4EAF-990D-BF3884131F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4229100"/>
            <a:ext cx="2438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14B8A6"/>
                </a:solidFill>
              </a:defRPr>
            </a:pPr>
            <a:r>
              <a:rPr sz="1575" b="1">
                <a:solidFill>
                  <a:srgbClr val="14B8A6"/>
                </a:solidFill>
              </a:rPr>
              <a:t>一次现场演示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9B51D9C6-75DF-49AD-94D3-11797C03B5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610100"/>
            <a:ext cx="23622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Worker #01 超时 → #02 接管，两个 PID、两个 attempt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DE11126B-F434-48C3-9724-993EE9EC15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4057650"/>
            <a:ext cx="2781300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F5F3FF"/>
          </a:solidFill>
          <a:ln xmlns:a="http://schemas.openxmlformats.org/drawingml/2006/main" w="9525">
            <a:solidFill>
              <a:srgbClr val="7C3AED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5C4D1816-45B3-4801-ACE5-D055713617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4229100"/>
            <a:ext cx="2438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7C3AED"/>
                </a:solidFill>
              </a:defRPr>
            </a:pPr>
            <a:r>
              <a:rPr sz="1575" b="1">
                <a:solidFill>
                  <a:srgbClr val="7C3AED"/>
                </a:solidFill>
              </a:rPr>
              <a:t>状态可追溯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8A0507FF-81AC-4D54-8659-9B6F9405AD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4610100"/>
            <a:ext cx="23622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revision + dedup_key 防止重复事件污染状态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CC66DADB-94B3-41DD-A9DC-1CE0FC208E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4057650"/>
            <a:ext cx="2781300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FFF7ED"/>
          </a:solidFill>
          <a:ln xmlns:a="http://schemas.openxmlformats.org/drawingml/2006/main" w="9525">
            <a:solidFill>
              <a:srgbClr val="F97316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0AC6799C-ADC1-4DD6-B729-EDC79C048A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4229100"/>
            <a:ext cx="2438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F97316"/>
                </a:solidFill>
              </a:defRPr>
            </a:pPr>
            <a:r>
              <a:rPr sz="1575" b="1">
                <a:solidFill>
                  <a:srgbClr val="F97316"/>
                </a:solidFill>
              </a:rPr>
              <a:t>真值边界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2F52E1E4-9685-4219-BE37-C242D0B923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4610100"/>
            <a:ext cx="23622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local executed / official AgentTeams pending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26CE66DE-2185-4AA6-8F7F-92AF3F243F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43650"/>
            <a:ext cx="685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64748B"/>
                </a:solidFill>
              </a:defRPr>
            </a:pPr>
            <a:r>
              <a:rPr sz="900" b="0">
                <a:solidFill>
                  <a:srgbClr val="64748B"/>
                </a:solidFill>
              </a:rPr>
              <a:t>AsoulAI ChronosFix / A-CFX · GOAI Agent Infra 复赛方案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0478100A-72B4-4AB1-B888-93E3C2D104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43650"/>
            <a:ext cx="57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64748B"/>
                </a:solidFill>
              </a:defRPr>
            </a:pPr>
            <a:r>
              <a:rPr sz="900" b="0">
                <a:solidFill>
                  <a:srgbClr val="64748B"/>
                </a:solidFill>
              </a:rPr>
              <a:t>08</a:t>
            </a:r>
          </a:p>
        </p:txBody>
      </p:sp>
    </p:spTree>
    <p:extLst>
      <p:ext uri="{BB962C8B-B14F-4D97-AF65-F5344CB8AC3E}">
        <p14:creationId xmlns:p14="http://schemas.microsoft.com/office/powerpoint/2010/main" val="18483352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913A64E-3859-42DA-BD3B-86BB07CE8A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F97316"/>
                </a:solidFill>
              </a:defRPr>
            </a:pPr>
            <a:r>
              <a:rPr sz="1125" b="1">
                <a:solidFill>
                  <a:srgbClr val="F97316"/>
                </a:solidFill>
              </a:rPr>
              <a:t>证据链 · 补丁先过隔离 CI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EAA9548-23AA-4708-8679-B1D3AC1093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287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101828"/>
                </a:solidFill>
              </a:defRPr>
            </a:pPr>
            <a:r>
              <a:rPr sz="2850" b="1">
                <a:solidFill>
                  <a:srgbClr val="101828"/>
                </a:solidFill>
              </a:rPr>
              <a:t>每次运行不是截图，而是可验证的变更证明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456553F-9E6A-448A-A83C-BACDB98349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333500"/>
            <a:ext cx="9906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64748B"/>
                </a:solidFill>
              </a:defRPr>
            </a:pPr>
            <a:r>
              <a:rPr sz="1350" b="0">
                <a:solidFill>
                  <a:srgbClr val="64748B"/>
                </a:solidFill>
              </a:rPr>
              <a:t>Trace、checks、RiskGate、run-manifest 与 DSSE 共同绑定同一 run_id。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B52DB25-A175-4B54-B33A-C45F3287E5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790700"/>
            <a:ext cx="2381250" cy="1333500"/>
          </a:xfrm>
          <a:prstGeom xmlns:a="http://schemas.openxmlformats.org/drawingml/2006/main" prst="roundRect">
            <a:avLst>
              <a:gd name="adj" fmla="val 8571"/>
            </a:avLst>
          </a:prstGeom>
          <a:solidFill xmlns:a="http://schemas.openxmlformats.org/drawingml/2006/main">
            <a:srgbClr val="EFF6FF"/>
          </a:solidFill>
          <a:ln xmlns:a="http://schemas.openxmlformats.org/drawingml/2006/main" w="9525">
            <a:solidFill>
              <a:srgbClr val="2563EB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3E1EB2F-1B90-43E3-932A-035BEA11D5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962150"/>
            <a:ext cx="2038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2563EB"/>
                </a:solidFill>
              </a:defRPr>
            </a:pPr>
            <a:r>
              <a:rPr sz="1575" b="1">
                <a:solidFill>
                  <a:srgbClr val="2563EB"/>
                </a:solidFill>
              </a:rPr>
              <a:t>Trace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EC0FB0E-B551-4579-B7F6-692523753A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343150"/>
            <a:ext cx="19621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真实 PID、起止时间、duration_ms、parent span；可导出 OTLP JSON。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805190C-27F3-439B-A7EE-B5E48D317C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1790700"/>
            <a:ext cx="2381250" cy="1333500"/>
          </a:xfrm>
          <a:prstGeom xmlns:a="http://schemas.openxmlformats.org/drawingml/2006/main" prst="roundRect">
            <a:avLst>
              <a:gd name="adj" fmla="val 8571"/>
            </a:avLst>
          </a:prstGeom>
          <a:solidFill xmlns:a="http://schemas.openxmlformats.org/drawingml/2006/main">
            <a:srgbClr val="ECFEFF"/>
          </a:solidFill>
          <a:ln xmlns:a="http://schemas.openxmlformats.org/drawingml/2006/main" w="9525">
            <a:solidFill>
              <a:srgbClr val="14B8A6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FC19F9C-61A2-4081-B533-1743F55551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1962150"/>
            <a:ext cx="2038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14B8A6"/>
                </a:solidFill>
              </a:defRPr>
            </a:pPr>
            <a:r>
              <a:rPr sz="1575" b="1">
                <a:solidFill>
                  <a:srgbClr val="14B8A6"/>
                </a:solidFill>
              </a:rPr>
              <a:t>隔离 CI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E922F0A-8D71-470E-96FF-F4BB7305A5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1900" y="2343150"/>
            <a:ext cx="19621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临时 checkout + 允许路径白名单；补丁前测试失败、应用后通过、反向补丁复原。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6E9EEB9-3540-4BE7-86AE-C548ABD04E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1790700"/>
            <a:ext cx="2381250" cy="1333500"/>
          </a:xfrm>
          <a:prstGeom xmlns:a="http://schemas.openxmlformats.org/drawingml/2006/main" prst="roundRect">
            <a:avLst>
              <a:gd name="adj" fmla="val 8571"/>
            </a:avLst>
          </a:prstGeom>
          <a:solidFill xmlns:a="http://schemas.openxmlformats.org/drawingml/2006/main">
            <a:srgbClr val="F5F3FF"/>
          </a:solidFill>
          <a:ln xmlns:a="http://schemas.openxmlformats.org/drawingml/2006/main" w="9525">
            <a:solidFill>
              <a:srgbClr val="7C3AED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3974A66-2262-4C25-86C2-C7D76817AB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1962150"/>
            <a:ext cx="2038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7C3AED"/>
                </a:solidFill>
              </a:defRPr>
            </a:pPr>
            <a:r>
              <a:rPr sz="1575" b="1">
                <a:solidFill>
                  <a:srgbClr val="7C3AED"/>
                </a:solidFill>
              </a:rPr>
              <a:t>RiskGate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212342A-44BA-4040-9822-F57B7B4EA5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2343150"/>
            <a:ext cx="19621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质量证据不完整、审批过期或工具被拒绝时，发布保持 blocked。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BE0EB7F-C661-486A-BA85-4217877344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1790700"/>
            <a:ext cx="2381250" cy="1333500"/>
          </a:xfrm>
          <a:prstGeom xmlns:a="http://schemas.openxmlformats.org/drawingml/2006/main" prst="roundRect">
            <a:avLst>
              <a:gd name="adj" fmla="val 8571"/>
            </a:avLst>
          </a:prstGeom>
          <a:solidFill xmlns:a="http://schemas.openxmlformats.org/drawingml/2006/main">
            <a:srgbClr val="FFF7ED"/>
          </a:solidFill>
          <a:ln xmlns:a="http://schemas.openxmlformats.org/drawingml/2006/main" w="9525">
            <a:solidFill>
              <a:srgbClr val="F97316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46E8B7E-82F4-4AFA-86BF-581F797488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1962150"/>
            <a:ext cx="2038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F97316"/>
                </a:solidFill>
              </a:defRPr>
            </a:pPr>
            <a:r>
              <a:rPr sz="1575" b="1">
                <a:solidFill>
                  <a:srgbClr val="F97316"/>
                </a:solidFill>
              </a:rPr>
              <a:t>Run Manifest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A9255F1-333B-4E77-BFD9-56855BA443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2343150"/>
            <a:ext cx="19621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文件 SHA-256、source commit、测试摘要与边界声明全部可复核。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F4C0A35-0238-48DB-825E-24B8586D3C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40576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4B8A6"/>
          </a:solidFill>
          <a:ln xmlns:a="http://schemas.openxmlformats.org/drawingml/2006/main" w="9525">
            <a:solidFill>
              <a:srgbClr val="14B8A6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98FAE8B-6825-4CF1-85B1-01D26F04FD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3962400"/>
            <a:ext cx="91249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101828"/>
                </a:solidFill>
              </a:defRPr>
            </a:pPr>
            <a:r>
              <a:rPr sz="1575" b="0">
                <a:solidFill>
                  <a:srgbClr val="101828"/>
                </a:solidFill>
              </a:rPr>
              <a:t>Measured 与 derived 分开；没有真实外部调用就不伪造 success_rate。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06398F4-9428-4BF9-A56B-A7DBCA0A15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44767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4B8A6"/>
          </a:solidFill>
          <a:ln xmlns:a="http://schemas.openxmlformats.org/drawingml/2006/main" w="9525">
            <a:solidFill>
              <a:srgbClr val="14B8A6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15BDAFA-661B-42EB-B4BF-C996580466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4381500"/>
            <a:ext cx="91249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101828"/>
                </a:solidFill>
              </a:defRPr>
            </a:pPr>
            <a:r>
              <a:rPr sz="1575" b="0">
                <a:solidFill>
                  <a:srgbClr val="101828"/>
                </a:solidFill>
              </a:rPr>
              <a:t>PR 草案只读取已选 changes、rollback、checks 与 gate。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E0BAF8D-9BE4-4CC8-9B68-EC9110AA29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48958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4B8A6"/>
          </a:solidFill>
          <a:ln xmlns:a="http://schemas.openxmlformats.org/drawingml/2006/main" w="9525">
            <a:solidFill>
              <a:srgbClr val="14B8A6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BB47387-283F-421F-89D1-983E26A694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4800600"/>
            <a:ext cx="91249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101828"/>
                </a:solidFill>
              </a:defRPr>
            </a:pPr>
            <a:r>
              <a:rPr sz="1575" b="0">
                <a:solidFill>
                  <a:srgbClr val="101828"/>
                </a:solidFill>
              </a:rPr>
              <a:t>证明载体：evidence/ + DSSE envelope + local-infra report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2B7E1EA-ABAE-485F-A9D1-B47FCA430E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43650"/>
            <a:ext cx="685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64748B"/>
                </a:solidFill>
              </a:defRPr>
            </a:pPr>
            <a:r>
              <a:rPr sz="900" b="0">
                <a:solidFill>
                  <a:srgbClr val="64748B"/>
                </a:solidFill>
              </a:rPr>
              <a:t>AsoulAI ChronosFix / A-CFX · GOAI Agent Infra 复赛方案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218E55C-C7CD-418A-813C-90AA0B0E23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43650"/>
            <a:ext cx="57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64748B"/>
                </a:solidFill>
              </a:defRPr>
            </a:pPr>
            <a:r>
              <a:rPr sz="900" b="0">
                <a:solidFill>
                  <a:srgbClr val="64748B"/>
                </a:solidFill>
              </a:rPr>
              <a:t>16</a:t>
            </a:r>
          </a:p>
        </p:txBody>
      </p:sp>
    </p:spTree>
    <p:extLst>
      <p:ext uri="{BB962C8B-B14F-4D97-AF65-F5344CB8AC3E}">
        <p14:creationId xmlns:p14="http://schemas.microsoft.com/office/powerpoint/2010/main" val="1612345063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93498559-CDA6-4343-AF39-3C42912190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F97316"/>
                </a:solidFill>
              </a:defRPr>
            </a:pPr>
            <a:r>
              <a:rPr sz="1125" b="1">
                <a:solidFill>
                  <a:srgbClr val="F97316"/>
                </a:solidFill>
              </a:rPr>
              <a:t>现场按钮 · 失败就停，证据才继续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3B36364-832D-4913-B2A2-49229CBF29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287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101828"/>
                </a:solidFill>
              </a:defRPr>
            </a:pPr>
            <a:r>
              <a:rPr sz="2850" b="1">
                <a:solidFill>
                  <a:srgbClr val="101828"/>
                </a:solidFill>
              </a:rPr>
              <a:t>三次点击把复杂边界变成可观察状态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ED5A2CC-01D7-4B89-B41A-28F206E4D8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333500"/>
            <a:ext cx="9906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64748B"/>
                </a:solidFill>
              </a:defRPr>
            </a:pPr>
            <a:r>
              <a:rPr sz="1350" b="0">
                <a:solidFill>
                  <a:srgbClr val="64748B"/>
                </a:solidFill>
              </a:rPr>
              <a:t>Worker 失败重派｜新证据插入｜旧审批失效｜Badcase 拒答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18866D5-DC47-4B51-AE2E-DB241FC3D7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790700"/>
            <a:ext cx="2857500" cy="1219200"/>
          </a:xfrm>
          <a:prstGeom xmlns:a="http://schemas.openxmlformats.org/drawingml/2006/main" prst="roundRect">
            <a:avLst>
              <a:gd name="adj" fmla="val 9375"/>
            </a:avLst>
          </a:prstGeom>
          <a:solidFill xmlns:a="http://schemas.openxmlformats.org/drawingml/2006/main">
            <a:srgbClr val="EFF6FF"/>
          </a:solidFill>
          <a:ln xmlns:a="http://schemas.openxmlformats.org/drawingml/2006/main" w="9525">
            <a:solidFill>
              <a:srgbClr val="2563EB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B904296-68D0-481B-9985-4B277404BD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1962150"/>
            <a:ext cx="2514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2563EB"/>
                </a:solidFill>
              </a:defRPr>
            </a:pPr>
            <a:r>
              <a:rPr sz="1575" b="1">
                <a:solidFill>
                  <a:srgbClr val="2563EB"/>
                </a:solidFill>
              </a:rPr>
              <a:t>按钮 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EF2EB36-59F2-458F-8773-CFB843282C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343150"/>
            <a:ext cx="24384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timeout/crash → 备份实例；记录两个 PID 与 attempt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503A94C-4FFD-424C-88DE-67849D10CA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1790700"/>
            <a:ext cx="2857500" cy="1219200"/>
          </a:xfrm>
          <a:prstGeom xmlns:a="http://schemas.openxmlformats.org/drawingml/2006/main" prst="roundRect">
            <a:avLst>
              <a:gd name="adj" fmla="val 9375"/>
            </a:avLst>
          </a:prstGeom>
          <a:solidFill xmlns:a="http://schemas.openxmlformats.org/drawingml/2006/main">
            <a:srgbClr val="ECFEFF"/>
          </a:solidFill>
          <a:ln xmlns:a="http://schemas.openxmlformats.org/drawingml/2006/main" w="9525">
            <a:solidFill>
              <a:srgbClr val="14B8A6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A0930CE-1745-473B-87D5-B2E3077860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38700" y="1962150"/>
            <a:ext cx="2514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14B8A6"/>
                </a:solidFill>
              </a:defRPr>
            </a:pPr>
            <a:r>
              <a:rPr sz="1575" b="1">
                <a:solidFill>
                  <a:srgbClr val="14B8A6"/>
                </a:solidFill>
              </a:rPr>
              <a:t>按钮 2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08D6E01-6FBA-4ACB-A5AC-C88983DFEA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6800" y="2343150"/>
            <a:ext cx="24384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evidence-insert → 动态任务 + revision 增长 + 重新评估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DB5A47F-F998-41D0-9F15-91D199DAA3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1790700"/>
            <a:ext cx="2857500" cy="1219200"/>
          </a:xfrm>
          <a:prstGeom xmlns:a="http://schemas.openxmlformats.org/drawingml/2006/main" prst="roundRect">
            <a:avLst>
              <a:gd name="adj" fmla="val 9375"/>
            </a:avLst>
          </a:prstGeom>
          <a:solidFill xmlns:a="http://schemas.openxmlformats.org/drawingml/2006/main">
            <a:srgbClr val="FFF7ED"/>
          </a:solidFill>
          <a:ln xmlns:a="http://schemas.openxmlformats.org/drawingml/2006/main" w="9525">
            <a:solidFill>
              <a:srgbClr val="F97316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C1EBF84-BCAC-4351-A4BA-E1B1FB5F4D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1962150"/>
            <a:ext cx="2514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F97316"/>
                </a:solidFill>
              </a:defRPr>
            </a:pPr>
            <a:r>
              <a:rPr sz="1575" b="1">
                <a:solidFill>
                  <a:srgbClr val="F97316"/>
                </a:solidFill>
              </a:rPr>
              <a:t>按钮 3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ED00B52-62A8-4205-AEB6-35CCF28EE6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2343150"/>
            <a:ext cx="24384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stale-approval → 拒绝旧 revision；必须重新审批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47880F9-E26E-4BFB-A361-420DB8564A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3619500"/>
            <a:ext cx="3048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B33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823B2DA-809B-40BD-AE18-54C90D3715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3733800"/>
            <a:ext cx="2819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Badcase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4C9B9CA-11E7-4BEB-96EE-5C21F809FE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3619500"/>
            <a:ext cx="3048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B33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9DC68D1-8AF8-43DC-8A27-4C3D28DE66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3733800"/>
            <a:ext cx="2819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不支持根因 / 来源冲突 → abstain 或 indeterminate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39487AD-C7CC-4A09-AAB2-AE12A531CC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3619500"/>
            <a:ext cx="3048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B33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4231BA2-750B-43A3-925C-8BF140E8AB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3733800"/>
            <a:ext cx="2819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发布结果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C5C7297-320A-47B4-B111-4E685A4381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4076700"/>
            <a:ext cx="3048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531BDF0-2429-42A2-938D-12925E6662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4191000"/>
            <a:ext cx="2819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0">
                <a:solidFill>
                  <a:srgbClr val="101828"/>
                </a:solidFill>
              </a:defRPr>
            </a:pPr>
            <a:r>
              <a:rPr sz="1050" b="0">
                <a:solidFill>
                  <a:srgbClr val="101828"/>
                </a:solidFill>
              </a:rPr>
              <a:t>阻断，不生成 patch / PR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85952F3-FB75-418F-BC61-44F0DECE79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4076700"/>
            <a:ext cx="3048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CEED93F-87AB-4EA7-A954-F51EF2C51F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4191000"/>
            <a:ext cx="2819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0">
                <a:solidFill>
                  <a:srgbClr val="101828"/>
                </a:solidFill>
              </a:defRPr>
            </a:pPr>
            <a:r>
              <a:rPr sz="1050" b="0">
                <a:solidFill>
                  <a:srgbClr val="101828"/>
                </a:solidFill>
              </a:rPr>
              <a:t>code-regression → abstain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C3ABE24-241B-47C5-98CE-E33D0A208C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4076700"/>
            <a:ext cx="3048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A5D4954-4C88-411A-BC2F-E20E03C58A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4191000"/>
            <a:ext cx="2819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0">
                <a:solidFill>
                  <a:srgbClr val="101828"/>
                </a:solidFill>
              </a:defRPr>
            </a:pPr>
            <a:r>
              <a:rPr sz="1050" b="0">
                <a:solidFill>
                  <a:srgbClr val="101828"/>
                </a:solidFill>
              </a:rPr>
              <a:t>blocked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C64A04B-3C2F-4012-82C4-B38010FA4A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4533900"/>
            <a:ext cx="3048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4AC68AF-A7DC-4FF4-AEAF-D97C2BDEA3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4648200"/>
            <a:ext cx="2819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0">
                <a:solidFill>
                  <a:srgbClr val="101828"/>
                </a:solidFill>
              </a:defRPr>
            </a:pPr>
            <a:r>
              <a:rPr sz="1050" b="0">
                <a:solidFill>
                  <a:srgbClr val="101828"/>
                </a:solidFill>
              </a:rPr>
              <a:t>queue-backlog → abstain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5D7E4D6-966D-415A-A551-EA74981B33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4533900"/>
            <a:ext cx="3048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19045FE-7DA2-412D-BEF0-9B3DA5DCFF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4648200"/>
            <a:ext cx="2819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0">
                <a:solidFill>
                  <a:srgbClr val="101828"/>
                </a:solidFill>
              </a:defRPr>
            </a:pPr>
            <a:r>
              <a:rPr sz="1050" b="0">
                <a:solidFill>
                  <a:srgbClr val="101828"/>
                </a:solidFill>
              </a:rPr>
              <a:t>conflicting-sources → indeterminate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203E951-5C2B-45AB-8D61-60D2933507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4533900"/>
            <a:ext cx="3048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891D7D40-3FB4-4103-9C91-DF8294847C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4648200"/>
            <a:ext cx="2819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0">
                <a:solidFill>
                  <a:srgbClr val="101828"/>
                </a:solidFill>
              </a:defRPr>
            </a:pPr>
            <a:r>
              <a:rPr sz="1050" b="0">
                <a:solidFill>
                  <a:srgbClr val="101828"/>
                </a:solidFill>
              </a:rPr>
              <a:t>等待来源级证据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7B3440A6-55FA-45C7-BE3B-12FEDC9D57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4991100"/>
            <a:ext cx="3048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54C86A94-0CBC-476A-A293-FA6394C965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5105400"/>
            <a:ext cx="2819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0">
                <a:solidFill>
                  <a:srgbClr val="101828"/>
                </a:solidFill>
              </a:defRPr>
            </a:pPr>
            <a:r>
              <a:rPr sz="1050" b="0">
                <a:solidFill>
                  <a:srgbClr val="101828"/>
                </a:solidFill>
              </a:rPr>
              <a:t>公开事故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31EDB9C7-9866-4324-BFB5-9B623B7E74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4991100"/>
            <a:ext cx="3048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C0A75813-15A8-4DB7-992B-EB9AB7C51B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5105400"/>
            <a:ext cx="2819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0">
                <a:solidFill>
                  <a:srgbClr val="101828"/>
                </a:solidFill>
              </a:defRPr>
            </a:pPr>
            <a:r>
              <a:rPr sz="1050" b="0">
                <a:solidFill>
                  <a:srgbClr val="101828"/>
                </a:solidFill>
              </a:rPr>
              <a:t>Cloudflare 2019 WAF regex：事实与项目推断分栏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AB12686D-89BB-4F73-883A-4B4ACF74E5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4991100"/>
            <a:ext cx="3048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BCFC5696-096C-4E31-83A3-F70E6CA10E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5105400"/>
            <a:ext cx="2819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0">
                <a:solidFill>
                  <a:srgbClr val="101828"/>
                </a:solidFill>
              </a:defRPr>
            </a:pPr>
            <a:r>
              <a:rPr sz="1050" b="0">
                <a:solidFill>
                  <a:srgbClr val="101828"/>
                </a:solidFill>
              </a:rPr>
              <a:t>只读来源，不冒充生产事故日志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EDE94CCF-FCBB-4029-BF4D-8408C4471D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43650"/>
            <a:ext cx="685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64748B"/>
                </a:solidFill>
              </a:defRPr>
            </a:pPr>
            <a:r>
              <a:rPr sz="900" b="0">
                <a:solidFill>
                  <a:srgbClr val="64748B"/>
                </a:solidFill>
              </a:rPr>
              <a:t>AsoulAI ChronosFix / A-CFX · GOAI Agent Infra 复赛方案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D8E358A3-0D1D-4450-9D9A-BE6D597677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43650"/>
            <a:ext cx="57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64748B"/>
                </a:solidFill>
              </a:defRPr>
            </a:pPr>
            <a:r>
              <a:rPr sz="900" b="0">
                <a:solidFill>
                  <a:srgbClr val="64748B"/>
                </a:solidFill>
              </a:rPr>
              <a:t>18</a:t>
            </a:r>
          </a:p>
        </p:txBody>
      </p:sp>
    </p:spTree>
    <p:extLst>
      <p:ext uri="{BB962C8B-B14F-4D97-AF65-F5344CB8AC3E}">
        <p14:creationId xmlns:p14="http://schemas.microsoft.com/office/powerpoint/2010/main" val="2092132567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D1B84F2-61C8-4C1A-858D-D03B176084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F97316"/>
                </a:solidFill>
              </a:defRPr>
            </a:pPr>
            <a:r>
              <a:rPr sz="1125" b="1">
                <a:solidFill>
                  <a:srgbClr val="F97316"/>
                </a:solidFill>
              </a:rPr>
              <a:t>交付 · 现在能验收，下一步能迁移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C730797-E4E0-4BCF-AE8C-2A49EEF546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287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101828"/>
                </a:solidFill>
              </a:defRPr>
            </a:pPr>
            <a:r>
              <a:rPr sz="2850" b="1">
                <a:solidFill>
                  <a:srgbClr val="101828"/>
                </a:solidFill>
              </a:rPr>
              <a:t>AsoulAI ChronosFix：把每次修复变成可携带证明的变更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85571A1-8249-4B12-B656-054A23C78B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333500"/>
            <a:ext cx="9906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64748B"/>
                </a:solidFill>
              </a:defRPr>
            </a:pPr>
            <a:r>
              <a:rPr sz="1350" b="0">
                <a:solidFill>
                  <a:srgbClr val="64748B"/>
                </a:solidFill>
              </a:rPr>
              <a:t>代码、Demo、评测、Trace、审计与边界声明可独立复核。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2E00A48-5771-4B87-BAB4-57060752A3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790700"/>
            <a:ext cx="2190750" cy="1009650"/>
          </a:xfrm>
          <a:prstGeom xmlns:a="http://schemas.openxmlformats.org/drawingml/2006/main" prst="roundRect">
            <a:avLst>
              <a:gd name="adj" fmla="val 11321"/>
            </a:avLst>
          </a:prstGeom>
          <a:solidFill xmlns:a="http://schemas.openxmlformats.org/drawingml/2006/main">
            <a:srgbClr val="EFF6FF"/>
          </a:solidFill>
          <a:ln xmlns:a="http://schemas.openxmlformats.org/drawingml/2006/main" w="9525">
            <a:solidFill>
              <a:srgbClr val="2563EB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D9D5316-3E6D-493A-9BA4-5986FAAFF7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1962150"/>
            <a:ext cx="18478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2563EB"/>
                </a:solidFill>
              </a:defRPr>
            </a:pPr>
            <a:r>
              <a:rPr sz="1575" b="1">
                <a:solidFill>
                  <a:srgbClr val="2563EB"/>
                </a:solidFill>
              </a:rPr>
              <a:t>本地已执行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C7F4A4D-89EA-4F03-A553-E88ED9C48D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343150"/>
            <a:ext cx="17716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Controller + SQLite Matrix + 隔离补丁 CI + DSSE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DC6F9CD-3F75-4A48-98C4-6CFF756A2B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1790700"/>
            <a:ext cx="3143250" cy="1009650"/>
          </a:xfrm>
          <a:prstGeom xmlns:a="http://schemas.openxmlformats.org/drawingml/2006/main" prst="roundRect">
            <a:avLst>
              <a:gd name="adj" fmla="val 11321"/>
            </a:avLst>
          </a:prstGeom>
          <a:solidFill xmlns:a="http://schemas.openxmlformats.org/drawingml/2006/main">
            <a:srgbClr val="ECFEFF"/>
          </a:solidFill>
          <a:ln xmlns:a="http://schemas.openxmlformats.org/drawingml/2006/main" w="9525">
            <a:solidFill>
              <a:srgbClr val="14B8A6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C970F44-1FC8-4921-BF41-B36DC5079C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1962150"/>
            <a:ext cx="2800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14B8A6"/>
                </a:solidFill>
              </a:defRPr>
            </a:pPr>
            <a:r>
              <a:rPr sz="1575" b="1">
                <a:solidFill>
                  <a:srgbClr val="14B8A6"/>
                </a:solidFill>
              </a:rPr>
              <a:t>证据包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1D75DB2-57C8-4BC6-9EA9-8989317541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1900" y="2343150"/>
            <a:ext cx="27241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14 条声明；release identity 由同一 manifest 绑定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713E6CE-B52A-4ABB-A162-6C784E14F4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1790700"/>
            <a:ext cx="4000500" cy="1009650"/>
          </a:xfrm>
          <a:prstGeom xmlns:a="http://schemas.openxmlformats.org/drawingml/2006/main" prst="roundRect">
            <a:avLst>
              <a:gd name="adj" fmla="val 11321"/>
            </a:avLst>
          </a:prstGeom>
          <a:solidFill xmlns:a="http://schemas.openxmlformats.org/drawingml/2006/main">
            <a:srgbClr val="F0FDF4"/>
          </a:solidFill>
          <a:ln xmlns:a="http://schemas.openxmlformats.org/drawingml/2006/main" w="9525">
            <a:solidFill>
              <a:srgbClr val="16A34A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59B6A29-7CA9-4C6A-8590-51098F7A9E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1962150"/>
            <a:ext cx="3657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16A34A"/>
                </a:solidFill>
              </a:defRPr>
            </a:pPr>
            <a:r>
              <a:rPr sz="1575" b="1">
                <a:solidFill>
                  <a:srgbClr val="16A34A"/>
                </a:solidFill>
              </a:rPr>
              <a:t>现场 Demo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57E9A99-4019-492B-A6A4-04C4A06ED9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2343150"/>
            <a:ext cx="35814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repair-cockpit/ · 三个动作按钮 + Badcase 拒答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F55ABEC-DB60-4EDA-91BB-8711BECFA4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3429000"/>
            <a:ext cx="4267200" cy="590550"/>
          </a:xfrm>
          <a:prstGeom xmlns:a="http://schemas.openxmlformats.org/drawingml/2006/main" prst="roundRect">
            <a:avLst>
              <a:gd name="adj" fmla="val 1290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2563EB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6C5FB3B-B73D-4B9E-A934-28107962B6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3600450"/>
            <a:ext cx="1047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2563EB"/>
                </a:solidFill>
              </a:defRPr>
            </a:pPr>
            <a:r>
              <a:rPr sz="1275" b="1">
                <a:solidFill>
                  <a:srgbClr val="2563EB"/>
                </a:solidFill>
              </a:rPr>
              <a:t>真实边界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87FBA4B-BC6D-4381-9391-0D67A3E6B2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3600450"/>
            <a:ext cx="2724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101828"/>
                </a:solidFill>
              </a:defRPr>
            </a:pPr>
            <a:r>
              <a:rPr sz="1125" b="0">
                <a:solidFill>
                  <a:srgbClr val="101828"/>
                </a:solidFill>
              </a:rPr>
              <a:t>AgentTeams/Matrix、RocketMQ、PolarDB、Nacos、Higress、Trace 平台待接入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42D0971-E418-4BF6-95EB-535E1BAD5B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3429000"/>
            <a:ext cx="4267200" cy="590550"/>
          </a:xfrm>
          <a:prstGeom xmlns:a="http://schemas.openxmlformats.org/drawingml/2006/main" prst="roundRect">
            <a:avLst>
              <a:gd name="adj" fmla="val 1290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F97316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EAFBEF8-87D5-47B2-9003-AC3580B27C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3600450"/>
            <a:ext cx="1047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F97316"/>
                </a:solidFill>
              </a:defRPr>
            </a:pPr>
            <a:r>
              <a:rPr sz="1275" b="1">
                <a:solidFill>
                  <a:srgbClr val="F97316"/>
                </a:solidFill>
              </a:rPr>
              <a:t>复赛材料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9732FC2-ED46-42EF-A00B-23BDCD801A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91400" y="3600450"/>
            <a:ext cx="2724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101828"/>
                </a:solidFill>
              </a:defRPr>
            </a:pPr>
            <a:r>
              <a:rPr sz="1125" b="0">
                <a:solidFill>
                  <a:srgbClr val="101828"/>
                </a:solidFill>
              </a:rPr>
              <a:t>90 秒 PPTX / 矢量 PDF / ZIP / Git commit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89FA537-CBBC-4CAA-9302-959AC903EA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4248150"/>
            <a:ext cx="4267200" cy="590550"/>
          </a:xfrm>
          <a:prstGeom xmlns:a="http://schemas.openxmlformats.org/drawingml/2006/main" prst="roundRect">
            <a:avLst>
              <a:gd name="adj" fmla="val 1290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2563EB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98081B4-B75C-4191-A244-244FD57A79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4419600"/>
            <a:ext cx="1047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2563EB"/>
                </a:solidFill>
              </a:defRPr>
            </a:pPr>
            <a:r>
              <a:rPr sz="1275" b="1">
                <a:solidFill>
                  <a:srgbClr val="2563EB"/>
                </a:solidFill>
              </a:rPr>
              <a:t>人工 baseline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FD0C899-9AE8-4840-83B5-33BA6BA611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4419600"/>
            <a:ext cx="2724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101828"/>
                </a:solidFill>
              </a:defRPr>
            </a:pPr>
            <a:r>
              <a:rPr sz="1125" b="0">
                <a:solidFill>
                  <a:srgbClr val="101828"/>
                </a:solidFill>
              </a:rPr>
              <a:t>协议已准备，结果留待真实参与者完成后再写入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BFEFBFA-4777-4E18-A0D8-AB3DB779B9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4248150"/>
            <a:ext cx="4267200" cy="590550"/>
          </a:xfrm>
          <a:prstGeom xmlns:a="http://schemas.openxmlformats.org/drawingml/2006/main" prst="roundRect">
            <a:avLst>
              <a:gd name="adj" fmla="val 1290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F97316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891FCA4-8DE3-4AE0-8B45-3669A6A82D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4419600"/>
            <a:ext cx="1047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F97316"/>
                </a:solidFill>
              </a:defRPr>
            </a:pPr>
            <a:r>
              <a:rPr sz="1275" b="1">
                <a:solidFill>
                  <a:srgbClr val="F97316"/>
                </a:solidFill>
              </a:rPr>
              <a:t>核心结论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C723ACC-B924-4EA5-B0CE-9E5E37D9B2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91400" y="4419600"/>
            <a:ext cx="2724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101828"/>
                </a:solidFill>
              </a:defRPr>
            </a:pPr>
            <a:r>
              <a:rPr sz="1125" b="0">
                <a:solidFill>
                  <a:srgbClr val="101828"/>
                </a:solidFill>
              </a:rPr>
              <a:t>根因可证明｜补丁可验证｜发布可审计｜边界不夸大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AA51BE4-1766-48C0-AA24-E0D1CFCBD2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5467350"/>
            <a:ext cx="96774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725" b="1">
                <a:solidFill>
                  <a:srgbClr val="101828"/>
                </a:solidFill>
              </a:defRPr>
            </a:pPr>
            <a:r>
              <a:rPr sz="1725" b="1">
                <a:solidFill>
                  <a:srgbClr val="101828"/>
                </a:solidFill>
              </a:rPr>
              <a:t>请现场点击 Demo：失败会重派，证据会改写，旧审批会失效。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7B7921B-2589-4CE8-80A0-158C15D55D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43650"/>
            <a:ext cx="685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64748B"/>
                </a:solidFill>
              </a:defRPr>
            </a:pPr>
            <a:r>
              <a:rPr sz="900" b="0">
                <a:solidFill>
                  <a:srgbClr val="64748B"/>
                </a:solidFill>
              </a:rPr>
              <a:t>AsoulAI ChronosFix / A-CFX · GOAI Agent Infra 复赛方案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E8F877A-34C5-41E1-90B9-4E68106059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43650"/>
            <a:ext cx="57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64748B"/>
                </a:solidFill>
              </a:defRPr>
            </a:pPr>
            <a:r>
              <a:rPr sz="900" b="0">
                <a:solidFill>
                  <a:srgbClr val="64748B"/>
                </a:solidFill>
              </a:rPr>
              <a:t>22</a:t>
            </a:r>
          </a:p>
        </p:txBody>
      </p:sp>
    </p:spTree>
    <p:extLst>
      <p:ext uri="{BB962C8B-B14F-4D97-AF65-F5344CB8AC3E}">
        <p14:creationId xmlns:p14="http://schemas.microsoft.com/office/powerpoint/2010/main" val="1366514243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2026-08-28T10:17:53.1400000Z</dcterms:created>
  <dcterms:modified xsi:type="dcterms:W3CDTF">2026-08-28T10:17:53.1400000Z</dcterms:modified>
</coreProperties>
</file>